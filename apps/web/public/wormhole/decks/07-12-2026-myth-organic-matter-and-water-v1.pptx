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dro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5080000"/>
            <a:ext cx="5926667" cy="4741333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867" y="7569200"/>
            <a:ext cx="855133" cy="8805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440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i="0" b="1">
                <a:solidFill>
                  <a:srgbClr val="4F3433"/>
                </a:solidFill>
                <a:latin typeface="Fredoka"/>
              </a:rPr>
              <a:t>Myth: “Add 1% organic matter and your soil holds 20,000 more gallons of water per acre.”</a:t>
            </a:r>
          </a:p>
        </p:txBody>
      </p:sp>
      <p:sp>
        <p:nvSpPr>
          <p:cNvPr id="7" name="label the claim everyone repea"/>
          <p:cNvSpPr txBox="1"/>
          <p:nvPr/>
        </p:nvSpPr>
        <p:spPr>
          <a:xfrm>
            <a:off x="5588000" y="6942667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the claim everyone repeats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paper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333" y="3979333"/>
            <a:ext cx="5418667" cy="5080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A 2018 review of about 60 studies tested that claim.</a:t>
            </a:r>
          </a:p>
        </p:txBody>
      </p:sp>
      <p:sp>
        <p:nvSpPr>
          <p:cNvPr id="6" name="label Minasny and McBratney, E"/>
          <p:cNvSpPr txBox="1"/>
          <p:nvPr/>
        </p:nvSpPr>
        <p:spPr>
          <a:xfrm>
            <a:off x="1016000" y="9398000"/>
            <a:ext cx="5249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70" i="0" b="1">
                <a:solidFill>
                  <a:srgbClr val="4F3433"/>
                </a:solidFill>
                <a:latin typeface="Montserrat"/>
              </a:rPr>
              <a:t>Minasny and McBratney, European Journal of Soil Science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drop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33" y="5418667"/>
            <a:ext cx="7281333" cy="44026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7569200"/>
            <a:ext cx="533400" cy="10244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474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i="0" b="1">
                <a:solidFill>
                  <a:srgbClr val="4F3433"/>
                </a:solidFill>
                <a:latin typeface="Fredoka"/>
              </a:rPr>
              <a:t>A 1% rise in soil organic carbon raised available water only slightly, on average about 1 mm per 10 cm of soil.</a:t>
            </a:r>
          </a:p>
        </p:txBody>
      </p:sp>
      <p:sp>
        <p:nvSpPr>
          <p:cNvPr id="7" name="label the claim"/>
          <p:cNvSpPr txBox="1"/>
          <p:nvPr/>
        </p:nvSpPr>
        <p:spPr>
          <a:xfrm>
            <a:off x="1862667" y="9906000"/>
            <a:ext cx="2201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the claim</a:t>
            </a:r>
          </a:p>
        </p:txBody>
      </p:sp>
      <p:sp>
        <p:nvSpPr>
          <p:cNvPr id="8" name="label what the studies measure"/>
          <p:cNvSpPr txBox="1"/>
          <p:nvPr/>
        </p:nvSpPr>
        <p:spPr>
          <a:xfrm>
            <a:off x="5418667" y="6942667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what the studies measured</a:t>
            </a:r>
          </a:p>
        </p:txBody>
      </p:sp>
      <p:sp>
        <p:nvSpPr>
          <p:cNvPr id="9" name="credit"/>
          <p:cNvSpPr txBox="1"/>
          <p:nvPr/>
        </p:nvSpPr>
        <p:spPr>
          <a:xfrm>
            <a:off x="778933" y="10583333"/>
            <a:ext cx="3386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Drops are not to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sand-and-cla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67" y="4741333"/>
            <a:ext cx="7450667" cy="3725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The effect was larger in sandy soils and smaller in clays.</a:t>
            </a:r>
          </a:p>
        </p:txBody>
      </p:sp>
      <p:sp>
        <p:nvSpPr>
          <p:cNvPr id="6" name="label sand: more effect"/>
          <p:cNvSpPr txBox="1"/>
          <p:nvPr/>
        </p:nvSpPr>
        <p:spPr>
          <a:xfrm>
            <a:off x="1016000" y="8551333"/>
            <a:ext cx="3217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sand: more effect</a:t>
            </a:r>
          </a:p>
        </p:txBody>
      </p:sp>
      <p:sp>
        <p:nvSpPr>
          <p:cNvPr id="7" name="label clay: less effect"/>
          <p:cNvSpPr txBox="1"/>
          <p:nvPr/>
        </p:nvSpPr>
        <p:spPr>
          <a:xfrm>
            <a:off x="4910667" y="8551333"/>
            <a:ext cx="3217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clay: less effect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infiltration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67" y="5080000"/>
            <a:ext cx="7450667" cy="4910667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440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930" i="0" b="1">
                <a:solidFill>
                  <a:srgbClr val="4F3433"/>
                </a:solidFill>
                <a:latin typeface="Fredoka"/>
              </a:rPr>
              <a:t>Where biology really helps water: aggregates and pores that let rain soak in instead of running off.</a:t>
            </a:r>
          </a:p>
        </p:txBody>
      </p:sp>
      <p:sp>
        <p:nvSpPr>
          <p:cNvPr id="6" name="label rain soaks in between th"/>
          <p:cNvSpPr txBox="1"/>
          <p:nvPr/>
        </p:nvSpPr>
        <p:spPr>
          <a:xfrm>
            <a:off x="931333" y="10160000"/>
            <a:ext cx="508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rain soaks in between the crumbs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4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4F3433"/>
                </a:solidFill>
                <a:latin typeface="Fredoka"/>
              </a:rPr>
              <a:t>Honest numbers build trust. Source on the slide.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778933" y="3894667"/>
            <a:ext cx="7281333" cy="270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2400" i="0" b="0">
                <a:solidFill>
                  <a:srgbClr val="5C4636"/>
                </a:solidFill>
                <a:latin typeface="Montserrat"/>
              </a:rPr>
              <a:t>Minasny, B. and McBratney, A. B. (2018). Limited effect of organic matter on soil available water capacity. European Journal of Soil Science 69: 39–47.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
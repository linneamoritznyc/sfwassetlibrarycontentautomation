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23-11-2026-costa-rica-why-here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762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048500"/>
            <a:ext cx="10287000" cy="58102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620000"/>
            <a:ext cx="7772400" cy="190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300" b="1">
                <a:solidFill>
                  <a:srgbClr val="F4F1EA"/>
                </a:solidFill>
                <a:latin typeface="Montserrat"/>
              </a:rPr>
              <a:t>Costa Rica brought its forests 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754362"/>
            <a:ext cx="7772400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1">
                <a:solidFill>
                  <a:srgbClr val="DDE5D4"/>
                </a:solidFill>
                <a:latin typeface="Montserrat"/>
              </a:rPr>
              <a:t>Why we teach here</a:t>
            </a:r>
          </a:p>
        </p:txBody>
      </p:sp>
      <p:pic>
        <p:nvPicPr>
          <p:cNvPr id="6" name="Picture 5" descr="poro-flow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5524500"/>
            <a:ext cx="3267075" cy="2667000"/>
          </a:xfrm>
          <a:prstGeom prst="rect">
            <a:avLst/>
          </a:prstGeom>
        </p:spPr>
      </p:pic>
      <p:pic>
        <p:nvPicPr>
          <p:cNvPr id="7" name="Picture 6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524000"/>
            <a:ext cx="8915400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1">
                <a:solidFill>
                  <a:srgbClr val="156826"/>
                </a:solidFill>
                <a:latin typeface="Montserrat"/>
              </a:rPr>
              <a:t>FOREST COVER IN COSTA 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4191000" cy="143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7800" b="1">
                <a:solidFill>
                  <a:srgbClr val="4F3433"/>
                </a:solidFill>
                <a:latin typeface="Montserrat"/>
              </a:rPr>
              <a:t>21–25%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10000"/>
            <a:ext cx="4191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550" b="1">
                <a:solidFill>
                  <a:srgbClr val="4F3433"/>
                </a:solidFill>
                <a:latin typeface="Montserrat"/>
              </a:rPr>
              <a:t>in the 1980s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4381500" cy="143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7800" b="1">
                <a:solidFill>
                  <a:srgbClr val="156826"/>
                </a:solidFill>
                <a:latin typeface="Montserrat"/>
              </a:rPr>
              <a:t>53%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3810000"/>
            <a:ext cx="43815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550" b="1">
                <a:solidFill>
                  <a:srgbClr val="156826"/>
                </a:solidFill>
                <a:latin typeface="Montserrat"/>
              </a:rPr>
              <a:t>by 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239500"/>
            <a:ext cx="6667500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1950" b="0">
                <a:solidFill>
                  <a:srgbClr val="22371F"/>
                </a:solidFill>
                <a:latin typeface="Montserrat"/>
              </a:rPr>
              <a:t>Source: Inter Press Service, 2016</a:t>
            </a:r>
          </a:p>
        </p:txBody>
      </p:sp>
      <p:pic>
        <p:nvPicPr>
          <p:cNvPr id="8" name="Picture 7" descr="heliconia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143500"/>
            <a:ext cx="2667000" cy="5715000"/>
          </a:xfrm>
          <a:prstGeom prst="rect">
            <a:avLst/>
          </a:prstGeom>
        </p:spPr>
      </p:pic>
      <p:pic>
        <p:nvPicPr>
          <p:cNvPr id="9" name="Picture 8" descr="torch-ging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5334000"/>
            <a:ext cx="3333750" cy="5334000"/>
          </a:xfrm>
          <a:prstGeom prst="rect">
            <a:avLst/>
          </a:prstGeom>
        </p:spPr>
      </p:pic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3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05000"/>
            <a:ext cx="8915400" cy="2564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300" b="1">
                <a:solidFill>
                  <a:srgbClr val="F4F1EA"/>
                </a:solidFill>
                <a:latin typeface="Montserrat"/>
              </a:rPr>
              <a:t>Its farms carry some of the heaviest chemical loads in the world.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697730"/>
            <a:ext cx="8915400" cy="2495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700" b="0">
                <a:solidFill>
                  <a:srgbClr val="E8D8C8"/>
                </a:solidFill>
                <a:latin typeface="Montserrat"/>
              </a:rPr>
              <a:t>Pesticide and fertilizer use per hectare is among the highest on Earth.</a:t>
            </a:r>
          </a:p>
          <a:p>
            <a:pPr algn="l">
              <a:lnSpc>
                <a:spcPct val="114800"/>
              </a:lnSpc>
            </a:pPr>
            <a:r>
              <a:rPr sz="2700" b="0">
                <a:solidFill>
                  <a:srgbClr val="E8D8C8"/>
                </a:solidFill>
                <a:latin typeface="Montserrat"/>
              </a:rPr>
              <a:t/>
            </a:r>
          </a:p>
          <a:p>
            <a:pPr algn="l">
              <a:lnSpc>
                <a:spcPct val="114800"/>
              </a:lnSpc>
            </a:pPr>
            <a:r>
              <a:rPr sz="2700" b="0">
                <a:solidFill>
                  <a:srgbClr val="E8D8C8"/>
                </a:solidFill>
                <a:latin typeface="Montserrat"/>
              </a:rPr>
              <a:t>Sources: FAO data via Semanario Universidad, 2023; World Bank</a:t>
            </a:r>
          </a:p>
        </p:txBody>
      </p:sp>
      <p:pic>
        <p:nvPicPr>
          <p:cNvPr id="4" name="Picture 3" descr="hibiscus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9334500"/>
            <a:ext cx="1695450" cy="1905000"/>
          </a:xfrm>
          <a:prstGeom prst="rect">
            <a:avLst/>
          </a:prstGeom>
        </p:spPr>
      </p:pic>
      <p:pic>
        <p:nvPicPr>
          <p:cNvPr id="5" name="Picture 4" descr="logo-d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23-11-2026-costa-rica-why-here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19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667500"/>
            <a:ext cx="8915400" cy="409575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7143750"/>
            <a:ext cx="6724650" cy="2255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4600" b="1">
                <a:solidFill>
                  <a:srgbClr val="F4F1EA"/>
                </a:solidFill>
                <a:latin typeface="Montserrat"/>
              </a:rPr>
              <a:t>Our students learn to build living soil from local materials.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9627870"/>
            <a:ext cx="6724650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0">
                <a:solidFill>
                  <a:srgbClr val="DDE5D4"/>
                </a:solidFill>
                <a:latin typeface="Montserrat"/>
              </a:rPr>
              <a:t>And they take it home.</a:t>
            </a:r>
          </a:p>
        </p:txBody>
      </p:sp>
      <p:pic>
        <p:nvPicPr>
          <p:cNvPr id="6" name="Picture 5" descr="torch-ging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3810000"/>
            <a:ext cx="2381250" cy="381000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047750"/>
            <a:ext cx="4572000" cy="4305300"/>
          </a:xfrm>
          <a:prstGeom prst="rect">
            <a:avLst/>
          </a:prstGeom>
        </p:spPr>
      </p:pic>
      <p:pic>
        <p:nvPicPr>
          <p:cNvPr id="3" name="Picture 2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500" y="571500"/>
            <a:ext cx="2314575" cy="4962525"/>
          </a:xfrm>
          <a:prstGeom prst="rect">
            <a:avLst/>
          </a:prstGeom>
        </p:spPr>
      </p:pic>
      <p:pic>
        <p:nvPicPr>
          <p:cNvPr id="4" name="Picture 3" descr="poro-flower-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857250"/>
            <a:ext cx="2800350" cy="2286000"/>
          </a:xfrm>
          <a:prstGeom prst="rect">
            <a:avLst/>
          </a:prstGeom>
        </p:spPr>
      </p:pic>
      <p:pic>
        <p:nvPicPr>
          <p:cNvPr id="5" name="Picture 4" descr="hibiscus-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4476750"/>
            <a:ext cx="2200275" cy="247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7620000"/>
            <a:ext cx="8915400" cy="959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560"/>
              </a:lnSpc>
            </a:pPr>
            <a:r>
              <a:rPr sz="5300" b="1">
                <a:solidFill>
                  <a:srgbClr val="22371F"/>
                </a:solidFill>
                <a:latin typeface="Montserrat"/>
              </a:rPr>
              <a:t>18 to 29 January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750808"/>
            <a:ext cx="8915400" cy="948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800"/>
              </a:lnSpc>
            </a:pPr>
            <a:r>
              <a:rPr sz="2400" b="1">
                <a:solidFill>
                  <a:srgbClr val="156826"/>
                </a:solidFill>
                <a:latin typeface="Montserrat"/>
              </a:rPr>
              <a:t>Accelerator Workshop at Armonía Agricultura Orgánica, near San José, Costa 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870948"/>
            <a:ext cx="8915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800"/>
              </a:lnSpc>
            </a:pPr>
            <a:r>
              <a:rPr sz="2550" b="1">
                <a:solidFill>
                  <a:srgbClr val="4F3433"/>
                </a:solidFill>
                <a:latin typeface="Montserrat"/>
              </a:rPr>
              <a:t>Register, link in bio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
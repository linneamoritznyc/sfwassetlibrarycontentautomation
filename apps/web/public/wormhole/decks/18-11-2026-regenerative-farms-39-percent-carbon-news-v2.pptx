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1270000"/>
            <a:ext cx="6773333" cy="8128000"/>
          </a:xfrm>
          <a:prstGeom prst="rect">
            <a:avLst/>
          </a:prstGeom>
        </p:spPr>
      </p:pic>
      <p:pic>
        <p:nvPicPr>
          <p:cNvPr id="4" name="article image: Figure 2, Lundgren et al. 202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1507067"/>
            <a:ext cx="6299200" cy="4233333"/>
          </a:xfrm>
          <a:prstGeom prst="rect">
            <a:avLst/>
          </a:prstGeom>
        </p:spPr>
      </p:pic>
      <p:pic>
        <p:nvPicPr>
          <p:cNvPr id="5" name="tab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0" y="5249333"/>
            <a:ext cx="4741333" cy="491067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0" y="6197600"/>
            <a:ext cx="76200" cy="1422400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0" y="9668933"/>
            <a:ext cx="270933" cy="270933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67" y="355600"/>
            <a:ext cx="626533" cy="626533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608667" y="5300133"/>
            <a:ext cx="4402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0" b="0">
                <a:solidFill>
                  <a:srgbClr val="F4F1EA"/>
                </a:solidFill>
                <a:latin typeface="Pathway Gothic One"/>
              </a:rPr>
              <a:t>ENVIRONMENTAL RESEARCH: FOOD SYSTEMS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1422400" y="5808133"/>
            <a:ext cx="629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30" i="0" b="0">
                <a:solidFill>
                  <a:srgbClr val="6E5452"/>
                </a:solidFill>
                <a:latin typeface="Source Sans 3"/>
              </a:rPr>
              <a:t>Figure 2, Lundgren et al. 2026, CC BY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710267" y="6146800"/>
            <a:ext cx="5791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i="0" b="1">
                <a:solidFill>
                  <a:srgbClr val="4F3433"/>
                </a:solidFill>
                <a:latin typeface="Montserrat"/>
              </a:rPr>
              <a:t>The most regenerative farms stored 39% more carbon in their soil</a:t>
            </a:r>
          </a:p>
        </p:txBody>
      </p:sp>
      <p:sp>
        <p:nvSpPr>
          <p:cNvPr id="12" name="blurb"/>
          <p:cNvSpPr txBox="1"/>
          <p:nvPr/>
        </p:nvSpPr>
        <p:spPr>
          <a:xfrm>
            <a:off x="1710267" y="7941733"/>
            <a:ext cx="57912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30" i="0" b="0">
                <a:solidFill>
                  <a:srgbClr val="6E5452"/>
                </a:solidFill>
                <a:latin typeface="Source Sans 3"/>
              </a:rPr>
              <a:t>Lundgren et al. 2026, Environmental Research: Food Systems. The 1000 Farms Initiative, Ecdysis Foundation.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1236133" y="9685867"/>
            <a:ext cx="1693333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725333" y="9685867"/>
            <a:ext cx="4233333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470" i="0" b="0">
                <a:solidFill>
                  <a:srgbClr val="F4F1EA"/>
                </a:solidFill>
                <a:latin typeface="Source Sans 3"/>
              </a:rPr>
              <a:t>Source:
doi.org/10.1088/2976-601X/ae8f4e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4047067"/>
            <a:ext cx="76200" cy="27770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3996267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More soil life too: +181% total fungi, and more microbes, insects, plants and birds.</a:t>
            </a:r>
          </a:p>
        </p:txBody>
      </p:sp>
      <p:sp>
        <p:nvSpPr>
          <p:cNvPr id="7" name="cite"/>
          <p:cNvSpPr txBox="1"/>
          <p:nvPr/>
        </p:nvSpPr>
        <p:spPr>
          <a:xfrm>
            <a:off x="1964267" y="8297333"/>
            <a:ext cx="5418667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i="0" b="0">
                <a:solidFill>
                  <a:srgbClr val="6E5452"/>
                </a:solidFill>
                <a:latin typeface="Source Sans 3"/>
              </a:rPr>
              <a:t>Lundgren et al. 2026, figure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3776133"/>
            <a:ext cx="76200" cy="39116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3725333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Yields matched national averages and profit was similar. One practice alone changed nothing: the whole system matters.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185333" y="9313333"/>
            <a:ext cx="6773333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i="0" b="0">
                <a:solidFill>
                  <a:srgbClr val="F4F1EA"/>
                </a:solidFill>
                <a:latin typeface="Source Sans 3"/>
              </a:rPr>
              <a:t>Full paper: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
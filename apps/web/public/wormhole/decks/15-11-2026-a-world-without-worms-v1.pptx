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5765800"/>
            <a:ext cx="7789333" cy="6265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14732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Imagine a world without earthworms.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78933" y="1566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Nicholas_T, CC BY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5765800"/>
            <a:ext cx="7789333" cy="6265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14732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It already exists.</a:t>
            </a:r>
          </a:p>
        </p:txBody>
      </p:sp>
      <p:sp>
        <p:nvSpPr>
          <p:cNvPr id="6" name="label a thick layer of leaf li"/>
          <p:cNvSpPr txBox="1"/>
          <p:nvPr/>
        </p:nvSpPr>
        <p:spPr>
          <a:xfrm>
            <a:off x="762000" y="121666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thick layer of leaf litter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Nicholas_T, CC BY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5765800"/>
            <a:ext cx="7789333" cy="6265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14732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70" i="0" b="1">
                <a:solidFill>
                  <a:srgbClr val="4F3433"/>
                </a:solidFill>
                <a:latin typeface="Fredoka"/>
              </a:rPr>
              <a:t>Many northern North American forests evolved without them after the last Ice Age.</a:t>
            </a:r>
          </a:p>
        </p:txBody>
      </p:sp>
      <p:sp>
        <p:nvSpPr>
          <p:cNvPr id="6" name="label Pennsylvania hardwood fo"/>
          <p:cNvSpPr txBox="1"/>
          <p:nvPr/>
        </p:nvSpPr>
        <p:spPr>
          <a:xfrm>
            <a:off x="762000" y="121666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Pennsylvania hardwood forest, autumn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Nicholas_T, CC BY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5765800"/>
            <a:ext cx="7789333" cy="6265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14732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70" i="0" b="1">
                <a:solidFill>
                  <a:srgbClr val="4F3433"/>
                </a:solidFill>
                <a:latin typeface="Fredoka"/>
              </a:rPr>
              <a:t>Introduced worms now eat through the leaf litter those forests depend on.</a:t>
            </a:r>
          </a:p>
        </p:txBody>
      </p:sp>
      <p:sp>
        <p:nvSpPr>
          <p:cNvPr id="6" name="label worms on bare, worm-work"/>
          <p:cNvSpPr txBox="1"/>
          <p:nvPr/>
        </p:nvSpPr>
        <p:spPr>
          <a:xfrm>
            <a:off x="762000" y="121666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worms on bare, worm-worked soil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John Abrams, CC BY 4.0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5765800"/>
            <a:ext cx="7789333" cy="6265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14732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70" i="0" b="1">
                <a:solidFill>
                  <a:srgbClr val="4F3433"/>
                </a:solidFill>
                <a:latin typeface="Fredoka"/>
              </a:rPr>
              <a:t>Even a good organism can be the wrong one in the wrong place.</a:t>
            </a:r>
          </a:p>
        </p:txBody>
      </p:sp>
      <p:sp>
        <p:nvSpPr>
          <p:cNvPr id="6" name="label an introduced earthworm,"/>
          <p:cNvSpPr txBox="1"/>
          <p:nvPr/>
        </p:nvSpPr>
        <p:spPr>
          <a:xfrm>
            <a:off x="762000" y="121666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an introduced earthworm, Minnesota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566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Brett Ortler, CC BY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
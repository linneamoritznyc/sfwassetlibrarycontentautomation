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image" Target="../media/image10.jpg"/><Relationship Id="rId5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9.jpg"/><Relationship Id="rId4" Type="http://schemas.openxmlformats.org/officeDocument/2006/relationships/image" Target="../media/image12.jpg"/><Relationship Id="rId5" Type="http://schemas.openxmlformats.org/officeDocument/2006/relationships/image" Target="../media/image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9.jpg"/><Relationship Id="rId4" Type="http://schemas.openxmlformats.org/officeDocument/2006/relationships/image" Target="../media/image12.jpg"/><Relationship Id="rId5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9.jpg"/><Relationship Id="rId4" Type="http://schemas.openxmlformats.org/officeDocument/2006/relationships/image" Target="../media/image15.jpg"/><Relationship Id="rId5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9.jpg"/><Relationship Id="rId4" Type="http://schemas.openxmlformats.org/officeDocument/2006/relationships/image" Target="../media/image17.jpg"/><Relationship Id="rId5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9.jpg"/><Relationship Id="rId4" Type="http://schemas.openxmlformats.org/officeDocument/2006/relationships/image" Target="../media/image19.jpg"/><Relationship Id="rId5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9.jpg"/><Relationship Id="rId4" Type="http://schemas.openxmlformats.org/officeDocument/2006/relationships/image" Target="../media/image17.jpg"/><Relationship Id="rId5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one strip across the carousel)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card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333" y="1270000"/>
            <a:ext cx="6773333" cy="8128000"/>
          </a:xfrm>
          <a:prstGeom prst="rect">
            <a:avLst/>
          </a:prstGeom>
        </p:spPr>
      </p:pic>
      <p:pic>
        <p:nvPicPr>
          <p:cNvPr id="4" name="article image: Figure 2, Lundgren et al. 2026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2400" y="1507067"/>
            <a:ext cx="6299200" cy="4233333"/>
          </a:xfrm>
          <a:prstGeom prst="rect">
            <a:avLst/>
          </a:prstGeom>
        </p:spPr>
      </p:pic>
      <p:pic>
        <p:nvPicPr>
          <p:cNvPr id="5" name="tab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2400" y="5249333"/>
            <a:ext cx="4741333" cy="491067"/>
          </a:xfrm>
          <a:prstGeom prst="rect">
            <a:avLst/>
          </a:prstGeom>
        </p:spPr>
      </p:pic>
      <p:pic>
        <p:nvPicPr>
          <p:cNvPr id="6" name="bar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2400" y="6197600"/>
            <a:ext cx="76200" cy="1422400"/>
          </a:xfrm>
          <a:prstGeom prst="rect">
            <a:avLst/>
          </a:prstGeom>
        </p:spPr>
      </p:pic>
      <p:pic>
        <p:nvPicPr>
          <p:cNvPr id="7" name="arrow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40000" y="9668933"/>
            <a:ext cx="270933" cy="270933"/>
          </a:xfrm>
          <a:prstGeom prst="rect">
            <a:avLst/>
          </a:prstGeom>
        </p:spPr>
      </p:pic>
      <p:pic>
        <p:nvPicPr>
          <p:cNvPr id="8" name="logo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9467" y="355600"/>
            <a:ext cx="626533" cy="626533"/>
          </a:xfrm>
          <a:prstGeom prst="rect">
            <a:avLst/>
          </a:prstGeom>
        </p:spPr>
      </p:pic>
      <p:sp>
        <p:nvSpPr>
          <p:cNvPr id="9" name="tab text"/>
          <p:cNvSpPr txBox="1"/>
          <p:nvPr/>
        </p:nvSpPr>
        <p:spPr>
          <a:xfrm>
            <a:off x="1608667" y="5300133"/>
            <a:ext cx="4402667" cy="423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i="0" b="0">
                <a:solidFill>
                  <a:srgbClr val="F4F1EA"/>
                </a:solidFill>
                <a:latin typeface="Pathway Gothic One"/>
              </a:rPr>
              <a:t>ENVIRONMENTAL RESEARCH: FOOD SYSTEMS</a:t>
            </a:r>
          </a:p>
        </p:txBody>
      </p:sp>
      <p:sp>
        <p:nvSpPr>
          <p:cNvPr id="10" name="credit"/>
          <p:cNvSpPr txBox="1"/>
          <p:nvPr/>
        </p:nvSpPr>
        <p:spPr>
          <a:xfrm>
            <a:off x="1422400" y="5808133"/>
            <a:ext cx="62992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30" i="0" b="0">
                <a:solidFill>
                  <a:srgbClr val="6E5452"/>
                </a:solidFill>
                <a:latin typeface="Source Sans 3"/>
              </a:rPr>
              <a:t>Figure 2, Lundgren et al. 2026, CC BY 4.0</a:t>
            </a:r>
          </a:p>
        </p:txBody>
      </p:sp>
      <p:sp>
        <p:nvSpPr>
          <p:cNvPr id="11" name="headline"/>
          <p:cNvSpPr txBox="1"/>
          <p:nvPr/>
        </p:nvSpPr>
        <p:spPr>
          <a:xfrm>
            <a:off x="1710267" y="6146800"/>
            <a:ext cx="579120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3200" i="0" b="1">
                <a:solidFill>
                  <a:srgbClr val="4F3433"/>
                </a:solidFill>
                <a:latin typeface="Montserrat"/>
              </a:rPr>
              <a:t>The most regenerative farms stored 39% more carbon in their soil</a:t>
            </a:r>
          </a:p>
        </p:txBody>
      </p:sp>
      <p:sp>
        <p:nvSpPr>
          <p:cNvPr id="12" name="blurb"/>
          <p:cNvSpPr txBox="1"/>
          <p:nvPr/>
        </p:nvSpPr>
        <p:spPr>
          <a:xfrm>
            <a:off x="1710267" y="7941733"/>
            <a:ext cx="5791200" cy="931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730" i="0" b="0">
                <a:solidFill>
                  <a:srgbClr val="6E5452"/>
                </a:solidFill>
                <a:latin typeface="Source Sans 3"/>
              </a:rPr>
              <a:t>Lundgren et al. 2026, Environmental Research: Food Systems. The 1000 Farms Initiative, Ecdysis Foundation.</a:t>
            </a:r>
          </a:p>
        </p:txBody>
      </p:sp>
      <p:sp>
        <p:nvSpPr>
          <p:cNvPr id="13" name="read more"/>
          <p:cNvSpPr txBox="1"/>
          <p:nvPr/>
        </p:nvSpPr>
        <p:spPr>
          <a:xfrm>
            <a:off x="1236133" y="9685867"/>
            <a:ext cx="1693333" cy="338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30" i="0" b="1">
                <a:solidFill>
                  <a:srgbClr val="F4F1EA"/>
                </a:solidFill>
                <a:latin typeface="Montserrat"/>
              </a:rPr>
              <a:t>Read More</a:t>
            </a:r>
          </a:p>
        </p:txBody>
      </p:sp>
      <p:sp>
        <p:nvSpPr>
          <p:cNvPr id="14" name="source"/>
          <p:cNvSpPr txBox="1"/>
          <p:nvPr/>
        </p:nvSpPr>
        <p:spPr>
          <a:xfrm>
            <a:off x="3725333" y="9685867"/>
            <a:ext cx="4233333" cy="592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470" i="0" b="0">
                <a:solidFill>
                  <a:srgbClr val="F4F1EA"/>
                </a:solidFill>
                <a:latin typeface="Source Sans 3"/>
              </a:rPr>
              <a:t>Source:
doi.org/10.1088/2976-601X/ae8f4e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one strip across the carousel)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card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333" y="2455333"/>
            <a:ext cx="6773333" cy="6519333"/>
          </a:xfrm>
          <a:prstGeom prst="rect">
            <a:avLst/>
          </a:prstGeom>
        </p:spPr>
      </p:pic>
      <p:pic>
        <p:nvPicPr>
          <p:cNvPr id="4" name="bar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9467" y="3623733"/>
            <a:ext cx="76200" cy="3632200"/>
          </a:xfrm>
          <a:prstGeom prst="rect">
            <a:avLst/>
          </a:prstGeom>
        </p:spPr>
      </p:pic>
      <p:pic>
        <p:nvPicPr>
          <p:cNvPr id="5" name="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467" y="389467"/>
            <a:ext cx="626533" cy="626533"/>
          </a:xfrm>
          <a:prstGeom prst="rect">
            <a:avLst/>
          </a:prstGeom>
        </p:spPr>
      </p:pic>
      <p:sp>
        <p:nvSpPr>
          <p:cNvPr id="6" name="fact"/>
          <p:cNvSpPr txBox="1"/>
          <p:nvPr/>
        </p:nvSpPr>
        <p:spPr>
          <a:xfrm>
            <a:off x="1947333" y="3572933"/>
            <a:ext cx="5164667" cy="40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470" i="0" b="1">
                <a:solidFill>
                  <a:srgbClr val="4F3433"/>
                </a:solidFill>
                <a:latin typeface="Montserrat"/>
              </a:rPr>
              <a:t>The 1000 Farms Initiative measured 210 working farms across North America, from the most conventional to the most regenerative.</a:t>
            </a:r>
          </a:p>
        </p:txBody>
      </p:sp>
      <p:sp>
        <p:nvSpPr>
          <p:cNvPr id="7" name="cite"/>
          <p:cNvSpPr txBox="1"/>
          <p:nvPr/>
        </p:nvSpPr>
        <p:spPr>
          <a:xfrm>
            <a:off x="1964267" y="8297333"/>
            <a:ext cx="5418667" cy="338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i="0" b="0">
                <a:solidFill>
                  <a:srgbClr val="6E5452"/>
                </a:solidFill>
                <a:latin typeface="Source Sans 3"/>
              </a:rPr>
              <a:t>Led by Ecdysis Foundation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one strip across the carousel)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card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333" y="2455333"/>
            <a:ext cx="6773333" cy="6519333"/>
          </a:xfrm>
          <a:prstGeom prst="rect">
            <a:avLst/>
          </a:prstGeom>
        </p:spPr>
      </p:pic>
      <p:pic>
        <p:nvPicPr>
          <p:cNvPr id="4" name="bar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9467" y="4910667"/>
            <a:ext cx="76200" cy="1642533"/>
          </a:xfrm>
          <a:prstGeom prst="rect">
            <a:avLst/>
          </a:prstGeom>
        </p:spPr>
      </p:pic>
      <p:pic>
        <p:nvPicPr>
          <p:cNvPr id="5" name="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467" y="389467"/>
            <a:ext cx="626533" cy="626533"/>
          </a:xfrm>
          <a:prstGeom prst="rect">
            <a:avLst/>
          </a:prstGeom>
        </p:spPr>
      </p:pic>
      <p:sp>
        <p:nvSpPr>
          <p:cNvPr id="6" name="fact"/>
          <p:cNvSpPr txBox="1"/>
          <p:nvPr/>
        </p:nvSpPr>
        <p:spPr>
          <a:xfrm>
            <a:off x="1947333" y="4859867"/>
            <a:ext cx="5164667" cy="40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729" i="0" b="1">
                <a:solidFill>
                  <a:srgbClr val="4F3433"/>
                </a:solidFill>
                <a:latin typeface="Montserrat"/>
              </a:rPr>
              <a:t>39% more total soil carbon on the most regenerative farms.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one strip across the carousel)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card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333" y="2455333"/>
            <a:ext cx="6773333" cy="6519333"/>
          </a:xfrm>
          <a:prstGeom prst="rect">
            <a:avLst/>
          </a:prstGeom>
        </p:spPr>
      </p:pic>
      <p:pic>
        <p:nvPicPr>
          <p:cNvPr id="4" name="bar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9467" y="4614333"/>
            <a:ext cx="76200" cy="1642533"/>
          </a:xfrm>
          <a:prstGeom prst="rect">
            <a:avLst/>
          </a:prstGeom>
        </p:spPr>
      </p:pic>
      <p:pic>
        <p:nvPicPr>
          <p:cNvPr id="5" name="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467" y="389467"/>
            <a:ext cx="626533" cy="626533"/>
          </a:xfrm>
          <a:prstGeom prst="rect">
            <a:avLst/>
          </a:prstGeom>
        </p:spPr>
      </p:pic>
      <p:sp>
        <p:nvSpPr>
          <p:cNvPr id="6" name="fact"/>
          <p:cNvSpPr txBox="1"/>
          <p:nvPr/>
        </p:nvSpPr>
        <p:spPr>
          <a:xfrm>
            <a:off x="1947333" y="4563533"/>
            <a:ext cx="5164667" cy="40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729" i="0" b="1">
                <a:solidFill>
                  <a:srgbClr val="4F3433"/>
                </a:solidFill>
                <a:latin typeface="Montserrat"/>
              </a:rPr>
              <a:t>+181% total fungi in the most regenerative soils.</a:t>
            </a:r>
          </a:p>
        </p:txBody>
      </p:sp>
      <p:sp>
        <p:nvSpPr>
          <p:cNvPr id="7" name="cite"/>
          <p:cNvSpPr txBox="1"/>
          <p:nvPr/>
        </p:nvSpPr>
        <p:spPr>
          <a:xfrm>
            <a:off x="1964267" y="8297333"/>
            <a:ext cx="5418667" cy="338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i="0" b="0">
                <a:solidFill>
                  <a:srgbClr val="6E5452"/>
                </a:solidFill>
                <a:latin typeface="Source Sans 3"/>
              </a:rPr>
              <a:t>Lundgren et al. 2026, figure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one strip across the carousel)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card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333" y="2455333"/>
            <a:ext cx="6773333" cy="6519333"/>
          </a:xfrm>
          <a:prstGeom prst="rect">
            <a:avLst/>
          </a:prstGeom>
        </p:spPr>
      </p:pic>
      <p:pic>
        <p:nvPicPr>
          <p:cNvPr id="4" name="bar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9467" y="3776133"/>
            <a:ext cx="76200" cy="3911600"/>
          </a:xfrm>
          <a:prstGeom prst="rect">
            <a:avLst/>
          </a:prstGeom>
        </p:spPr>
      </p:pic>
      <p:pic>
        <p:nvPicPr>
          <p:cNvPr id="5" name="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467" y="389467"/>
            <a:ext cx="626533" cy="626533"/>
          </a:xfrm>
          <a:prstGeom prst="rect">
            <a:avLst/>
          </a:prstGeom>
        </p:spPr>
      </p:pic>
      <p:sp>
        <p:nvSpPr>
          <p:cNvPr id="6" name="fact"/>
          <p:cNvSpPr txBox="1"/>
          <p:nvPr/>
        </p:nvSpPr>
        <p:spPr>
          <a:xfrm>
            <a:off x="1947333" y="3725333"/>
            <a:ext cx="5164667" cy="40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729" i="0" b="1">
                <a:solidFill>
                  <a:srgbClr val="4F3433"/>
                </a:solidFill>
                <a:latin typeface="Montserrat"/>
              </a:rPr>
              <a:t>More life everywhere: soil microbes, insects, plants and birds. The more biodiversity, the more carbon stored.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one strip across the carousel)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card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333" y="2455333"/>
            <a:ext cx="6773333" cy="6519333"/>
          </a:xfrm>
          <a:prstGeom prst="rect">
            <a:avLst/>
          </a:prstGeom>
        </p:spPr>
      </p:pic>
      <p:pic>
        <p:nvPicPr>
          <p:cNvPr id="4" name="bar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9467" y="4343400"/>
            <a:ext cx="76200" cy="2777067"/>
          </a:xfrm>
          <a:prstGeom prst="rect">
            <a:avLst/>
          </a:prstGeom>
        </p:spPr>
      </p:pic>
      <p:pic>
        <p:nvPicPr>
          <p:cNvPr id="5" name="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467" y="389467"/>
            <a:ext cx="626533" cy="626533"/>
          </a:xfrm>
          <a:prstGeom prst="rect">
            <a:avLst/>
          </a:prstGeom>
        </p:spPr>
      </p:pic>
      <p:sp>
        <p:nvSpPr>
          <p:cNvPr id="6" name="fact"/>
          <p:cNvSpPr txBox="1"/>
          <p:nvPr/>
        </p:nvSpPr>
        <p:spPr>
          <a:xfrm>
            <a:off x="1947333" y="4292600"/>
            <a:ext cx="5164667" cy="40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729" i="0" b="1">
                <a:solidFill>
                  <a:srgbClr val="4F3433"/>
                </a:solidFill>
                <a:latin typeface="Montserrat"/>
              </a:rPr>
              <a:t>Regenerative yields matched national averages, and net profit per acre was similar.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one strip across the carousel)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card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333" y="2455333"/>
            <a:ext cx="6773333" cy="6519333"/>
          </a:xfrm>
          <a:prstGeom prst="rect">
            <a:avLst/>
          </a:prstGeom>
        </p:spPr>
      </p:pic>
      <p:pic>
        <p:nvPicPr>
          <p:cNvPr id="4" name="bar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9467" y="3733800"/>
            <a:ext cx="76200" cy="3996267"/>
          </a:xfrm>
          <a:prstGeom prst="rect">
            <a:avLst/>
          </a:prstGeom>
        </p:spPr>
      </p:pic>
      <p:pic>
        <p:nvPicPr>
          <p:cNvPr id="5" name="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467" y="389467"/>
            <a:ext cx="626533" cy="626533"/>
          </a:xfrm>
          <a:prstGeom prst="rect">
            <a:avLst/>
          </a:prstGeom>
        </p:spPr>
      </p:pic>
      <p:sp>
        <p:nvSpPr>
          <p:cNvPr id="6" name="fact"/>
          <p:cNvSpPr txBox="1"/>
          <p:nvPr/>
        </p:nvSpPr>
        <p:spPr>
          <a:xfrm>
            <a:off x="1947333" y="3683000"/>
            <a:ext cx="5164667" cy="40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329" i="0" b="1">
                <a:solidFill>
                  <a:srgbClr val="4F3433"/>
                </a:solidFill>
                <a:latin typeface="Montserrat"/>
              </a:rPr>
              <a:t>One practice alone changed nothing. Farms using a single regenerative practice looked like conventional farms. The whole system matters.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 (one strip across the carousel)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card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333" y="2455333"/>
            <a:ext cx="6773333" cy="6519333"/>
          </a:xfrm>
          <a:prstGeom prst="rect">
            <a:avLst/>
          </a:prstGeom>
        </p:spPr>
      </p:pic>
      <p:pic>
        <p:nvPicPr>
          <p:cNvPr id="4" name="bar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59467" y="4343400"/>
            <a:ext cx="76200" cy="2777067"/>
          </a:xfrm>
          <a:prstGeom prst="rect">
            <a:avLst/>
          </a:prstGeom>
        </p:spPr>
      </p:pic>
      <p:pic>
        <p:nvPicPr>
          <p:cNvPr id="5" name="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467" y="389467"/>
            <a:ext cx="626533" cy="626533"/>
          </a:xfrm>
          <a:prstGeom prst="rect">
            <a:avLst/>
          </a:prstGeom>
        </p:spPr>
      </p:pic>
      <p:sp>
        <p:nvSpPr>
          <p:cNvPr id="6" name="fact"/>
          <p:cNvSpPr txBox="1"/>
          <p:nvPr/>
        </p:nvSpPr>
        <p:spPr>
          <a:xfrm>
            <a:off x="1947333" y="4292600"/>
            <a:ext cx="5164667" cy="406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729" i="0" b="1">
                <a:solidFill>
                  <a:srgbClr val="4F3433"/>
                </a:solidFill>
                <a:latin typeface="Montserrat"/>
              </a:rPr>
              <a:t>Read the paper: Lundgren et al., Environmental Research: Food Systems, 2026.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1185333" y="9313333"/>
            <a:ext cx="6773333" cy="338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i="0" b="0">
                <a:solidFill>
                  <a:srgbClr val="F4F1EA"/>
                </a:solidFill>
                <a:latin typeface="Source Sans 3"/>
              </a:rPr>
              <a:t>Full paper: link in bio.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
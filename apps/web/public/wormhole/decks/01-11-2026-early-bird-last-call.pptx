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p19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762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048500"/>
            <a:ext cx="10287000" cy="58102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620000"/>
            <a:ext cx="7772400" cy="190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600" b="0">
                <a:solidFill>
                  <a:srgbClr val="F4F1EA"/>
                </a:solidFill>
                <a:latin typeface="Fredoka"/>
              </a:rPr>
              <a:t>Last call for the early bird.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754362"/>
            <a:ext cx="7772400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1">
                <a:solidFill>
                  <a:srgbClr val="DDE5D4"/>
                </a:solidFill>
                <a:latin typeface="Montserrat"/>
              </a:rPr>
              <a:t>Foundation Courses and the Compost Intensive</a:t>
            </a:r>
          </a:p>
        </p:txBody>
      </p:sp>
      <p:pic>
        <p:nvPicPr>
          <p:cNvPr id="6" name="Picture 5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0" y="5334000"/>
            <a:ext cx="2200275" cy="2476500"/>
          </a:xfrm>
          <a:prstGeom prst="rect">
            <a:avLst/>
          </a:prstGeom>
        </p:spPr>
      </p:pic>
      <p:pic>
        <p:nvPicPr>
          <p:cNvPr id="7" name="Picture 6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10934700"/>
            <a:ext cx="12382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05000"/>
            <a:ext cx="8915400" cy="10416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900" b="0">
                <a:solidFill>
                  <a:srgbClr val="22371F"/>
                </a:solidFill>
                <a:latin typeface="Fredoka"/>
              </a:rPr>
              <a:t>Foundation Courses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70504"/>
            <a:ext cx="8915400" cy="25488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3450" b="0">
                <a:solidFill>
                  <a:srgbClr val="156826"/>
                </a:solidFill>
                <a:latin typeface="Montserrat"/>
              </a:rPr>
              <a:t>How the soil food web works, compost, extracts and teas, and the microscope.</a:t>
            </a:r>
          </a:p>
          <a:p>
            <a:pPr algn="l">
              <a:lnSpc>
                <a:spcPct val="114800"/>
              </a:lnSpc>
            </a:pPr>
            <a:r>
              <a:rPr sz="3450" b="0">
                <a:solidFill>
                  <a:srgbClr val="156826"/>
                </a:solidFill>
                <a:latin typeface="Montserrat"/>
              </a:rPr>
              <a:t/>
            </a:r>
          </a:p>
          <a:p>
            <a:pPr algn="l">
              <a:lnSpc>
                <a:spcPct val="114800"/>
              </a:lnSpc>
            </a:pPr>
            <a:r>
              <a:rPr sz="3450" b="0">
                <a:solidFill>
                  <a:srgbClr val="156826"/>
                </a:solidFill>
                <a:latin typeface="Montserrat"/>
              </a:rPr>
              <a:t>Online, at your own pace.</a:t>
            </a:r>
          </a:p>
        </p:txBody>
      </p:sp>
      <p:pic>
        <p:nvPicPr>
          <p:cNvPr id="4" name="Picture 3" descr="poro-flower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7620000"/>
            <a:ext cx="3267075" cy="2667000"/>
          </a:xfrm>
          <a:prstGeom prst="rect">
            <a:avLst/>
          </a:prstGeom>
        </p:spPr>
      </p:pic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05000"/>
            <a:ext cx="8915400" cy="10416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900" b="0">
                <a:solidFill>
                  <a:srgbClr val="F4F1EA"/>
                </a:solidFill>
                <a:latin typeface="Fredoka"/>
              </a:rPr>
              <a:t>Compost Intensive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70504"/>
            <a:ext cx="8915400" cy="3162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3450" b="0">
                <a:solidFill>
                  <a:srgbClr val="DDE5D4"/>
                </a:solidFill>
                <a:latin typeface="Montserrat"/>
              </a:rPr>
              <a:t>A group program open to anyone, with no prerequisites. Starts 18 January.</a:t>
            </a:r>
          </a:p>
          <a:p>
            <a:pPr algn="l">
              <a:lnSpc>
                <a:spcPct val="114800"/>
              </a:lnSpc>
            </a:pPr>
            <a:r>
              <a:rPr sz="3450" b="0">
                <a:solidFill>
                  <a:srgbClr val="DDE5D4"/>
                </a:solidFill>
                <a:latin typeface="Montserrat"/>
              </a:rPr>
              <a:t/>
            </a:r>
          </a:p>
          <a:p>
            <a:pPr algn="l">
              <a:lnSpc>
                <a:spcPct val="114800"/>
              </a:lnSpc>
            </a:pPr>
            <a:r>
              <a:rPr sz="3450" b="0">
                <a:solidFill>
                  <a:srgbClr val="DDE5D4"/>
                </a:solidFill>
                <a:latin typeface="Montserrat"/>
              </a:rPr>
              <a:t>The early bird for both ends 1 November. Link in bio.</a:t>
            </a:r>
          </a:p>
        </p:txBody>
      </p:sp>
      <p:pic>
        <p:nvPicPr>
          <p:cNvPr id="4" name="Picture 3" descr="torch-ginger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8191500"/>
            <a:ext cx="2495550" cy="3990975"/>
          </a:xfrm>
          <a:prstGeom prst="rect">
            <a:avLst/>
          </a:prstGeom>
        </p:spPr>
      </p:pic>
      <p:pic>
        <p:nvPicPr>
          <p:cNvPr id="5" name="Picture 4" descr="logo-d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950" y="10934700"/>
            <a:ext cx="1238250" cy="1238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
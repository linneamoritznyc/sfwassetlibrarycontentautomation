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7.png"/><Relationship Id="rId6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371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_s23-11-2026-costa-rica-why-here1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7620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7048500"/>
            <a:ext cx="10287000" cy="5810250"/>
          </a:xfrm>
          <a:prstGeom prst="rect">
            <a:avLst/>
          </a:prstGeom>
          <a:solidFill>
            <a:srgbClr val="223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7620000"/>
            <a:ext cx="7772400" cy="19057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88560"/>
              </a:lnSpc>
            </a:pPr>
            <a:r>
              <a:rPr sz="6600" b="0">
                <a:solidFill>
                  <a:srgbClr val="F4F1EA"/>
                </a:solidFill>
                <a:latin typeface="Fredoka"/>
              </a:rPr>
              <a:t>Costa Rica brought its forests back.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754362"/>
            <a:ext cx="7772400" cy="5219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800"/>
              </a:lnSpc>
            </a:pPr>
            <a:r>
              <a:rPr sz="2400" b="1">
                <a:solidFill>
                  <a:srgbClr val="DDE5D4"/>
                </a:solidFill>
                <a:latin typeface="Montserrat"/>
              </a:rPr>
              <a:t>Why we teach here</a:t>
            </a:r>
          </a:p>
        </p:txBody>
      </p:sp>
      <p:pic>
        <p:nvPicPr>
          <p:cNvPr id="6" name="Picture 5" descr="poro-flower-s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9000" y="5524500"/>
            <a:ext cx="3267075" cy="2667000"/>
          </a:xfrm>
          <a:prstGeom prst="rect">
            <a:avLst/>
          </a:prstGeom>
        </p:spPr>
      </p:pic>
      <p:pic>
        <p:nvPicPr>
          <p:cNvPr id="7" name="Picture 6" descr="logo-dis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62950" y="10934700"/>
            <a:ext cx="1238250" cy="12382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DE5D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1524000"/>
            <a:ext cx="8915400" cy="5219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800"/>
              </a:lnSpc>
            </a:pPr>
            <a:r>
              <a:rPr sz="2400" b="1">
                <a:solidFill>
                  <a:srgbClr val="156826"/>
                </a:solidFill>
                <a:latin typeface="Montserrat"/>
              </a:rPr>
              <a:t>FOREST COVER IN COSTA RICA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2286000"/>
            <a:ext cx="4191000" cy="1432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88560"/>
              </a:lnSpc>
            </a:pPr>
            <a:r>
              <a:rPr sz="9750" b="0">
                <a:solidFill>
                  <a:srgbClr val="4F3433"/>
                </a:solidFill>
                <a:latin typeface="Fredoka"/>
              </a:rPr>
              <a:t>21–25%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3810000"/>
            <a:ext cx="4191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800"/>
              </a:lnSpc>
            </a:pPr>
            <a:r>
              <a:rPr sz="2550" b="1">
                <a:solidFill>
                  <a:srgbClr val="4F3433"/>
                </a:solidFill>
                <a:latin typeface="Montserrat"/>
              </a:rPr>
              <a:t>in the 1980s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4000" y="2286000"/>
            <a:ext cx="4381500" cy="1432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88560"/>
              </a:lnSpc>
            </a:pPr>
            <a:r>
              <a:rPr sz="9750" b="0">
                <a:solidFill>
                  <a:srgbClr val="156826"/>
                </a:solidFill>
                <a:latin typeface="Fredoka"/>
              </a:rPr>
              <a:t>53%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34000" y="3810000"/>
            <a:ext cx="43815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800"/>
              </a:lnSpc>
            </a:pPr>
            <a:r>
              <a:rPr sz="2550" b="1">
                <a:solidFill>
                  <a:srgbClr val="156826"/>
                </a:solidFill>
                <a:latin typeface="Montserrat"/>
              </a:rPr>
              <a:t>by 2016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1239500"/>
            <a:ext cx="6667500" cy="441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800"/>
              </a:lnSpc>
            </a:pPr>
            <a:r>
              <a:rPr sz="1950" b="0">
                <a:solidFill>
                  <a:srgbClr val="22371F"/>
                </a:solidFill>
                <a:latin typeface="Montserrat"/>
              </a:rPr>
              <a:t>Source: Inter Press Service, 2016</a:t>
            </a:r>
          </a:p>
        </p:txBody>
      </p:sp>
      <p:pic>
        <p:nvPicPr>
          <p:cNvPr id="8" name="Picture 7" descr="heliconia-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5143500"/>
            <a:ext cx="2667000" cy="5715000"/>
          </a:xfrm>
          <a:prstGeom prst="rect">
            <a:avLst/>
          </a:prstGeom>
        </p:spPr>
      </p:pic>
      <p:pic>
        <p:nvPicPr>
          <p:cNvPr id="9" name="Picture 8" descr="torch-ginger-s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0" y="5334000"/>
            <a:ext cx="3333750" cy="5334000"/>
          </a:xfrm>
          <a:prstGeom prst="rect">
            <a:avLst/>
          </a:prstGeom>
        </p:spPr>
      </p:pic>
      <p:pic>
        <p:nvPicPr>
          <p:cNvPr id="10" name="Picture 9" descr="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58200" y="11029950"/>
            <a:ext cx="1143000" cy="990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F3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1905000"/>
            <a:ext cx="8915400" cy="25641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88560"/>
              </a:lnSpc>
            </a:pPr>
            <a:r>
              <a:rPr sz="6000" b="0">
                <a:solidFill>
                  <a:srgbClr val="F4F1EA"/>
                </a:solidFill>
                <a:latin typeface="Fredoka"/>
              </a:rPr>
              <a:t>Its farms carry some of the heaviest chemical loads in the world.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4697730"/>
            <a:ext cx="8915400" cy="2495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800"/>
              </a:lnSpc>
            </a:pPr>
            <a:r>
              <a:rPr sz="2700" b="0">
                <a:solidFill>
                  <a:srgbClr val="E8D8C8"/>
                </a:solidFill>
                <a:latin typeface="Montserrat"/>
              </a:rPr>
              <a:t>Pesticide and fertilizer use per hectare is among the highest on Earth.</a:t>
            </a:r>
          </a:p>
          <a:p>
            <a:pPr algn="l">
              <a:lnSpc>
                <a:spcPct val="114800"/>
              </a:lnSpc>
            </a:pPr>
            <a:r>
              <a:rPr sz="2700" b="0">
                <a:solidFill>
                  <a:srgbClr val="E8D8C8"/>
                </a:solidFill>
                <a:latin typeface="Montserrat"/>
              </a:rPr>
              <a:t/>
            </a:r>
          </a:p>
          <a:p>
            <a:pPr algn="l">
              <a:lnSpc>
                <a:spcPct val="114800"/>
              </a:lnSpc>
            </a:pPr>
            <a:r>
              <a:rPr sz="2700" b="0">
                <a:solidFill>
                  <a:srgbClr val="E8D8C8"/>
                </a:solidFill>
                <a:latin typeface="Montserrat"/>
              </a:rPr>
              <a:t>Sources: FAO data via Semanario Universidad, 2023; World Bank</a:t>
            </a:r>
          </a:p>
        </p:txBody>
      </p:sp>
      <p:pic>
        <p:nvPicPr>
          <p:cNvPr id="4" name="Picture 3" descr="hibiscus-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9500" y="9334500"/>
            <a:ext cx="1695450" cy="1905000"/>
          </a:xfrm>
          <a:prstGeom prst="rect">
            <a:avLst/>
          </a:prstGeom>
        </p:spPr>
      </p:pic>
      <p:pic>
        <p:nvPicPr>
          <p:cNvPr id="5" name="Picture 4" descr="logo-dis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2950" y="10934700"/>
            <a:ext cx="1238250" cy="12382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_s23-11-2026-costa-rica-why-here4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8191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85800" y="6667500"/>
            <a:ext cx="8915400" cy="4095750"/>
          </a:xfrm>
          <a:prstGeom prst="rect">
            <a:avLst/>
          </a:prstGeom>
          <a:solidFill>
            <a:srgbClr val="156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62050" y="7143750"/>
            <a:ext cx="6724650" cy="2255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88560"/>
              </a:lnSpc>
            </a:pPr>
            <a:r>
              <a:rPr sz="5250" b="0">
                <a:solidFill>
                  <a:srgbClr val="F4F1EA"/>
                </a:solidFill>
                <a:latin typeface="Fredoka"/>
              </a:rPr>
              <a:t>Our students learn to build living soil from local materials.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2050" y="9627870"/>
            <a:ext cx="6724650" cy="5219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800"/>
              </a:lnSpc>
            </a:pPr>
            <a:r>
              <a:rPr sz="2400" b="0">
                <a:solidFill>
                  <a:srgbClr val="DDE5D4"/>
                </a:solidFill>
                <a:latin typeface="Montserrat"/>
              </a:rPr>
              <a:t>And they take it home.</a:t>
            </a:r>
          </a:p>
        </p:txBody>
      </p:sp>
      <p:pic>
        <p:nvPicPr>
          <p:cNvPr id="6" name="Picture 5" descr="torch-ginger-s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7250" y="3810000"/>
            <a:ext cx="2381250" cy="3810000"/>
          </a:xfrm>
          <a:prstGeom prst="rect">
            <a:avLst/>
          </a:prstGeom>
        </p:spPr>
      </p:pic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58200" y="11029950"/>
            <a:ext cx="1143000" cy="990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DE5D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r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00" y="1047750"/>
            <a:ext cx="4572000" cy="4305300"/>
          </a:xfrm>
          <a:prstGeom prst="rect">
            <a:avLst/>
          </a:prstGeom>
        </p:spPr>
      </p:pic>
      <p:pic>
        <p:nvPicPr>
          <p:cNvPr id="3" name="Picture 2" descr="heliconia-s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71500" y="571500"/>
            <a:ext cx="2314575" cy="4962525"/>
          </a:xfrm>
          <a:prstGeom prst="rect">
            <a:avLst/>
          </a:prstGeom>
        </p:spPr>
      </p:pic>
      <p:pic>
        <p:nvPicPr>
          <p:cNvPr id="4" name="Picture 3" descr="poro-flower-s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9500" y="857250"/>
            <a:ext cx="2800350" cy="2286000"/>
          </a:xfrm>
          <a:prstGeom prst="rect">
            <a:avLst/>
          </a:prstGeom>
        </p:spPr>
      </p:pic>
      <p:pic>
        <p:nvPicPr>
          <p:cNvPr id="5" name="Picture 4" descr="hibiscus-sh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0" y="4476750"/>
            <a:ext cx="2200275" cy="24765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" y="7620000"/>
            <a:ext cx="8915400" cy="95935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88560"/>
              </a:lnSpc>
            </a:pPr>
            <a:r>
              <a:rPr sz="6300" b="0">
                <a:solidFill>
                  <a:srgbClr val="22371F"/>
                </a:solidFill>
                <a:latin typeface="Fredoka"/>
              </a:rPr>
              <a:t>18 to 29 January 2027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8750808"/>
            <a:ext cx="8915400" cy="9486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4800"/>
              </a:lnSpc>
            </a:pPr>
            <a:r>
              <a:rPr sz="2400" b="1">
                <a:solidFill>
                  <a:srgbClr val="156826"/>
                </a:solidFill>
                <a:latin typeface="Montserrat"/>
              </a:rPr>
              <a:t>Accelerator Workshop at Armonía Agricultura Orgánica, near San José, Costa Rica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870948"/>
            <a:ext cx="8915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4800"/>
              </a:lnSpc>
            </a:pPr>
            <a:r>
              <a:rPr sz="2550" b="1">
                <a:solidFill>
                  <a:srgbClr val="4F3433"/>
                </a:solidFill>
                <a:latin typeface="Montserrat"/>
              </a:rPr>
              <a:t>Register, link in bio</a:t>
            </a:r>
          </a:p>
        </p:txBody>
      </p:sp>
      <p:pic>
        <p:nvPicPr>
          <p:cNvPr id="9" name="Picture 8" descr="log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58200" y="11029950"/>
            <a:ext cx="1143000" cy="990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
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9.jp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3.jpg"/><Relationship Id="rId6" Type="http://schemas.openxmlformats.org/officeDocument/2006/relationships/image" Target="../media/image14.jpg"/><Relationship Id="rId7" Type="http://schemas.openxmlformats.org/officeDocument/2006/relationships/image" Target="../media/image11.jpg"/><Relationship Id="rId8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1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Maps: Natural Earth (public domain)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2743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1371600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2489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Fun Soil News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Maps: Natural Earth (public domain)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Three soil stories from October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179733"/>
            <a:ext cx="7027333" cy="223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A giant fungus, plastic-eating bacteria, returning fungi.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in the caption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Map: Natural Earth (public domain)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4961467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4707467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Frontiers in Fungal Biology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Map: Natural Earth (public domain)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A giant fungus grows up to 50 cm tall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Dianjunus rex, from oak roots in Yunnan, China.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doi.org/10.3389/ffunb.2026.1940464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Illustration: Soil Food Web Foundation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344333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090333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The ISME Journal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Illustration: Soil Food Web Foundation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Forest soil bacteria ate bioplastic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Films gone in 250 to 330 days. Konstanz, Germany.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doi.org/10.1093/ismejo/wrag203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67" y="304800"/>
            <a:ext cx="931333" cy="931333"/>
          </a:xfrm>
          <a:prstGeom prst="rect">
            <a:avLst/>
          </a:prstGeom>
        </p:spPr>
      </p:pic>
      <p:pic>
        <p:nvPicPr>
          <p:cNvPr id="4" name="Card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270000"/>
            <a:ext cx="7924800" cy="8297333"/>
          </a:xfrm>
          <a:prstGeom prst="rect">
            <a:avLst/>
          </a:prstGeom>
        </p:spPr>
      </p:pic>
      <p:pic>
        <p:nvPicPr>
          <p:cNvPr id="5" name="Article image: Map: Natural Earth (public domain)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67" y="1507067"/>
            <a:ext cx="7450667" cy="3386667"/>
          </a:xfrm>
          <a:prstGeom prst="rect">
            <a:avLst/>
          </a:prstGeom>
        </p:spPr>
      </p:pic>
      <p:pic>
        <p:nvPicPr>
          <p:cNvPr id="6" name="Tab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67" y="4301067"/>
            <a:ext cx="3505200" cy="592667"/>
          </a:xfrm>
          <a:prstGeom prst="rect">
            <a:avLst/>
          </a:prstGeom>
        </p:spPr>
      </p:pic>
      <p:pic>
        <p:nvPicPr>
          <p:cNvPr id="7" name="Bar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667" y="5571067"/>
            <a:ext cx="84667" cy="2125133"/>
          </a:xfrm>
          <a:prstGeom prst="rect">
            <a:avLst/>
          </a:prstGeom>
        </p:spPr>
      </p:pic>
      <p:pic>
        <p:nvPicPr>
          <p:cNvPr id="8" name="Arrow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0" y="9872133"/>
            <a:ext cx="406400" cy="406400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032933" y="4351867"/>
            <a:ext cx="3251200" cy="524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29" i="1" b="0">
                <a:solidFill>
                  <a:srgbClr val="F4F1EA"/>
                </a:solidFill>
                <a:latin typeface="Source Sans 3"/>
              </a:rPr>
              <a:t>Molecular Ecology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846667" y="4978400"/>
            <a:ext cx="7450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800" i="0" b="0">
                <a:solidFill>
                  <a:srgbClr val="6E5452"/>
                </a:solidFill>
                <a:latin typeface="Source Sans 3"/>
              </a:rPr>
              <a:t>Map: Natural Earth (public domain)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134533" y="5503333"/>
            <a:ext cx="7027333" cy="2455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i="0" b="1">
                <a:solidFill>
                  <a:srgbClr val="4F3433"/>
                </a:solidFill>
                <a:latin typeface="Montserrat"/>
              </a:rPr>
              <a:t>Soil fungi back at work after replanting</a:t>
            </a:r>
          </a:p>
        </p:txBody>
      </p:sp>
      <p:sp>
        <p:nvSpPr>
          <p:cNvPr id="12" name="Details"/>
          <p:cNvSpPr txBox="1"/>
          <p:nvPr/>
        </p:nvSpPr>
        <p:spPr>
          <a:xfrm>
            <a:off x="1134533" y="7933267"/>
            <a:ext cx="7027333" cy="1481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0">
                <a:solidFill>
                  <a:srgbClr val="333130"/>
                </a:solidFill>
                <a:latin typeface="Source Sans 3"/>
              </a:rPr>
              <a:t>Six years of recovery in South Australia.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643467" y="9821333"/>
            <a:ext cx="2540000" cy="5418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7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996267" y="9787467"/>
            <a:ext cx="4538133" cy="15409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2800" i="0" b="0">
                <a:solidFill>
                  <a:srgbClr val="F4F1EA"/>
                </a:solidFill>
                <a:latin typeface="Source Sans 3"/>
              </a:rPr>
              <a:t>Source:
doi.org/10.1111/mec.70552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
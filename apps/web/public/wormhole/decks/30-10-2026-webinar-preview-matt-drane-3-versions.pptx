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7" r:id="rId8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op panel"/>
          <p:cNvSpPr/>
          <p:nvPr/>
        </p:nvSpPr>
        <p:spPr>
          <a:xfrm>
            <a:off x="0" y="0"/>
            <a:ext cx="10287000" cy="6667500"/>
          </a:xfrm>
          <a:prstGeom prst="rect">
            <a:avLst/>
          </a:prstGeom>
          <a:solidFill>
            <a:srgbClr val="E6EA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op band"/>
          <p:cNvSpPr/>
          <p:nvPr/>
        </p:nvSpPr>
        <p:spPr>
          <a:xfrm>
            <a:off x="0" y="0"/>
            <a:ext cx="10287000" cy="6667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Corn leaves" descr="corn-lea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0" y="381000"/>
            <a:ext cx="5334000" cy="6315075"/>
          </a:xfrm>
          <a:prstGeom prst="rect">
            <a:avLst/>
          </a:prstGeom>
        </p:spPr>
      </p:pic>
      <p:sp>
        <p:nvSpPr>
          <p:cNvPr id="6" name="Photo ring"/>
          <p:cNvSpPr/>
          <p:nvPr/>
        </p:nvSpPr>
        <p:spPr>
          <a:xfrm>
            <a:off x="2114550" y="495300"/>
            <a:ext cx="6057900" cy="60579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Matt Drane photo" descr="matt-drane-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666750"/>
            <a:ext cx="5715000" cy="5715000"/>
          </a:xfrm>
          <a:prstGeom prst="rect">
            <a:avLst/>
          </a:prstGeom>
        </p:spPr>
      </p:pic>
      <p:pic>
        <p:nvPicPr>
          <p:cNvPr id="8" name="Soy leaves" descr="soy-lea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81250"/>
            <a:ext cx="4476750" cy="4476750"/>
          </a:xfrm>
          <a:prstGeom prst="rect">
            <a:avLst/>
          </a:prstGeom>
        </p:spPr>
      </p:pic>
      <p:sp>
        <p:nvSpPr>
          <p:cNvPr id="9" name="Green panel"/>
          <p:cNvSpPr/>
          <p:nvPr/>
        </p:nvSpPr>
        <p:spPr>
          <a:xfrm>
            <a:off x="0" y="6667500"/>
            <a:ext cx="10287000" cy="619125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 txBox="1"/>
          <p:nvPr/>
        </p:nvSpPr>
        <p:spPr>
          <a:xfrm>
            <a:off x="609600" y="7000875"/>
            <a:ext cx="904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DBE6A7"/>
                </a:solidFill>
                <a:latin typeface="Montserrat"/>
              </a:rPr>
              <a:t>FREE WEBINAR  ·  FALL 2026 SERIES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09600" y="7477125"/>
            <a:ext cx="904875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900" b="1" i="0">
                <a:solidFill>
                  <a:srgbClr val="FFFFFF"/>
                </a:solidFill>
                <a:latin typeface="Montserrat"/>
              </a:rPr>
              <a:t>15 years of regenerative transformation in broad-acre corn and soy</a:t>
            </a:r>
          </a:p>
        </p:txBody>
      </p:sp>
      <p:sp>
        <p:nvSpPr>
          <p:cNvPr id="12" name="Speaker"/>
          <p:cNvSpPr txBox="1"/>
          <p:nvPr/>
        </p:nvSpPr>
        <p:spPr>
          <a:xfrm>
            <a:off x="609600" y="9620250"/>
            <a:ext cx="90487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with Matt Drane, AgriBio Systems</a:t>
            </a:r>
          </a:p>
        </p:txBody>
      </p:sp>
      <p:sp>
        <p:nvSpPr>
          <p:cNvPr id="13" name="Date"/>
          <p:cNvSpPr txBox="1"/>
          <p:nvPr/>
        </p:nvSpPr>
        <p:spPr>
          <a:xfrm>
            <a:off x="609600" y="10287000"/>
            <a:ext cx="66675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BE6A7"/>
                </a:solidFill>
                <a:latin typeface="Montserrat"/>
              </a:rPr>
              <a:t>Wednesday, November 4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Montserrat"/>
              </a:rPr>
              <a:t>9am Pacific  ·  11am Central  ·  Noon Eastern</a:t>
            </a:r>
          </a:p>
        </p:txBody>
      </p:sp>
      <p:sp>
        <p:nvSpPr>
          <p:cNvPr id="14" name="CTA"/>
          <p:cNvSpPr txBox="1"/>
          <p:nvPr/>
        </p:nvSpPr>
        <p:spPr>
          <a:xfrm>
            <a:off x="609600" y="11763375"/>
            <a:ext cx="666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</a:rPr>
              <a:t>Register free, link in bio</a:t>
            </a:r>
          </a:p>
        </p:txBody>
      </p:sp>
      <p:pic>
        <p:nvPicPr>
          <p:cNvPr id="15" name="SFW logo" descr="sfw-foundation-log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1076325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6EA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oy leaves" descr="soy-leaves-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000" y="-571500"/>
            <a:ext cx="4095750" cy="4095750"/>
          </a:xfrm>
          <a:prstGeom prst="rect">
            <a:avLst/>
          </a:prstGeom>
        </p:spPr>
      </p:pic>
      <p:pic>
        <p:nvPicPr>
          <p:cNvPr id="4" name="Corn leaves" descr="corn-leaves-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5143500"/>
            <a:ext cx="5334000" cy="6315075"/>
          </a:xfrm>
          <a:prstGeom prst="rect">
            <a:avLst/>
          </a:prstGeom>
        </p:spPr>
      </p:pic>
      <p:sp>
        <p:nvSpPr>
          <p:cNvPr id="5" name="Photo ring"/>
          <p:cNvSpPr/>
          <p:nvPr/>
        </p:nvSpPr>
        <p:spPr>
          <a:xfrm>
            <a:off x="3848100" y="895350"/>
            <a:ext cx="6210300" cy="6210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Matt Drane phot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1047750"/>
            <a:ext cx="5905500" cy="5905500"/>
          </a:xfrm>
          <a:prstGeom prst="rect">
            <a:avLst/>
          </a:prstGeom>
        </p:spPr>
      </p:pic>
      <p:sp>
        <p:nvSpPr>
          <p:cNvPr id="7" name="Green block"/>
          <p:cNvSpPr/>
          <p:nvPr/>
        </p:nvSpPr>
        <p:spPr>
          <a:xfrm>
            <a:off x="0" y="6286500"/>
            <a:ext cx="7239000" cy="6572250"/>
          </a:xfrm>
          <a:prstGeom prst="rect">
            <a:avLst/>
          </a:prstGeom>
          <a:solidFill>
            <a:srgbClr val="2237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lock edge"/>
          <p:cNvSpPr/>
          <p:nvPr/>
        </p:nvSpPr>
        <p:spPr>
          <a:xfrm>
            <a:off x="0" y="6286500"/>
            <a:ext cx="7239000" cy="152400"/>
          </a:xfrm>
          <a:prstGeom prst="rect">
            <a:avLst/>
          </a:prstGeom>
          <a:solidFill>
            <a:srgbClr val="A2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 txBox="1"/>
          <p:nvPr/>
        </p:nvSpPr>
        <p:spPr>
          <a:xfrm>
            <a:off x="609600" y="4000500"/>
            <a:ext cx="3143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156826"/>
                </a:solidFill>
                <a:latin typeface="Montserrat"/>
              </a:rPr>
              <a:t>FREE WEBINAR</a:t>
            </a:r>
          </a:p>
        </p:txBody>
      </p:sp>
      <p:sp>
        <p:nvSpPr>
          <p:cNvPr id="10" name="Series"/>
          <p:cNvSpPr txBox="1"/>
          <p:nvPr/>
        </p:nvSpPr>
        <p:spPr>
          <a:xfrm>
            <a:off x="609600" y="4400550"/>
            <a:ext cx="314325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4F3433"/>
                </a:solidFill>
                <a:latin typeface="Montserrat"/>
              </a:rPr>
              <a:t>Fall 2026 series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09600" y="6953250"/>
            <a:ext cx="6096000" cy="247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 i="0">
                <a:solidFill>
                  <a:srgbClr val="FFFFFF"/>
                </a:solidFill>
                <a:latin typeface="Montserrat"/>
              </a:rPr>
              <a:t>15 years of regenerative transformation in broad-acre corn and soy</a:t>
            </a:r>
          </a:p>
        </p:txBody>
      </p:sp>
      <p:sp>
        <p:nvSpPr>
          <p:cNvPr id="12" name="Speaker"/>
          <p:cNvSpPr txBox="1"/>
          <p:nvPr/>
        </p:nvSpPr>
        <p:spPr>
          <a:xfrm>
            <a:off x="609600" y="9382125"/>
            <a:ext cx="6096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DBE6A7"/>
                </a:solidFill>
                <a:latin typeface="Montserrat"/>
              </a:rPr>
              <a:t>with Matt Drane, AgriBio Systems</a:t>
            </a:r>
          </a:p>
        </p:txBody>
      </p:sp>
      <p:sp>
        <p:nvSpPr>
          <p:cNvPr id="13" name="Date"/>
          <p:cNvSpPr txBox="1"/>
          <p:nvPr/>
        </p:nvSpPr>
        <p:spPr>
          <a:xfrm>
            <a:off x="609600" y="10096500"/>
            <a:ext cx="6096000" cy="1047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Montserrat"/>
              </a:rPr>
              <a:t>Wednesday, November 4</a:t>
            </a:r>
          </a:p>
          <a:p>
            <a:r>
              <a:rPr sz="1500" b="0" i="0">
                <a:solidFill>
                  <a:srgbClr val="FFFFFF"/>
                </a:solidFill>
                <a:latin typeface="Montserrat"/>
              </a:rPr>
              <a:t>9am Pacific · 11am Central · Noon Eastern</a:t>
            </a:r>
          </a:p>
        </p:txBody>
      </p:sp>
      <p:sp>
        <p:nvSpPr>
          <p:cNvPr id="14" name="CTA"/>
          <p:cNvSpPr txBox="1"/>
          <p:nvPr/>
        </p:nvSpPr>
        <p:spPr>
          <a:xfrm>
            <a:off x="609600" y="11811000"/>
            <a:ext cx="4762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DBE6A7"/>
                </a:solidFill>
                <a:latin typeface="Montserrat"/>
              </a:rPr>
              <a:t>Register free, link in bio</a:t>
            </a:r>
          </a:p>
        </p:txBody>
      </p:sp>
      <p:pic>
        <p:nvPicPr>
          <p:cNvPr id="15" name="SFW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1143000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 panel"/>
          <p:cNvSpPr/>
          <p:nvPr/>
        </p:nvSpPr>
        <p:spPr>
          <a:xfrm>
            <a:off x="0" y="0"/>
            <a:ext cx="10287000" cy="5905500"/>
          </a:xfrm>
          <a:prstGeom prst="rect">
            <a:avLst/>
          </a:prstGeom>
          <a:solidFill>
            <a:srgbClr val="E6EA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op band"/>
          <p:cNvSpPr/>
          <p:nvPr/>
        </p:nvSpPr>
        <p:spPr>
          <a:xfrm>
            <a:off x="0" y="0"/>
            <a:ext cx="10287000" cy="533400"/>
          </a:xfrm>
          <a:prstGeom prst="rect">
            <a:avLst/>
          </a:prstGeom>
          <a:solidFill>
            <a:srgbClr val="A7B0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Corn leave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0" y="285750"/>
            <a:ext cx="4762500" cy="5638800"/>
          </a:xfrm>
          <a:prstGeom prst="rect">
            <a:avLst/>
          </a:prstGeom>
        </p:spPr>
      </p:pic>
      <p:sp>
        <p:nvSpPr>
          <p:cNvPr id="5" name="Photo ring"/>
          <p:cNvSpPr/>
          <p:nvPr/>
        </p:nvSpPr>
        <p:spPr>
          <a:xfrm>
            <a:off x="2590800" y="571500"/>
            <a:ext cx="5105400" cy="5105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Matt Drane 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723900"/>
            <a:ext cx="4800600" cy="4800600"/>
          </a:xfrm>
          <a:prstGeom prst="rect">
            <a:avLst/>
          </a:prstGeom>
        </p:spPr>
      </p:pic>
      <p:pic>
        <p:nvPicPr>
          <p:cNvPr id="7" name="Soy leave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2095500"/>
            <a:ext cx="4000500" cy="4000500"/>
          </a:xfrm>
          <a:prstGeom prst="rect">
            <a:avLst/>
          </a:prstGeom>
        </p:spPr>
      </p:pic>
      <p:sp>
        <p:nvSpPr>
          <p:cNvPr id="8" name="Green panel"/>
          <p:cNvSpPr/>
          <p:nvPr/>
        </p:nvSpPr>
        <p:spPr>
          <a:xfrm>
            <a:off x="0" y="5905500"/>
            <a:ext cx="10287000" cy="6953250"/>
          </a:xfrm>
          <a:prstGeom prst="rect">
            <a:avLst/>
          </a:prstGeom>
          <a:solidFill>
            <a:srgbClr val="1568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 webinar pill"/>
          <p:cNvSpPr/>
          <p:nvPr/>
        </p:nvSpPr>
        <p:spPr>
          <a:xfrm>
            <a:off x="609600" y="6438900"/>
            <a:ext cx="3143250" cy="704850"/>
          </a:xfrm>
          <a:prstGeom prst="roundRect">
            <a:avLst>
              <a:gd name="adj" fmla="val 50000"/>
            </a:avLst>
          </a:prstGeom>
          <a:solidFill>
            <a:srgbClr val="F4F1EA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200" b="1" i="0">
                <a:solidFill>
                  <a:srgbClr val="4F3433"/>
                </a:solidFill>
                <a:latin typeface="Montserrat"/>
              </a:rPr>
              <a:t>FREE WEBINAR</a:t>
            </a:r>
          </a:p>
        </p:txBody>
      </p:sp>
      <p:sp>
        <p:nvSpPr>
          <p:cNvPr id="10" name="Series"/>
          <p:cNvSpPr txBox="1"/>
          <p:nvPr/>
        </p:nvSpPr>
        <p:spPr>
          <a:xfrm>
            <a:off x="4038600" y="6648450"/>
            <a:ext cx="381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DBE6A7"/>
                </a:solidFill>
                <a:latin typeface="Montserrat"/>
              </a:rPr>
              <a:t>FALL 2026 SERIES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09600" y="7524750"/>
            <a:ext cx="9144000" cy="2381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4F1EA"/>
                </a:solidFill>
                <a:latin typeface="Montserrat"/>
              </a:rPr>
              <a:t>15 years of regenerative transformation in broad-acre corn and soy farming</a:t>
            </a:r>
          </a:p>
        </p:txBody>
      </p:sp>
      <p:sp>
        <p:nvSpPr>
          <p:cNvPr id="12" name="Speaker"/>
          <p:cNvSpPr txBox="1"/>
          <p:nvPr/>
        </p:nvSpPr>
        <p:spPr>
          <a:xfrm>
            <a:off x="609600" y="9667875"/>
            <a:ext cx="9144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4F1EA"/>
                </a:solidFill>
                <a:latin typeface="Montserrat"/>
              </a:rPr>
              <a:t>with Matt Drane, AgriBio Systems</a:t>
            </a:r>
          </a:p>
        </p:txBody>
      </p:sp>
      <p:sp>
        <p:nvSpPr>
          <p:cNvPr id="13" name="Date"/>
          <p:cNvSpPr txBox="1"/>
          <p:nvPr/>
        </p:nvSpPr>
        <p:spPr>
          <a:xfrm>
            <a:off x="609600" y="10267950"/>
            <a:ext cx="66675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DBE6A7"/>
                </a:solidFill>
                <a:latin typeface="Montserrat"/>
              </a:rPr>
              <a:t>Wednesday, November 4</a:t>
            </a:r>
          </a:p>
          <a:p>
            <a:pPr algn="l"/>
            <a:r>
              <a:rPr sz="1700" b="0" i="0">
                <a:solidFill>
                  <a:srgbClr val="F4F1EA"/>
                </a:solidFill>
                <a:latin typeface="Montserrat"/>
              </a:rPr>
              <a:t>9am Pacific  ·  11am Central  ·  Noon Eastern</a:t>
            </a:r>
          </a:p>
        </p:txBody>
      </p:sp>
      <p:sp>
        <p:nvSpPr>
          <p:cNvPr id="14" name="Register pill"/>
          <p:cNvSpPr/>
          <p:nvPr/>
        </p:nvSpPr>
        <p:spPr>
          <a:xfrm>
            <a:off x="609600" y="11506200"/>
            <a:ext cx="3143250" cy="800100"/>
          </a:xfrm>
          <a:prstGeom prst="roundRect">
            <a:avLst>
              <a:gd name="adj" fmla="val 50000"/>
            </a:avLst>
          </a:prstGeom>
          <a:solidFill>
            <a:srgbClr val="F4F1EA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300" b="1" i="0">
                <a:solidFill>
                  <a:srgbClr val="4F3433"/>
                </a:solidFill>
                <a:latin typeface="Montserrat"/>
              </a:rPr>
              <a:t>Register free</a:t>
            </a:r>
          </a:p>
        </p:txBody>
      </p:sp>
      <p:sp>
        <p:nvSpPr>
          <p:cNvPr id="15" name="Link in bio"/>
          <p:cNvSpPr txBox="1"/>
          <p:nvPr/>
        </p:nvSpPr>
        <p:spPr>
          <a:xfrm>
            <a:off x="4038600" y="11639550"/>
            <a:ext cx="28575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0" i="1">
                <a:solidFill>
                  <a:srgbClr val="F4F1EA"/>
                </a:solidFill>
                <a:latin typeface="EB Garamond"/>
              </a:rPr>
              <a:t>link in bio</a:t>
            </a:r>
          </a:p>
        </p:txBody>
      </p:sp>
      <p:pic>
        <p:nvPicPr>
          <p:cNvPr id="16" name="SFW 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8650" y="1095375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
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2.pn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2.pn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2.pn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2.png"/><Relationship Id="rId4" Type="http://schemas.openxmlformats.org/officeDocument/2006/relationships/image" Target="../media/image15.jpg"/><Relationship Id="rId5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70000"/>
            <a:ext cx="7924800" cy="8297333"/>
          </a:xfrm>
          <a:prstGeom prst="rect">
            <a:avLst/>
          </a:prstGeom>
        </p:spPr>
      </p:pic>
      <p:pic>
        <p:nvPicPr>
          <p:cNvPr id="5" name="Article image: Photo: Marc-André Selosse, CC0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1507067"/>
            <a:ext cx="7450667" cy="3386667"/>
          </a:xfrm>
          <a:prstGeom prst="rect">
            <a:avLst/>
          </a:prstGeom>
        </p:spPr>
      </p:pic>
      <p:pic>
        <p:nvPicPr>
          <p:cNvPr id="6" name="Tab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4301067"/>
            <a:ext cx="1930400" cy="592667"/>
          </a:xfrm>
          <a:prstGeom prst="rect">
            <a:avLst/>
          </a:prstGeom>
        </p:spPr>
      </p:pic>
      <p:pic>
        <p:nvPicPr>
          <p:cNvPr id="7" name="Bar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667" y="5571067"/>
            <a:ext cx="84667" cy="2125133"/>
          </a:xfrm>
          <a:prstGeom prst="rect">
            <a:avLst/>
          </a:prstGeom>
        </p:spPr>
      </p:pic>
      <p:pic>
        <p:nvPicPr>
          <p:cNvPr id="8" name="Arrow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2000" y="9872133"/>
            <a:ext cx="406400" cy="406400"/>
          </a:xfrm>
          <a:prstGeom prst="rect">
            <a:avLst/>
          </a:prstGeom>
        </p:spPr>
      </p:pic>
      <p:sp>
        <p:nvSpPr>
          <p:cNvPr id="9" name="Tab text"/>
          <p:cNvSpPr txBox="1"/>
          <p:nvPr/>
        </p:nvSpPr>
        <p:spPr>
          <a:xfrm>
            <a:off x="1032933" y="4351867"/>
            <a:ext cx="1676400" cy="524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i="1" b="0">
                <a:solidFill>
                  <a:srgbClr val="F4F1EA"/>
                </a:solidFill>
                <a:latin typeface="Source Sans 3"/>
              </a:rPr>
              <a:t>Save Soil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846667" y="4978400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i="0" b="0">
                <a:solidFill>
                  <a:srgbClr val="6E5452"/>
                </a:solidFill>
                <a:latin typeface="Source Sans 3"/>
              </a:rPr>
              <a:t>Photo: Marc-André Selosse, CC0</a:t>
            </a:r>
          </a:p>
        </p:txBody>
      </p:sp>
      <p:sp>
        <p:nvSpPr>
          <p:cNvPr id="11" name="Headline"/>
          <p:cNvSpPr txBox="1"/>
          <p:nvPr/>
        </p:nvSpPr>
        <p:spPr>
          <a:xfrm>
            <a:off x="1134533" y="5503333"/>
            <a:ext cx="7027333" cy="2455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Your soil shapes your gut more than your genes</a:t>
            </a:r>
          </a:p>
        </p:txBody>
      </p:sp>
      <p:sp>
        <p:nvSpPr>
          <p:cNvPr id="12" name="Details"/>
          <p:cNvSpPr txBox="1"/>
          <p:nvPr/>
        </p:nvSpPr>
        <p:spPr>
          <a:xfrm>
            <a:off x="1134533" y="7933267"/>
            <a:ext cx="7027333" cy="1481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From Save Soil's paper on soil and human health.</a:t>
            </a:r>
          </a:p>
        </p:txBody>
      </p:sp>
      <p:sp>
        <p:nvSpPr>
          <p:cNvPr id="13" name="Read More"/>
          <p:cNvSpPr txBox="1"/>
          <p:nvPr/>
        </p:nvSpPr>
        <p:spPr>
          <a:xfrm>
            <a:off x="643467" y="9821333"/>
            <a:ext cx="2540000" cy="541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70" i="0" b="1">
                <a:solidFill>
                  <a:srgbClr val="F4F1EA"/>
                </a:solidFill>
                <a:latin typeface="Montserrat"/>
              </a:rPr>
              <a:t>Read More</a:t>
            </a:r>
          </a:p>
        </p:txBody>
      </p:sp>
      <p:sp>
        <p:nvSpPr>
          <p:cNvPr id="14" name="Source"/>
          <p:cNvSpPr txBox="1"/>
          <p:nvPr/>
        </p:nvSpPr>
        <p:spPr>
          <a:xfrm>
            <a:off x="3996267" y="9787467"/>
            <a:ext cx="4538133" cy="1540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2800" i="0" b="0">
                <a:solidFill>
                  <a:srgbClr val="F4F1EA"/>
                </a:solidFill>
                <a:latin typeface="Source Sans 3"/>
              </a:rPr>
              <a:t>Source:
consciousplanet.org/save-soil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352800"/>
            <a:ext cx="7924800" cy="4724400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114800"/>
            <a:ext cx="84667" cy="1371600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030133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Baboons: soil beat genes 15x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791200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The soil around them shaped their gut microbes 15 times more strongly than their genetics.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352800"/>
            <a:ext cx="7924800" cy="4724400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114800"/>
            <a:ext cx="84667" cy="1371600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030133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Under 8% inherited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791200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Less than 8% of the human gut microbiome is inherited. Rothschild et al. 2018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352800"/>
            <a:ext cx="7924800" cy="4724400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114800"/>
            <a:ext cx="84667" cy="1371600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030133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Fungi carry minerals in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791200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Mycorrhizal fungi carry copper, iron, nitrogen, phosphorus and zinc into crops.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352800"/>
            <a:ext cx="7924800" cy="4724400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114800"/>
            <a:ext cx="84667" cy="1371600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030133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Rhizobia make plant food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791200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Bacteria in legume roots turn nitrogen from the air into plant food.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987800"/>
            <a:ext cx="7924800" cy="3445933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749800"/>
            <a:ext cx="84667" cy="626533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665133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Read the article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681133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From Save Soil (Isha Foundation). Link in bio.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
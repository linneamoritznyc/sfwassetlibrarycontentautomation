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67" y="5909733"/>
            <a:ext cx="5418667" cy="5418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067" y="5943600"/>
            <a:ext cx="1515533" cy="2015067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600" y="5943600"/>
            <a:ext cx="1092200" cy="2015067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730" i="0" b="1">
                <a:solidFill>
                  <a:srgbClr val="F4F1EA"/>
                </a:solidFill>
                <a:latin typeface="Fredoka"/>
              </a:rPr>
              <a:t>Fungal hypha: same width along its whole length.</a:t>
            </a:r>
          </a:p>
        </p:txBody>
      </p:sp>
      <p:sp>
        <p:nvSpPr>
          <p:cNvPr id="8" name="label same width here"/>
          <p:cNvSpPr txBox="1"/>
          <p:nvPr/>
        </p:nvSpPr>
        <p:spPr>
          <a:xfrm>
            <a:off x="677333" y="54017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same width here</a:t>
            </a:r>
          </a:p>
        </p:txBody>
      </p:sp>
      <p:sp>
        <p:nvSpPr>
          <p:cNvPr id="9" name="label and here"/>
          <p:cNvSpPr txBox="1"/>
          <p:nvPr/>
        </p:nvSpPr>
        <p:spPr>
          <a:xfrm>
            <a:off x="6773333" y="5401733"/>
            <a:ext cx="186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and here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778933" y="15663333"/>
            <a:ext cx="5757333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Micrograph: Gondal, Rauf and Naz 2019, Scientific Reports, CC BY 4.0 (cropped)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67" y="5909733"/>
            <a:ext cx="5418667" cy="5418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0333" y="7450667"/>
            <a:ext cx="2624667" cy="2658533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733" y="9118600"/>
            <a:ext cx="3081867" cy="12361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30" i="0" b="1">
                <a:solidFill>
                  <a:srgbClr val="F4F1EA"/>
                </a:solidFill>
                <a:latin typeface="Fredoka"/>
              </a:rPr>
              <a:t>Parallel walls, often branching.</a:t>
            </a:r>
          </a:p>
        </p:txBody>
      </p:sp>
      <p:sp>
        <p:nvSpPr>
          <p:cNvPr id="8" name="label a branch"/>
          <p:cNvSpPr txBox="1"/>
          <p:nvPr/>
        </p:nvSpPr>
        <p:spPr>
          <a:xfrm>
            <a:off x="6688667" y="10143067"/>
            <a:ext cx="186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a branch</a:t>
            </a:r>
          </a:p>
        </p:txBody>
      </p:sp>
      <p:sp>
        <p:nvSpPr>
          <p:cNvPr id="9" name="label parallel walls"/>
          <p:cNvSpPr txBox="1"/>
          <p:nvPr/>
        </p:nvSpPr>
        <p:spPr>
          <a:xfrm>
            <a:off x="592667" y="10397067"/>
            <a:ext cx="2201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parallel walls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778933" y="15663333"/>
            <a:ext cx="5757333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Micrograph: Gondal, Rauf and Naz 2019, Scientific Reports, CC BY 4.0 (cropped)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67" y="5909733"/>
            <a:ext cx="5418667" cy="5418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800" y="9541933"/>
            <a:ext cx="2116667" cy="778933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867" y="6028267"/>
            <a:ext cx="2785533" cy="2641600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30" i="0" b="1">
                <a:solidFill>
                  <a:srgbClr val="F4F1EA"/>
                </a:solidFill>
                <a:latin typeface="Fredoka"/>
              </a:rPr>
              <a:t>Debris: irregular edges, changing width.</a:t>
            </a:r>
          </a:p>
        </p:txBody>
      </p:sp>
      <p:sp>
        <p:nvSpPr>
          <p:cNvPr id="8" name="label debris"/>
          <p:cNvSpPr txBox="1"/>
          <p:nvPr/>
        </p:nvSpPr>
        <p:spPr>
          <a:xfrm>
            <a:off x="7196667" y="10312400"/>
            <a:ext cx="152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debris</a:t>
            </a:r>
          </a:p>
        </p:txBody>
      </p:sp>
      <p:sp>
        <p:nvSpPr>
          <p:cNvPr id="9" name="label a hypha, for comparison"/>
          <p:cNvSpPr txBox="1"/>
          <p:nvPr/>
        </p:nvSpPr>
        <p:spPr>
          <a:xfrm>
            <a:off x="508000" y="5317067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a hypha, for comparison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778933" y="15663333"/>
            <a:ext cx="5757333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Photo: Matthew Rozanoff / iNaturalist, CC BY 4.0 (cropped)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67" y="5909733"/>
            <a:ext cx="5418667" cy="5418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6019800"/>
            <a:ext cx="1828800" cy="18288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30" i="0" b="1">
                <a:solidFill>
                  <a:srgbClr val="F4F1EA"/>
                </a:solidFill>
                <a:latin typeface="Fredoka"/>
              </a:rPr>
              <a:t>Actinomycetes: much thinner threads.</a:t>
            </a:r>
          </a:p>
        </p:txBody>
      </p:sp>
      <p:sp>
        <p:nvSpPr>
          <p:cNvPr id="7" name="label thin, branching threads"/>
          <p:cNvSpPr txBox="1"/>
          <p:nvPr/>
        </p:nvSpPr>
        <p:spPr>
          <a:xfrm>
            <a:off x="6434667" y="5401733"/>
            <a:ext cx="237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thin, branching threads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78933" y="15663333"/>
            <a:ext cx="5757333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Micrograph: Du et al. 2025, PLOS ONE, CC BY 4.0 (cropped)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
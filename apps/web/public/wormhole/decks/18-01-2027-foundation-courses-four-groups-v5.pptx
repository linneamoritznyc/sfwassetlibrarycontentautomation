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cteria-draw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3386667"/>
            <a:ext cx="2709333" cy="2709333"/>
          </a:xfrm>
          <a:prstGeom prst="rect">
            <a:avLst/>
          </a:prstGeom>
        </p:spPr>
      </p:pic>
      <p:pic>
        <p:nvPicPr>
          <p:cNvPr id="4" name="micr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333" y="3386667"/>
            <a:ext cx="2709333" cy="2709333"/>
          </a:xfrm>
          <a:prstGeom prst="rect">
            <a:avLst/>
          </a:prstGeom>
        </p:spPr>
      </p:pic>
      <p:pic>
        <p:nvPicPr>
          <p:cNvPr id="5" name="micrograph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333" y="6604000"/>
            <a:ext cx="2709333" cy="2709333"/>
          </a:xfrm>
          <a:prstGeom prst="rect">
            <a:avLst/>
          </a:prstGeom>
        </p:spPr>
      </p:pic>
      <p:pic>
        <p:nvPicPr>
          <p:cNvPr id="6" name="micrograph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3" y="6604000"/>
            <a:ext cx="2709333" cy="2709333"/>
          </a:xfrm>
          <a:prstGeom prst="rect">
            <a:avLst/>
          </a:prstGeom>
        </p:spPr>
      </p:pic>
      <p:pic>
        <p:nvPicPr>
          <p:cNvPr id="7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3733" y="9770533"/>
            <a:ext cx="1236133" cy="1236133"/>
          </a:xfrm>
          <a:prstGeom prst="rect">
            <a:avLst/>
          </a:prstGeom>
        </p:spPr>
      </p:pic>
      <p:sp>
        <p:nvSpPr>
          <p:cNvPr id="8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FOUNDATION COURSES</a:t>
            </a:r>
          </a:p>
        </p:txBody>
      </p:sp>
      <p:sp>
        <p:nvSpPr>
          <p:cNvPr id="9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i="0" b="1">
                <a:solidFill>
                  <a:srgbClr val="F4F1EA"/>
                </a:solidFill>
                <a:latin typeface="Montserrat"/>
              </a:rPr>
              <a:t>Learn to identify the four groups.</a:t>
            </a:r>
          </a:p>
        </p:txBody>
      </p:sp>
      <p:sp>
        <p:nvSpPr>
          <p:cNvPr id="10" name="label"/>
          <p:cNvSpPr txBox="1"/>
          <p:nvPr/>
        </p:nvSpPr>
        <p:spPr>
          <a:xfrm>
            <a:off x="846667" y="6163733"/>
            <a:ext cx="338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BACTERIA (DRAWN)</a:t>
            </a:r>
          </a:p>
        </p:txBody>
      </p:sp>
      <p:sp>
        <p:nvSpPr>
          <p:cNvPr id="11" name="label"/>
          <p:cNvSpPr txBox="1"/>
          <p:nvPr/>
        </p:nvSpPr>
        <p:spPr>
          <a:xfrm>
            <a:off x="4910667" y="6163733"/>
            <a:ext cx="338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FUNGI</a:t>
            </a:r>
          </a:p>
        </p:txBody>
      </p:sp>
      <p:sp>
        <p:nvSpPr>
          <p:cNvPr id="12" name="label"/>
          <p:cNvSpPr txBox="1"/>
          <p:nvPr/>
        </p:nvSpPr>
        <p:spPr>
          <a:xfrm>
            <a:off x="846667" y="9381067"/>
            <a:ext cx="338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PROTOZOA</a:t>
            </a:r>
          </a:p>
        </p:txBody>
      </p:sp>
      <p:sp>
        <p:nvSpPr>
          <p:cNvPr id="13" name="label"/>
          <p:cNvSpPr txBox="1"/>
          <p:nvPr/>
        </p:nvSpPr>
        <p:spPr>
          <a:xfrm>
            <a:off x="4910667" y="9381067"/>
            <a:ext cx="338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70" i="0" b="0">
                <a:solidFill>
                  <a:srgbClr val="F4F1EA"/>
                </a:solidFill>
                <a:latin typeface="Pathway Gothic One"/>
              </a:rPr>
              <a:t>NEMATODES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762000" y="10414000"/>
            <a:ext cx="508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i="0" b="0">
                <a:solidFill>
                  <a:srgbClr val="E3DDCC"/>
                </a:solidFill>
                <a:latin typeface="Source Sans 3"/>
              </a:rPr>
              <a:t>Start any time. Link in bio.</a:t>
            </a:r>
          </a:p>
        </p:txBody>
      </p:sp>
      <p:sp>
        <p:nvSpPr>
          <p:cNvPr id="15" name="credit"/>
          <p:cNvSpPr txBox="1"/>
          <p:nvPr/>
        </p:nvSpPr>
        <p:spPr>
          <a:xfrm>
            <a:off x="762000" y="10922000"/>
            <a:ext cx="6604000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Micrographs: SFW library, Tanja Dekker, Johannes Veith. Bacteria drawn.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
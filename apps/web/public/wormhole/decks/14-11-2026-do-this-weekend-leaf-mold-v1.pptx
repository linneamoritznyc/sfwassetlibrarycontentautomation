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3" y="3691467"/>
            <a:ext cx="7789333" cy="5367867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5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870" i="0" b="1">
                <a:solidFill>
                  <a:srgbClr val="4F3433"/>
                </a:solidFill>
                <a:latin typeface="Fredoka"/>
              </a:rPr>
              <a:t>Your fallen leaves can become fungal compost.</a:t>
            </a:r>
          </a:p>
        </p:txBody>
      </p:sp>
      <p:sp>
        <p:nvSpPr>
          <p:cNvPr id="6" name="credit"/>
          <p:cNvSpPr txBox="1"/>
          <p:nvPr/>
        </p:nvSpPr>
        <p:spPr>
          <a:xfrm>
            <a:off x="778933" y="10583333"/>
            <a:ext cx="6096000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70" i="0" b="0">
                <a:solidFill>
                  <a:srgbClr val="5C4636"/>
                </a:solidFill>
                <a:latin typeface="Montserrat"/>
              </a:rPr>
              <a:t>Photo: Dan Keck, CC0 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3" y="3894667"/>
            <a:ext cx="7789333" cy="5249333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5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870" i="0" b="1">
                <a:solidFill>
                  <a:srgbClr val="4F3433"/>
                </a:solidFill>
                <a:latin typeface="Fredoka"/>
              </a:rPr>
              <a:t>Pack wet leaves into a wire cage or a bag with holes.</a:t>
            </a:r>
          </a:p>
        </p:txBody>
      </p:sp>
      <p:sp>
        <p:nvSpPr>
          <p:cNvPr id="6" name="label a wire cage full of leav"/>
          <p:cNvSpPr txBox="1"/>
          <p:nvPr/>
        </p:nvSpPr>
        <p:spPr>
          <a:xfrm>
            <a:off x="762000" y="9271000"/>
            <a:ext cx="5080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a wire cage full of leaves</a:t>
            </a:r>
          </a:p>
        </p:txBody>
      </p:sp>
      <p:sp>
        <p:nvSpPr>
          <p:cNvPr id="7" name="credit"/>
          <p:cNvSpPr txBox="1"/>
          <p:nvPr/>
        </p:nvSpPr>
        <p:spPr>
          <a:xfrm>
            <a:off x="778933" y="10583333"/>
            <a:ext cx="6096000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70" i="0" b="0">
                <a:solidFill>
                  <a:srgbClr val="5C4636"/>
                </a:solidFill>
                <a:latin typeface="Montserrat"/>
              </a:rPr>
              <a:t>Photo: United Diversity, CC BY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3" y="3691467"/>
            <a:ext cx="5588000" cy="5537200"/>
          </a:xfrm>
          <a:prstGeom prst="rect">
            <a:avLst/>
          </a:prstGeom>
        </p:spPr>
      </p:pic>
      <p:pic>
        <p:nvPicPr>
          <p:cNvPr id="4" name="compost-white-fungal-threads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6604000"/>
            <a:ext cx="2794000" cy="2810933"/>
          </a:xfrm>
          <a:prstGeom prst="rect">
            <a:avLst/>
          </a:prstGeom>
        </p:spPr>
      </p:pic>
      <p:pic>
        <p:nvPicPr>
          <p:cNvPr id="5" name="arrow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933" y="6045200"/>
            <a:ext cx="364067" cy="948267"/>
          </a:xfrm>
          <a:prstGeom prst="rect">
            <a:avLst/>
          </a:prstGeom>
        </p:spPr>
      </p:pic>
      <p:pic>
        <p:nvPicPr>
          <p:cNvPr id="6" name="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7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870" i="0" b="1">
                <a:solidFill>
                  <a:srgbClr val="4F3433"/>
                </a:solidFill>
                <a:latin typeface="Fredoka"/>
              </a:rPr>
              <a:t>Keep them damp. Fungi do the work, slowly.</a:t>
            </a:r>
          </a:p>
        </p:txBody>
      </p:sp>
      <p:sp>
        <p:nvSpPr>
          <p:cNvPr id="8" name="label white fungal threads"/>
          <p:cNvSpPr txBox="1"/>
          <p:nvPr/>
        </p:nvSpPr>
        <p:spPr>
          <a:xfrm>
            <a:off x="6434667" y="5418667"/>
            <a:ext cx="2201333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white fungal threads</a:t>
            </a:r>
          </a:p>
        </p:txBody>
      </p:sp>
      <p:sp>
        <p:nvSpPr>
          <p:cNvPr id="9" name="credit"/>
          <p:cNvSpPr txBox="1"/>
          <p:nvPr/>
        </p:nvSpPr>
        <p:spPr>
          <a:xfrm>
            <a:off x="778933" y="10583333"/>
            <a:ext cx="6096000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70" i="0" b="0">
                <a:solidFill>
                  <a:srgbClr val="5C4636"/>
                </a:solidFill>
                <a:latin typeface="Montserrat"/>
              </a:rPr>
              <a:t>Photo: Belbury, CC BY 4.0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3" y="3691467"/>
            <a:ext cx="7789333" cy="4859867"/>
          </a:xfrm>
          <a:prstGeom prst="rect">
            <a:avLst/>
          </a:prstGeom>
        </p:spPr>
      </p:pic>
      <p:pic>
        <p:nvPicPr>
          <p:cNvPr id="4" name="dark-soil-clump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9333" y="7620000"/>
            <a:ext cx="2794000" cy="1710267"/>
          </a:xfrm>
          <a:prstGeom prst="rect">
            <a:avLst/>
          </a:prstGeom>
        </p:spPr>
      </p:pic>
      <p:pic>
        <p:nvPicPr>
          <p:cNvPr id="5" name="arrow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6533" y="8661400"/>
            <a:ext cx="2048933" cy="702733"/>
          </a:xfrm>
          <a:prstGeom prst="rect">
            <a:avLst/>
          </a:prstGeom>
        </p:spPr>
      </p:pic>
      <p:pic>
        <p:nvPicPr>
          <p:cNvPr id="6" name="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7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870" i="0" b="1">
                <a:solidFill>
                  <a:srgbClr val="4F3433"/>
                </a:solidFill>
                <a:latin typeface="Fredoka"/>
              </a:rPr>
              <a:t>In 1 to 2 years you get dark, crumbly leaf mold.</a:t>
            </a:r>
          </a:p>
        </p:txBody>
      </p:sp>
      <p:sp>
        <p:nvSpPr>
          <p:cNvPr id="8" name="label dark and crumbly"/>
          <p:cNvSpPr txBox="1"/>
          <p:nvPr/>
        </p:nvSpPr>
        <p:spPr>
          <a:xfrm>
            <a:off x="1016000" y="9144000"/>
            <a:ext cx="3048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dark and crumbly</a:t>
            </a:r>
          </a:p>
        </p:txBody>
      </p:sp>
      <p:sp>
        <p:nvSpPr>
          <p:cNvPr id="9" name="credit"/>
          <p:cNvSpPr txBox="1"/>
          <p:nvPr/>
        </p:nvSpPr>
        <p:spPr>
          <a:xfrm>
            <a:off x="778933" y="10583333"/>
            <a:ext cx="6096000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70" i="0" b="0">
                <a:solidFill>
                  <a:srgbClr val="5C4636"/>
                </a:solidFill>
                <a:latin typeface="Montserrat"/>
              </a:rPr>
              <a:t>Photo: Andy Wright, CC BY 2.0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3" y="3640667"/>
            <a:ext cx="4572000" cy="5588000"/>
          </a:xfrm>
          <a:prstGeom prst="rect">
            <a:avLst/>
          </a:prstGeom>
        </p:spPr>
      </p:pic>
      <p:pic>
        <p:nvPicPr>
          <p:cNvPr id="4" name="drawn-pot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3333" y="5080000"/>
            <a:ext cx="2878667" cy="3725333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6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870" i="0" b="1">
                <a:solidFill>
                  <a:srgbClr val="4F3433"/>
                </a:solidFill>
                <a:latin typeface="Fredoka"/>
              </a:rPr>
              <a:t>Use it as mulch or mix it into potting soil.</a:t>
            </a:r>
          </a:p>
        </p:txBody>
      </p:sp>
      <p:sp>
        <p:nvSpPr>
          <p:cNvPr id="7" name="label as mulch"/>
          <p:cNvSpPr txBox="1"/>
          <p:nvPr/>
        </p:nvSpPr>
        <p:spPr>
          <a:xfrm>
            <a:off x="762000" y="9313333"/>
            <a:ext cx="2540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as mulch</a:t>
            </a:r>
          </a:p>
        </p:txBody>
      </p:sp>
      <p:sp>
        <p:nvSpPr>
          <p:cNvPr id="8" name="label in potting soil"/>
          <p:cNvSpPr txBox="1"/>
          <p:nvPr/>
        </p:nvSpPr>
        <p:spPr>
          <a:xfrm>
            <a:off x="5757333" y="8974667"/>
            <a:ext cx="2540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in potting soil</a:t>
            </a:r>
          </a:p>
        </p:txBody>
      </p:sp>
      <p:sp>
        <p:nvSpPr>
          <p:cNvPr id="9" name="credit"/>
          <p:cNvSpPr txBox="1"/>
          <p:nvPr/>
        </p:nvSpPr>
        <p:spPr>
          <a:xfrm>
            <a:off x="778933" y="10583333"/>
            <a:ext cx="6096000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70" i="0" b="0">
                <a:solidFill>
                  <a:srgbClr val="5C4636"/>
                </a:solidFill>
                <a:latin typeface="Montserrat"/>
              </a:rPr>
              <a:t>Photo: Lance Cheung, USDA, Public domain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
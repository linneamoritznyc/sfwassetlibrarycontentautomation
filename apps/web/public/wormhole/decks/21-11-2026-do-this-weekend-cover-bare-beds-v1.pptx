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640667"/>
            <a:ext cx="7789333" cy="5588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30" i="0" b="1">
                <a:solidFill>
                  <a:srgbClr val="4F3433"/>
                </a:solidFill>
                <a:latin typeface="Fredoka"/>
              </a:rPr>
              <a:t>Bare soil in winter is soil you're losing.</a:t>
            </a:r>
          </a:p>
        </p:txBody>
      </p:sp>
      <p:sp>
        <p:nvSpPr>
          <p:cNvPr id="6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Malcolm Manners, CC BY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raindrop-splas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41333"/>
            <a:ext cx="7620000" cy="4910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267" y="5113867"/>
            <a:ext cx="364067" cy="863600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867" y="8407400"/>
            <a:ext cx="948267" cy="1337733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070" i="0" b="1">
                <a:solidFill>
                  <a:srgbClr val="4F3433"/>
                </a:solidFill>
                <a:latin typeface="Fredoka"/>
              </a:rPr>
              <a:t>Rain hits bare soil hard, breaks aggregates apart and washes the fine particles away.</a:t>
            </a:r>
          </a:p>
        </p:txBody>
      </p:sp>
      <p:sp>
        <p:nvSpPr>
          <p:cNvPr id="8" name="label a raindrop"/>
          <p:cNvSpPr txBox="1"/>
          <p:nvPr/>
        </p:nvSpPr>
        <p:spPr>
          <a:xfrm>
            <a:off x="3979333" y="4741333"/>
            <a:ext cx="2032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raindrop</a:t>
            </a:r>
          </a:p>
        </p:txBody>
      </p:sp>
      <p:sp>
        <p:nvSpPr>
          <p:cNvPr id="9" name="label fine particles wash away"/>
          <p:cNvSpPr txBox="1"/>
          <p:nvPr/>
        </p:nvSpPr>
        <p:spPr>
          <a:xfrm>
            <a:off x="5080000" y="9736667"/>
            <a:ext cx="3048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fine particles wash away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leaf-mulch-bed-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640667"/>
            <a:ext cx="3810000" cy="2540000"/>
          </a:xfrm>
          <a:prstGeom prst="rect">
            <a:avLst/>
          </a:prstGeom>
        </p:spPr>
      </p:pic>
      <p:pic>
        <p:nvPicPr>
          <p:cNvPr id="4" name="photo-straw-mulch-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640667"/>
            <a:ext cx="3810000" cy="2540000"/>
          </a:xfrm>
          <a:prstGeom prst="rect">
            <a:avLst/>
          </a:prstGeom>
        </p:spPr>
      </p:pic>
      <p:pic>
        <p:nvPicPr>
          <p:cNvPr id="5" name="photo-woodchip-mulch-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3" y="6773333"/>
            <a:ext cx="3810000" cy="2540000"/>
          </a:xfrm>
          <a:prstGeom prst="rect">
            <a:avLst/>
          </a:prstGeom>
        </p:spPr>
      </p:pic>
      <p:pic>
        <p:nvPicPr>
          <p:cNvPr id="6" name="photo-cover-crop-rye-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6773333"/>
            <a:ext cx="3810000" cy="2540000"/>
          </a:xfrm>
          <a:prstGeom prst="rect">
            <a:avLst/>
          </a:prstGeom>
        </p:spPr>
      </p:pic>
      <p:pic>
        <p:nvPicPr>
          <p:cNvPr id="7" name="log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8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Cover it: leaf mulch, straw, woodchips or a winter cover crop.</a:t>
            </a:r>
          </a:p>
        </p:txBody>
      </p:sp>
      <p:sp>
        <p:nvSpPr>
          <p:cNvPr id="9" name="label leaf mulch"/>
          <p:cNvSpPr txBox="1"/>
          <p:nvPr/>
        </p:nvSpPr>
        <p:spPr>
          <a:xfrm>
            <a:off x="762000" y="6197600"/>
            <a:ext cx="364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70" i="0" b="1">
                <a:solidFill>
                  <a:srgbClr val="4F3433"/>
                </a:solidFill>
                <a:latin typeface="Montserrat"/>
              </a:rPr>
              <a:t>leaf mulch</a:t>
            </a:r>
          </a:p>
        </p:txBody>
      </p:sp>
      <p:sp>
        <p:nvSpPr>
          <p:cNvPr id="10" name="label straw"/>
          <p:cNvSpPr txBox="1"/>
          <p:nvPr/>
        </p:nvSpPr>
        <p:spPr>
          <a:xfrm>
            <a:off x="4656667" y="6197600"/>
            <a:ext cx="364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70" i="0" b="1">
                <a:solidFill>
                  <a:srgbClr val="4F3433"/>
                </a:solidFill>
                <a:latin typeface="Montserrat"/>
              </a:rPr>
              <a:t>straw</a:t>
            </a:r>
          </a:p>
        </p:txBody>
      </p:sp>
      <p:sp>
        <p:nvSpPr>
          <p:cNvPr id="11" name="label woodchips"/>
          <p:cNvSpPr txBox="1"/>
          <p:nvPr/>
        </p:nvSpPr>
        <p:spPr>
          <a:xfrm>
            <a:off x="762000" y="9330267"/>
            <a:ext cx="364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70" i="0" b="1">
                <a:solidFill>
                  <a:srgbClr val="4F3433"/>
                </a:solidFill>
                <a:latin typeface="Montserrat"/>
              </a:rPr>
              <a:t>woodchips</a:t>
            </a:r>
          </a:p>
        </p:txBody>
      </p:sp>
      <p:sp>
        <p:nvSpPr>
          <p:cNvPr id="12" name="label a winter cover crop"/>
          <p:cNvSpPr txBox="1"/>
          <p:nvPr/>
        </p:nvSpPr>
        <p:spPr>
          <a:xfrm>
            <a:off x="4656667" y="9330267"/>
            <a:ext cx="364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70" i="0" b="1">
                <a:solidFill>
                  <a:srgbClr val="4F3433"/>
                </a:solidFill>
                <a:latin typeface="Montserrat"/>
              </a:rPr>
              <a:t>a winter cover crop</a:t>
            </a:r>
          </a:p>
        </p:txBody>
      </p:sp>
      <p:sp>
        <p:nvSpPr>
          <p:cNvPr id="13" name="credit"/>
          <p:cNvSpPr txBox="1"/>
          <p:nvPr/>
        </p:nvSpPr>
        <p:spPr>
          <a:xfrm>
            <a:off x="778933" y="10287000"/>
            <a:ext cx="6265333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Photos: Dan Keck, CC0 1.0; Lance Cheung, USDA, Public domain; Jnzl's Photos, CC BY 2.0; Lynn Betts, NRCS/SWCS, CC BY 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4216400"/>
            <a:ext cx="5249333" cy="5266267"/>
          </a:xfrm>
          <a:prstGeom prst="rect">
            <a:avLst/>
          </a:prstGeom>
        </p:spPr>
      </p:pic>
      <p:pic>
        <p:nvPicPr>
          <p:cNvPr id="4" name="earthworm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418667"/>
            <a:ext cx="2506133" cy="3048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Soil life keeps working under the cover, and your beds are ready in spring.</a:t>
            </a:r>
          </a:p>
        </p:txBody>
      </p:sp>
      <p:sp>
        <p:nvSpPr>
          <p:cNvPr id="7" name="label still busy in winter"/>
          <p:cNvSpPr txBox="1"/>
          <p:nvPr/>
        </p:nvSpPr>
        <p:spPr>
          <a:xfrm>
            <a:off x="6096000" y="8720667"/>
            <a:ext cx="2201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still busy in winter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Lance Cheung, USDA, Public domain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
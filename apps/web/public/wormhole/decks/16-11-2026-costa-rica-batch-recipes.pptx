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1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6-11-2026-costa-rica-built-to-fail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762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048500"/>
            <a:ext cx="10287000" cy="58102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620000"/>
            <a:ext cx="7772400" cy="190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148" b="1">
                <a:solidFill>
                  <a:srgbClr val="F4F1EA"/>
                </a:solidFill>
                <a:latin typeface="Montserrat"/>
              </a:rPr>
              <a:t>Several batches, different recipes.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754362"/>
            <a:ext cx="7772400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1">
                <a:solidFill>
                  <a:srgbClr val="DDE5D4"/>
                </a:solidFill>
                <a:latin typeface="Montserrat"/>
              </a:rPr>
              <a:t>Costa Rica, 18 to 29 January 2027</a:t>
            </a:r>
          </a:p>
        </p:txBody>
      </p:sp>
      <p:pic>
        <p:nvPicPr>
          <p:cNvPr id="6" name="Picture 5" descr="heliconia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619500"/>
            <a:ext cx="2047875" cy="4391025"/>
          </a:xfrm>
          <a:prstGeom prst="rect">
            <a:avLst/>
          </a:prstGeom>
        </p:spPr>
      </p:pic>
      <p:pic>
        <p:nvPicPr>
          <p:cNvPr id="7" name="Picture 6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10934700"/>
            <a:ext cx="12382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8915400" cy="1535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200" b="1">
                <a:solidFill>
                  <a:srgbClr val="F4F1EA"/>
                </a:solidFill>
                <a:latin typeface="Montserrat"/>
              </a:rPr>
              <a:t>Every pile behaves differently.</a:t>
            </a:r>
          </a:p>
        </p:txBody>
      </p:sp>
      <p:pic>
        <p:nvPicPr>
          <p:cNvPr id="3" name="Picture 2" descr="heliconia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953000"/>
            <a:ext cx="3381375" cy="7248525"/>
          </a:xfrm>
          <a:prstGeom prst="rect">
            <a:avLst/>
          </a:prstGeom>
        </p:spPr>
      </p:pic>
      <p:pic>
        <p:nvPicPr>
          <p:cNvPr id="4" name="Picture 3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8382000"/>
            <a:ext cx="2876550" cy="3238500"/>
          </a:xfrm>
          <a:prstGeom prst="rect">
            <a:avLst/>
          </a:prstGeom>
        </p:spPr>
      </p:pic>
      <p:pic>
        <p:nvPicPr>
          <p:cNvPr id="5" name="Picture 4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10934700"/>
            <a:ext cx="12382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6-11-2026-costa-rica-built-to-fail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819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667500"/>
            <a:ext cx="8915400" cy="40957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7143750"/>
            <a:ext cx="6724650" cy="1535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4095" b="1">
                <a:solidFill>
                  <a:srgbClr val="F4F1EA"/>
                </a:solidFill>
                <a:latin typeface="Montserrat"/>
              </a:rPr>
              <a:t>Students build several batches at once.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050" y="8907780"/>
            <a:ext cx="6724650" cy="948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0">
                <a:solidFill>
                  <a:srgbClr val="DDE5D4"/>
                </a:solidFill>
                <a:latin typeface="Montserrat"/>
              </a:rPr>
              <a:t>Each team picks its feedstocks and works out its own recipe.</a:t>
            </a:r>
          </a:p>
        </p:txBody>
      </p:sp>
      <p:pic>
        <p:nvPicPr>
          <p:cNvPr id="6" name="Picture 5" descr="torch-ging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3810000"/>
            <a:ext cx="2381250" cy="3810000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8C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6-11-2026-costa-rica-built-to-fail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819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667500"/>
            <a:ext cx="8915400" cy="4095750"/>
          </a:xfrm>
          <a:prstGeom prst="rect">
            <a:avLst/>
          </a:prstGeom>
          <a:solidFill>
            <a:srgbClr val="4F3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7143750"/>
            <a:ext cx="6724650" cy="2255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4095" b="1">
                <a:solidFill>
                  <a:srgbClr val="F4F1EA"/>
                </a:solidFill>
                <a:latin typeface="Montserrat"/>
              </a:rPr>
              <a:t>Then you read each pile and adjust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050" y="9627870"/>
            <a:ext cx="6724650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0">
                <a:solidFill>
                  <a:srgbClr val="DDE5D4"/>
                </a:solidFill>
                <a:latin typeface="Montserrat"/>
              </a:rPr>
              <a:t>With a mentor beside you.</a:t>
            </a:r>
          </a:p>
        </p:txBody>
      </p:sp>
      <p:pic>
        <p:nvPicPr>
          <p:cNvPr id="6" name="Picture 5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5619750"/>
            <a:ext cx="1781175" cy="2000250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047750"/>
            <a:ext cx="4572000" cy="4305300"/>
          </a:xfrm>
          <a:prstGeom prst="rect">
            <a:avLst/>
          </a:prstGeom>
        </p:spPr>
      </p:pic>
      <p:pic>
        <p:nvPicPr>
          <p:cNvPr id="3" name="Picture 2" descr="heliconia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500" y="571500"/>
            <a:ext cx="2314575" cy="4962525"/>
          </a:xfrm>
          <a:prstGeom prst="rect">
            <a:avLst/>
          </a:prstGeom>
        </p:spPr>
      </p:pic>
      <p:pic>
        <p:nvPicPr>
          <p:cNvPr id="4" name="Picture 3" descr="poro-flower-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857250"/>
            <a:ext cx="2800350" cy="2286000"/>
          </a:xfrm>
          <a:prstGeom prst="rect">
            <a:avLst/>
          </a:prstGeom>
        </p:spPr>
      </p:pic>
      <p:pic>
        <p:nvPicPr>
          <p:cNvPr id="5" name="Picture 4" descr="hibiscus-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4476750"/>
            <a:ext cx="2200275" cy="247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7620000"/>
            <a:ext cx="8915400" cy="9593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8560"/>
              </a:lnSpc>
            </a:pPr>
            <a:r>
              <a:rPr sz="4914" b="1">
                <a:solidFill>
                  <a:srgbClr val="22371F"/>
                </a:solidFill>
                <a:latin typeface="Montserrat"/>
              </a:rPr>
              <a:t>18 to 29 January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750808"/>
            <a:ext cx="8915400" cy="948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800"/>
              </a:lnSpc>
            </a:pPr>
            <a:r>
              <a:rPr sz="2400" b="1">
                <a:solidFill>
                  <a:srgbClr val="156826"/>
                </a:solidFill>
                <a:latin typeface="Montserrat"/>
              </a:rPr>
              <a:t>Accelerator Workshop at Armonía Agricultura Orgánica, near San José, Costa 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870948"/>
            <a:ext cx="8915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800"/>
              </a:lnSpc>
            </a:pPr>
            <a:r>
              <a:rPr sz="2550" b="1">
                <a:solidFill>
                  <a:srgbClr val="4F3433"/>
                </a:solidFill>
                <a:latin typeface="Montserrat"/>
              </a:rPr>
              <a:t>Register, link in bio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
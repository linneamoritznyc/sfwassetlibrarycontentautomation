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33" y="5867400"/>
            <a:ext cx="6129867" cy="61298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067" y="10227733"/>
            <a:ext cx="1210733" cy="19388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70" i="0" b="1">
                <a:solidFill>
                  <a:srgbClr val="F4F1EA"/>
                </a:solidFill>
                <a:latin typeface="Fredoka"/>
              </a:rPr>
              <a:t>This is a ciliate.</a:t>
            </a:r>
          </a:p>
        </p:txBody>
      </p:sp>
      <p:sp>
        <p:nvSpPr>
          <p:cNvPr id="7" name="label a ciliate, seen at 60x"/>
          <p:cNvSpPr txBox="1"/>
          <p:nvPr/>
        </p:nvSpPr>
        <p:spPr>
          <a:xfrm>
            <a:off x="677333" y="12166600"/>
            <a:ext cx="3556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 ciliate, seen at 60x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15663333"/>
            <a:ext cx="592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Patricia J Coppola, 60x objective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5943600"/>
            <a:ext cx="6316133" cy="6316133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333" y="6680200"/>
            <a:ext cx="1701800" cy="2167467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33" y="10718800"/>
            <a:ext cx="2311400" cy="8551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F4F1EA"/>
                </a:solidFill>
                <a:latin typeface="Fredoka"/>
              </a:rPr>
              <a:t>Hair-like cilia cover its body.</a:t>
            </a:r>
          </a:p>
        </p:txBody>
      </p:sp>
      <p:sp>
        <p:nvSpPr>
          <p:cNvPr id="8" name="label cilia"/>
          <p:cNvSpPr txBox="1"/>
          <p:nvPr/>
        </p:nvSpPr>
        <p:spPr>
          <a:xfrm>
            <a:off x="7450667" y="6307667"/>
            <a:ext cx="152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cilia</a:t>
            </a:r>
          </a:p>
        </p:txBody>
      </p:sp>
      <p:sp>
        <p:nvSpPr>
          <p:cNvPr id="9" name="label cilia"/>
          <p:cNvSpPr txBox="1"/>
          <p:nvPr/>
        </p:nvSpPr>
        <p:spPr>
          <a:xfrm>
            <a:off x="592667" y="11590867"/>
            <a:ext cx="152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cilia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6815667"/>
            <a:ext cx="4910667" cy="3556000"/>
          </a:xfrm>
          <a:prstGeom prst="rect">
            <a:avLst/>
          </a:prstGeom>
        </p:spPr>
      </p:pic>
      <p:pic>
        <p:nvPicPr>
          <p:cNvPr id="4" name="micr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067" y="8068733"/>
            <a:ext cx="3251200" cy="32512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533" y="10676467"/>
            <a:ext cx="1032933" cy="11430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F4F1EA"/>
                </a:solidFill>
                <a:latin typeface="Fredoka"/>
              </a:rPr>
              <a:t>Lots of them in compost or tea?</a:t>
            </a:r>
          </a:p>
        </p:txBody>
      </p:sp>
      <p:sp>
        <p:nvSpPr>
          <p:cNvPr id="8" name="label compost tea brewing"/>
          <p:cNvSpPr txBox="1"/>
          <p:nvPr/>
        </p:nvSpPr>
        <p:spPr>
          <a:xfrm>
            <a:off x="762000" y="10456333"/>
            <a:ext cx="3556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compost tea brewing</a:t>
            </a:r>
          </a:p>
        </p:txBody>
      </p:sp>
      <p:sp>
        <p:nvSpPr>
          <p:cNvPr id="9" name="label one ciliate is normal, a"/>
          <p:cNvSpPr txBox="1"/>
          <p:nvPr/>
        </p:nvSpPr>
        <p:spPr>
          <a:xfrm>
            <a:off x="762000" y="11641667"/>
            <a:ext cx="440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one ciliate is normal, a slide full is a warning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7662333"/>
            <a:ext cx="7789333" cy="4572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F4F1EA"/>
                </a:solidFill>
                <a:latin typeface="Fredoka"/>
              </a:rPr>
              <a:t>Oxygen has run low. Fix it before you apply.</a:t>
            </a:r>
          </a:p>
        </p:txBody>
      </p:sp>
      <p:sp>
        <p:nvSpPr>
          <p:cNvPr id="6" name="label aerate the brew, turn th"/>
          <p:cNvSpPr txBox="1"/>
          <p:nvPr/>
        </p:nvSpPr>
        <p:spPr>
          <a:xfrm>
            <a:off x="762000" y="12403667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aerate the brew, turn the pile, add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
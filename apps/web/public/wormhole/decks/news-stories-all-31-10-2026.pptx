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a restored landscape look finished while the life in its soil is still catching up? 🌳</a:t>
            </a:r>
          </a:p>
          <a:p>
            <a:r>
              <a:t>A team at Flinders University in Australia, led by Professor Martin Breed, went back to replanted former farmland and sampled its soil fungi again six years later. What the fungi do in the soil kept recovering over those six years, while the fungal community as a whole changed very little.</a:t>
            </a:r>
          </a:p>
          <a:p>
            <a:r>
              <a:t>The researchers point to the land's farming history and the high nutrient levels still in those soils as a likely brake. Trees and shrubs are the part of restoration we can see and count. The soil food web follows on its own timeline, and it deserves to be measured too.</a:t>
            </a:r>
          </a:p>
          <a:p>
            <a:r>
              <a:t>Read the study through the link in bio.</a:t>
            </a:r>
          </a:p>
          <a:p>
            <a:r>
              <a:t>#SoilFoodWeb #SoilFungi #EcologicalRestoration #LivingSoil #SoilHealth #SoilBiology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land can look finished while the fungi below are still catching up. Flinders University, Molecular Ecology,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six years, what the fungi do in the soil kept recovering. The fungal community as a whole changed very little.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points to the farming history: soils still rich in leftover nutrients. Trees are the part of restoration we can count. The soil food web takes longer.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Mycorrhizal fungi reached about 30 mm from cotton roots and carried phosphorus back to the plant. That is 15 times the soil a cotton root reaches for phosphorus on its own.</a:t>
            </a:r>
          </a:p>
          <a:p/>
          <a:p>
            <a:r>
              <a:t>Our mentor Dr. Carla Portugal shared this field study with the team, and it is too good to keep to ourselves. Researchers grew cotton in the field at different phosphorus fertilizer rates and measured fungal hyphae at set distances from the roots.</a:t>
            </a:r>
          </a:p>
          <a:p/>
          <a:p>
            <a:r>
              <a:t>What they found:</a:t>
            </a:r>
          </a:p>
          <a:p>
            <a:r>
              <a:t>1. Arbuscular mycorrhizal hyphae took up and moved phosphorus up to 3 cm from the root surface.</a:t>
            </a:r>
          </a:p>
          <a:p>
            <a:r>
              <a:t>2. Hyphal growth followed soil-available phosphorus. Low soluble P promoted the hyphae. High soluble P held them back.</a:t>
            </a:r>
          </a:p>
          <a:p>
            <a:r>
              <a:t>3. The root's influence on the hyphae faded with distance.</a:t>
            </a:r>
          </a:p>
          <a:p>
            <a:r>
              <a:t>4. Cotton took up the most phosphorus at a moderate rate, 150 kg P2O5 per hectare, so the authors recommend balancing fertilizer with the fungal pathway.</a:t>
            </a:r>
          </a:p>
          <a:p/>
          <a:p>
            <a:r>
              <a:t>This matches what Dr. Elaine Ingham taught for decades: plants trade the sugars they make for nutrients the fungi bring in, and heavy soluble fertilizer switches that trade down.</a:t>
            </a:r>
          </a:p>
          <a:p/>
          <a:p>
            <a:r>
              <a:t>Carla's caveat: the study looks at one crop, mycorrhizal fungi and soil chemistry only. It leaves out the grazers, predators and the rest of the soil food web, and it measures what happens in one field. It is a strong paper to follow.</a:t>
            </a:r>
          </a:p>
          <a:p/>
          <a:p>
            <a:r>
              <a:t>Mai et al. 2019, European Journal of Soil Biology. Link in bio.</a:t>
            </a:r>
          </a:p>
          <a:p/>
          <a:p>
            <a:r>
              <a:t>#SoilFoodWeb #SoilBiology #Mycorrhizae #Phosphorus #SoilHealth #RegenerativeAgriculture #SoilScience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Fungi reach 15 times more soil than the root.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soluble P, fewer hyphae.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soil stories from October that made our microscopes jealous. 🔬🍄</a:t>
            </a:r>
          </a:p>
          <a:p/>
          <a:p>
            <a:r>
              <a:t>Yunnan, China: researchers at the Kunming Institute of Botany described Dianjunus rex, nicknamed D-rex. Its fruiting bodies grow up to 50 cm tall and 2.2 kg, straight from the woody roots of Chinese cork oak. That makes it the largest known in the phylum Ascomycota, and its family dates back about 65 million years, roughly a million years after the mass extinction that ended the age of dinosaurs. (Frontiers in Fungal Biology, 2026)</a:t>
            </a:r>
          </a:p>
          <a:p/>
          <a:p>
            <a:r>
              <a:t>Konstanz, Germany: in forest soil at the University of Konstanz botanical garden, bacteria fully broke down films of new bioplastics in about 250 to 330 days. The team found the enzyme behind it anchored to the outside of the bacterial cell, and they think the cells eat their way into the film, leaving cell-sized holes. Ordinary polyethylene barely changed. (The ISME Journal, 2026)</a:t>
            </a:r>
          </a:p>
          <a:p/>
          <a:p>
            <a:r>
              <a:t>South Australia: Flinders University resampled the same restoration plantings over six years. The jobs soil fungi do, cycling nutrients and breaking down organic matter, kept recovering. The mix of fungal species changed far less, and old fertiliser legacies may be holding it back. (Molecular Ecology, 2026)</a:t>
            </a:r>
          </a:p>
          <a:p/>
          <a:p>
            <a:r>
              <a:t>Which one would you put under the microscope first? Tell us below. 💚</a:t>
            </a:r>
          </a:p>
          <a:p/>
          <a:p>
            <a:r>
              <a:t>#FunSoilNews #SoilFoodWeb #SoilBiology #Fungi #SoilMicrobiology #LivingSoil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 SOIL NEWS Three soil stories for October. YUNNAN, CHINA KONSTANZ, GERMANY ADELAIDE, AUSTRALIA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YUNNAN, CHINA A giant fungus grows up to 50 cm tall from oak roots. Dianjunus rex, a new family about 65 million years old.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KONSTANZ, GERMANY Forest soil bacteria eat holes in bioplastic. The films were gone in about 250 to 330 days. Ordinary polyethylene barely 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 AUSTRALIA Six years after replanting, soil fungi are back at work. Their jobs kept recovering. The mix of species changed far less.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Soil may be home to 59% of all life on Earth (Anthony et al., PNAS 2023). 🔬</a:t>
            </a:r>
          </a:p>
          <a:p/>
          <a:p>
            <a:r>
              <a:t>Bacteria, archaea, fungi, protozoa, nematodes, mites, springtails, earthworms, beetles. Save Soil's (Isha Foundation) paper on soil degradation and biodiversity walks through how they build the ground: microbes feed on sugars from roots and make sticky substances, fungal hyphae bind particles into crumbs, and earthworms and mites open channels for air and water.</a:t>
            </a:r>
          </a:p>
          <a:p/>
          <a:p>
            <a:r>
              <a:t>About 33% of the world's soils are already moderately to highly degraded. Every one of those organisms is what regeneration brings back.</a:t>
            </a:r>
          </a:p>
          <a:p/>
          <a:p>
            <a:r>
              <a:t>Link in bio: https://consciousplanet.org/en/save-soil/news/soil-degradation-and-biodiversity-loss</a:t>
            </a:r>
          </a:p>
          <a:p/>
          <a:p>
            <a:r>
              <a:t>#SaveSoil #ConsciousPlanet #SoilFoodWeb #SoilHealth #SoilBiology #LivingSoil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Soil may be home to 59% of all life on Earth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plough releases carbon that soil life spent years locking away.</a:t>
            </a:r>
          </a:p>
          <a:p/>
          <a:p>
            <a:r>
              <a:t>Roots feed microbes, microbes make sticky polysaccharides, fungal hyphae wrap soil particles into aggregates, and carbon inside those crumbs is shielded from decomposition. Tillage breaks the crumbs open.</a:t>
            </a:r>
          </a:p>
          <a:p/>
          <a:p>
            <a:r>
              <a:t>A meta-analysis of 46 studies found tilled soils emitted 21% more CO2 than untilled ones, and 29% more where soil organic carbon was below 1% (Abdalla et al. 2016). A six-year field trial measured 51% less CO2 on average under no-till with surface mulch (Mühlbachová et al. 2023).</a:t>
            </a:r>
          </a:p>
          <a:p/>
          <a:p>
            <a:r>
              <a:t>Save Soil (Isha Foundation) gathers these in their paper on regenerative agriculture and climate.</a:t>
            </a:r>
          </a:p>
          <a:p/>
          <a:p>
            <a:r>
              <a:t>What has cutting tillage looked like on the land you work with?</a:t>
            </a:r>
          </a:p>
          <a:p/>
          <a:p>
            <a:r>
              <a:t>https://consciousplanet.org/en/save-soil/news/mitigating-climate-change-through-soil-revitalization-using-regenerative-ag</a:t>
            </a:r>
          </a:p>
          <a:p/>
          <a:p>
            <a:r>
              <a:t>#SaveSoil #NoTill #SoilCarbon #SoilHealth #SoilFoodWeb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Tilled soil released 21% more CO2. In low-carbon soil, 29%.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now an open map of the bacteria and fungi in more than 100,000 soil samples from over 90 countries.</a:t>
            </a:r>
          </a:p>
          <a:p/>
          <a:p>
            <a:r>
              <a:t>BeOpen, an open project by Biome Makers, collects, sequences and analyses every sample with the same protocol, so a sample from one continent can be compared directly with one from another. Researchers get free access to raw reads and processed data. Regulators can see which soil microorganisms have been found in each region, with every data point linked to where it came from. Labs can join as contributors with the Becrop Standard protocol.</a:t>
            </a:r>
          </a:p>
          <a:p/>
          <a:p>
            <a:r>
              <a:t>Over 200 research partners and 3,000 datasets so far. Supported by the European Union and powered by Fields4Ever.</a:t>
            </a:r>
          </a:p>
          <a:p/>
          <a:p>
            <a:r>
              <a:t>Go explore the Atlas: https://beopen.earth/atlas</a:t>
            </a:r>
          </a:p>
          <a:p/>
          <a:p>
            <a:r>
              <a:t>#SoilFoodWeb #SoilMicrobiome #SoilBiology #OpenScience #SoilHealth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100,000 soil samples, one open atlas.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 only: fungal hypha.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Explore it at beopen.earth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Soil is starting to be written into law as a matter of security.</a:t>
            </a:r>
          </a:p>
          <a:p/>
          <a:p>
            <a:r>
              <a:t>Three recent steps: the IUCN's mandate, from the World Conservation Congress, to develop a global legal instrument for soil security; the Pan-African Parliament's endorsement of a Model Law on sustainable soil management; and the European Union's Soil Monitoring Law.</a:t>
            </a:r>
          </a:p>
          <a:p/>
          <a:p>
            <a:r>
              <a:t>Secure Soil, Save Life, from the Aroura Soil Security Think Tank, IUCN's World Commission on Environmental Law and Save Soil (Isha Foundation), calls soil "the planet's quiet infrastructure": it feeds people, filters water, regulates climate and holds biodiversity.</a:t>
            </a:r>
          </a:p>
          <a:p/>
          <a:p>
            <a:r>
              <a:t>Should soil be treated as critical infrastructure where you work?</a:t>
            </a:r>
          </a:p>
          <a:p/>
          <a:p>
            <a:r>
              <a:t>https://consciousplanet.org/en/save-soil/news/secure-soil-save-life</a:t>
            </a:r>
          </a:p>
          <a:p/>
          <a:p>
            <a:r>
              <a:t>#SaveSoil #SoilSecurity #SoilPolicy #SoilHealth #SoilFoodWeb</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Soil is becoming security policy.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with living soil runs cooler than bare ground, and water is the reason. 💧</a:t>
            </a:r>
          </a:p>
          <a:p/>
          <a:p>
            <a:r>
              <a:t>Save Soil's (Isha Foundation) report The Soil Carbon Sponge, built on Walter Jehne's work, explains it. Soil rich in organic matter soaks up rain and holds it. Plants pull that water up and release it through their leaves, and evaporation carries heat away. When soil degrades, the water runs off, and the same sunlight heats the air instead.</a:t>
            </a:r>
          </a:p>
          <a:p/>
          <a:p>
            <a:r>
              <a:t>From the soil food web side: the sponge is built by biology. Fungal hyphae and bacterial glues hold the pores open, and cover crops and mulch keep it from drying out.</a:t>
            </a:r>
          </a:p>
          <a:p/>
          <a:p>
            <a:r>
              <a:t>Link in bio: https://consciousplanet.org/en/save-soil/news/the-soil-carbon-sponge</a:t>
            </a:r>
          </a:p>
          <a:p/>
          <a:p>
            <a:r>
              <a:t>#SaveSoil #ConsciousPlanet #SoilFoodWeb #SoilHealth #SoilBiology #LivingSoil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Healthy soil cools the land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in soil evaporates through plants and carries heat away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Bare, degraded soil can't hold that water, so the sun heats the air instead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crops and mulch keep the ground from baking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regenerative farms stored 39% more carbon in their soil. 🌱</a:t>
            </a:r>
          </a:p>
          <a:p>
            <a:r>
              <a:t>A new peer-reviewed paper from Ecdysis Foundation's 1000 Farms Initiative measured working farms across North America. Compared with the most conventional farms, the most regenerative farms had 39% more total soil carbon, 77% more total fungi, and more soil microbes, insects, plants and birds. Yields matched national averages, and net profit per acre was similar.</a:t>
            </a:r>
          </a:p>
          <a:p>
            <a:r>
              <a:t>One finding stands out for everyone who works with soil biology: a single regenerative practice on its own changed nothing. The results came from managing the whole system.</a:t>
            </a:r>
          </a:p>
          <a:p>
            <a:r>
              <a:t>🔗 Read the full paper at the link in our bio.</a:t>
            </a:r>
          </a:p>
          <a:p/>
          <a:p>
            <a:r>
              <a:t>#RegenerativeAgriculture #SoilCarbon #SoilHealth #SoilFoodWeb</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Valluvan's yields did nothing for three years. Then they climbed. 🌴</a:t>
            </a:r>
          </a:p>
          <a:p/>
          <a:p>
            <a:r>
              <a:t>His Tamil Nadu coconut farm started at 0.86% soil organic matter. He dug trenches between the coconut rows and filled them with leaf litter, stopped burning fronds, mulched around every crop, and planted nutmeg, banana, black pepper, turmeric and timber trees in layers under the palms.</a:t>
            </a:r>
          </a:p>
          <a:p/>
          <a:p>
            <a:r>
              <a:t>From year four the coconuts rose: 140 nuts per tree, up from 90-100. By year seven the soil read 1.5% organic matter, and the latest test reads 2.33%. Fertiliser costs are under a tenth of what they were.</a:t>
            </a:r>
          </a:p>
          <a:p/>
          <a:p>
            <a:r>
              <a:t>In 2018, after two years of drought, more than 1,200 mm of rain fell in a few days. His neighbours' open wells stood 6-7 feet lower than his.</a:t>
            </a:r>
          </a:p>
          <a:p/>
          <a:p>
            <a:r>
              <a:t>That buried leaf litter is food for fungi and bacteria, and their glues and threads are what turn soil into a sponge.</a:t>
            </a:r>
          </a:p>
          <a:p/>
          <a:p>
            <a:r>
              <a:t>Full case study from Save Soil (Isha Foundation). Link in bio: https://consciousplanet.org/en/save-soil/news/save-soil-movement-model-farm-proof-of-concept</a:t>
            </a:r>
          </a:p>
          <a:p/>
          <a:p>
            <a:r>
              <a:t>#SaveSoil #ConsciousPlanet #SoilFoodWeb #SoilHealth #SoilBiology #LivingSoil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coconut farm went from 0.86% to 2.33% soil organic matter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Coconuts per tree: 90-100 before, 140 now. Nothing changed in the first three years.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Fertiliser spending: under 10% of what it was. Workers: 1, down from 10-20.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2018: over 1,200 mm of rain in a few days, after two years of drought.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neighbours' open wells stood 6-7 feet lower than his.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he did: leaf litter trenches between rows, mulch, layered crops, no burning, no summer ploughing.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almond yields, twice the profit, and water that soaks in six times faster. 🌱</a:t>
            </a:r>
          </a:p>
          <a:p/>
          <a:p>
            <a:r>
              <a:t>That is one of the numbers Save Soil (Isha Foundation) gathered to argue that soil biology belongs in how countries track climate adaptation. Our favourites:</a:t>
            </a:r>
          </a:p>
          <a:p/>
          <a:p>
            <a:r>
              <a:t>1. Infiltration 6x faster in regenerative almond orchards (LaCanne et al. 2021).</a:t>
            </a:r>
          </a:p>
          <a:p>
            <a:r>
              <a:t>2. Microbial biomass carbon 133% higher in regenerative organic systems (Mäder et al. 2025).</a:t>
            </a:r>
          </a:p>
          <a:p>
            <a:r>
              <a:t>3. Diversified rotations had 2.4 to 13.5 times more earthworm biomass than rye monoculture in a long-term Lithuanian trial (Bogušas et al. 2022).</a:t>
            </a:r>
          </a:p>
          <a:p>
            <a:r>
              <a:t>4. Glomalin-related soil protein, made by mycorrhizal fungi, up 24% under perennial pasture restoration (Abán et al. 2025).</a:t>
            </a:r>
          </a:p>
          <a:p>
            <a:r>
              <a:t>5. In drought years, maize in legume and manure systems outyielded conventional by 38 to 137% (Lotter et al. 2003).</a:t>
            </a:r>
          </a:p>
          <a:p/>
          <a:p>
            <a:r>
              <a:t>Every one of these is the soil food web at work. Save this for the next time someone asks whether biology shows up in the numbers.</a:t>
            </a:r>
          </a:p>
          <a:p/>
          <a:p>
            <a:r>
              <a:t>Link in bio: https://consciousplanet.org/en/save-soil/news/soil-as-a-lead-indicator-of-the-global-goal-on-adaptation-gga</a:t>
            </a:r>
          </a:p>
          <a:p/>
          <a:p>
            <a:r>
              <a:t>#SaveSoil #ConsciousPlanet #SoilFoodWeb #SoilHealth #SoilBiology #LivingSoil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numbers that show what soil life does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6x faster: water soaking into regenerative almond orchards (LaCanne et al. 2021)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 more microbial biomass carbon in regenerative organic soils (Mäder et al. 2025)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to 13.5x more earthworm biomass in diversified rotations than in rye monoculture (Bogušas et al. 2022)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glomalin, the fungal protein that glues soil crumbs together, under perennial pasture (Abán et al. 2025)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+38-137% maize yield in drought years in legume and manure systems (Lotter et al. 2003)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COP30's Action Agenda put nearly USD 1 trillion behind renewable energy and modern grids. Agriculture and food systems: USD 9 billion.</a:t>
            </a:r>
          </a:p>
          <a:p/>
          <a:p>
            <a:r>
              <a:t>Save Soil's (Isha Foundation) COP30 analysis lays out the gap. The Sharm el-Sheikh Joint Work, the only official negotiation track on agriculture and food systems, closed with no outcome, and its mandate ends in 2026. Their verdict on the USD 9 billion: an order of magnitude too small to unlock what soils can do for the climate.</a:t>
            </a:r>
          </a:p>
          <a:p/>
          <a:p>
            <a:r>
              <a:t>What would it take for soil to get its own line in climate finance?</a:t>
            </a:r>
          </a:p>
          <a:p/>
          <a:p>
            <a:r>
              <a:t>https://consciousplanet.org/en/save-soil/news/cop30-a-turning-point-for-climate-action-but-agriculture-and-soils-left-behind</a:t>
            </a:r>
          </a:p>
          <a:p/>
          <a:p>
            <a:r>
              <a:t>#SaveSoil #COP30 #ClimateFinance #SoilHealth #SoilFoodWeb</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USD 1 trillion for energy. USD 9 billion for agriculture.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baboons, the soil they lived on shaped their gut bacteria 15 times more strongly than their genes. 🦠</a:t>
            </a:r>
          </a:p>
          <a:p/>
          <a:p>
            <a:r>
              <a:t>In people, a study of over 1,000 adults found that less than 8% of the gut microbiome is inherited (Rothschild et al. 2018). The rest comes from what we eat and where we live, and soil is part of that.</a:t>
            </a:r>
          </a:p>
          <a:p/>
          <a:p>
            <a:r>
              <a:t>The same soil life decides what is in our food. Mycorrhizal fungi move copper, iron, nitrogen, phosphorus and zinc into roots. Rhizobia in legume roots fix nitrogen from the air.</a:t>
            </a:r>
          </a:p>
          <a:p/>
          <a:p>
            <a:r>
              <a:t>From Save Soil's (Isha Foundation) paper Healthy Soil and Healthy Humans. Link in bio: https://consciousplanet.org/en/save-soil/news/healthy-soil-and-healthy-humans</a:t>
            </a:r>
          </a:p>
          <a:p/>
          <a:p>
            <a:r>
              <a:t>#SaveSoil #ConsciousPlanet #SoilFoodWeb #SoilHealth #SoilBiology #LivingSoil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you live shapes your gut more than your genes do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Baboons: the soil around them shaped their gut microbes 15x more strongly than their genetics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under 8% of the gut microbiome is inherited (Rothschild et al. 2018)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Mycorrhizal fungi carry copper, iron, nitrogen, phosphorus and zinc into crops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Rhizobia in legume roots turn nitrogen from the air into plant food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pieces of good soil news from around the world this month. 🌍</a:t>
            </a:r>
          </a:p>
          <a:p>
            <a:r>
              <a:t>[One line per story, with the country and the source.]</a:t>
            </a:r>
          </a:p>
          <a:p>
            <a:r>
              <a:t>📤 Send this to a friend who needs good news.</a:t>
            </a:r>
          </a:p>
          <a:p>
            <a:r>
              <a:t>#FunSoilNews #SoilHealth #GoodNews #SoilFoodWeb</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pieces of good soil news to end the year. 🌍</a:t>
            </a:r>
          </a:p>
          <a:p>
            <a:r>
              <a:t>[One line per story, with the country and the source.]</a:t>
            </a:r>
          </a:p>
          <a:p>
            <a:r>
              <a:t>📤 Send this to a friend who needs good news.</a:t>
            </a:r>
          </a:p>
          <a:p>
            <a:r>
              <a:t>#FunSoilNews #SoilHealth #GoodNews #SoilFoodWeb</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gram of soil holds about 10 billion microorganisms, from thousands of different species.</a:t>
            </a:r>
          </a:p>
          <a:p/>
          <a:p>
            <a:r>
              <a:t>That figure opens Save Soil's (Isha Foundation) article "What's Missing? Life. A Microscopic View of Why Living Soils Are So Crucial", by Lu Yu. It describes soil as minerals, organisms and organic matter interacting in the soil food web, and it cites Dr. Elaine Ingham: the nutrients plants need for hundreds of years are already in the sand, silt and clay. Microbes make them available.</a:t>
            </a:r>
          </a:p>
          <a:p/>
          <a:p>
            <a:r>
              <a:t>The practices it points to are the ones our students learn: minimal or no tillage, cover crops all year and animals back on cropland. Save Soil has gathered more than 700 sustainable soil management practices from around the world.</a:t>
            </a:r>
          </a:p>
          <a:p/>
          <a:p>
            <a:r>
              <a:t>If you work in agriculture: how many of your management decisions start with the biology?</a:t>
            </a:r>
          </a:p>
          <a:p/>
          <a:p>
            <a:r>
              <a:t>https://consciousplanet.org/save-soil/news/a-microscopic-view-of-why-living-soils-are-so-crucial</a:t>
            </a:r>
          </a:p>
          <a:p/>
          <a:p>
            <a:r>
              <a:t>#SaveSoil #SoilFoodWeb #SoilBiology #SoilHealth #RegenerativeAgriculture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 billion microorganisms in one gram of soil.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million trees, planted by farmers to feed their soil.</a:t>
            </a:r>
          </a:p>
          <a:p/>
          <a:p>
            <a:r>
              <a:t>APAF, the Association for the Promotion of Fertility Trees, Agroforestry and Forestry, started in Togo in 1991. By the end of 2024 it counted 88,051 hectares of agroforestry fields, 6,255 hectares of forest and 33,138,080 fertility, forest and fruit trees planted, with 68,051 farming families taking part across Togo, Côte d'Ivoire, Burkina Faso, Senegal, Cameroon and Benin.</a:t>
            </a:r>
          </a:p>
          <a:p/>
          <a:p>
            <a:r>
              <a:t>Fertility trees are mostly legumes. Their deep taproots partner with Rhizobium bacteria and mycorrhizal fungi, and farmers grow coffee, cocoa, cashew, banana, maize, millet and sorghum in their shade. Dr. Nathalie Benziwa Johnson of the University of Lomé calls it "a sustainable agricultural technique that requires no fossil fuels."</a:t>
            </a:r>
          </a:p>
          <a:p/>
          <a:p>
            <a:r>
              <a:t>Save Soil (Isha Foundation) published the full interview.</a:t>
            </a:r>
          </a:p>
          <a:p/>
          <a:p>
            <a:r>
              <a:t>Which tree partners are farmers in your region using to rebuild soil?</a:t>
            </a:r>
          </a:p>
          <a:p/>
          <a:p>
            <a:r>
              <a:t>https://consciousplanet.org/save-soil/news/restoring-africas-soils-through-fertility-trees-an-interview-with-dr-nathalie-ben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Fertility trees: 33 million planted across West Africa.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plant that biologists thought could never partner with fungi just traded food with one! 🌱</a:t>
            </a:r>
          </a:p>
          <a:p>
            <a:r>
              <a:t>Researchers at the University of Sheffield, led by Professor Katie Field, grew Arabidopsis, a small mustard plant and the most studied plant in biology, alongside an ancient soil fungus called a Mucoromycotina fine root endophyte. The mustard family lost the genes most plants use to welcome fungal partners millions of years ago, so everyone assumed it could not do this. The new study shows it can.</a:t>
            </a:r>
          </a:p>
          <a:p>
            <a:r>
              <a:t>The fungus carried nitrogen and phosphorus from the soil into the plant's shoots, and in return it received more than 260% more of the plant's carbon. It did the plant no harm.</a:t>
            </a:r>
          </a:p>
          <a:p>
            <a:r>
              <a:t>Cabbage, canola and mustard belong to the same family, and the team now wants to learn what this means for crops. Professor Jurriaan Ton calls it an "ideal model system" for finding out how plants build this other kind of partnership. Taking it from the lab to the field could cut reliance on "expensive chemical fertilisers".</a:t>
            </a:r>
          </a:p>
          <a:p>
            <a:r>
              <a:t>For us it is one more reminder that the soil food web reaches further than the textbooks said.</a:t>
            </a:r>
          </a:p>
          <a:p>
            <a:r>
              <a:t>Read the University of Sheffield story through the link in bio.</a:t>
            </a:r>
          </a:p>
          <a:p>
            <a:r>
              <a:t>#SoilFoodWeb #SoilBiology #SoilFungi #LivingSoil #PlantScience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plant everyone said lives without fungi just proved them wrong. University of Sheffield, Current Biology,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fungus carried nitrogen and phosphorus into the plant. It took more than 260% more of the plant's carbon in return.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Mustards and their cabbage cousins were thought to skip this partnership. Next the team wants to know which crops do it too. Look closer, there is life.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4.jpg"/><Relationship Id="rId7" Type="http://schemas.openxmlformats.org/officeDocument/2006/relationships/image" Target="../media/image25.jpg"/><Relationship Id="rId8"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1.png"/><Relationship Id="rId4" Type="http://schemas.openxmlformats.org/officeDocument/2006/relationships/image" Target="../media/image28.jpg"/><Relationship Id="rId5" Type="http://schemas.openxmlformats.org/officeDocument/2006/relationships/image" Target="../media/image2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21.png"/><Relationship Id="rId4" Type="http://schemas.openxmlformats.org/officeDocument/2006/relationships/image" Target="../media/image31.jpg"/><Relationship Id="rId5"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21.png"/><Relationship Id="rId4" Type="http://schemas.openxmlformats.org/officeDocument/2006/relationships/image" Target="../media/image34.jpg"/><Relationship Id="rId5" Type="http://schemas.openxmlformats.org/officeDocument/2006/relationships/image" Target="../media/image2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image" Target="../media/image21.png"/><Relationship Id="rId4" Type="http://schemas.openxmlformats.org/officeDocument/2006/relationships/image" Target="../media/image36.jpg"/><Relationship Id="rId5" Type="http://schemas.openxmlformats.org/officeDocument/2006/relationships/image" Target="../media/image3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image" Target="../media/image21.png"/><Relationship Id="rId4" Type="http://schemas.openxmlformats.org/officeDocument/2006/relationships/image" Target="../media/image34.jpg"/><Relationship Id="rId5" Type="http://schemas.openxmlformats.org/officeDocument/2006/relationships/image" Target="../media/image2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21.png"/><Relationship Id="rId4" Type="http://schemas.openxmlformats.org/officeDocument/2006/relationships/image" Target="../media/image36.jpg"/><Relationship Id="rId5" Type="http://schemas.openxmlformats.org/officeDocument/2006/relationships/image" Target="../media/image3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21.png"/><Relationship Id="rId4" Type="http://schemas.openxmlformats.org/officeDocument/2006/relationships/image" Target="../media/image40.jpg"/><Relationship Id="rId5" Type="http://schemas.openxmlformats.org/officeDocument/2006/relationships/image" Target="../media/image2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image" Target="../media/image66.png"/><Relationship Id="rId5" Type="http://schemas.openxmlformats.org/officeDocument/2006/relationships/image" Target="../media/image6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image" Target="../media/image65.jpg"/><Relationship Id="rId4" Type="http://schemas.openxmlformats.org/officeDocument/2006/relationships/image" Target="../media/image68.png"/><Relationship Id="rId5" Type="http://schemas.openxmlformats.org/officeDocument/2006/relationships/image" Target="../media/image6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image" Target="../media/image70.png"/><Relationship Id="rId4" Type="http://schemas.openxmlformats.org/officeDocument/2006/relationships/image" Target="../media/image65.jpg"/><Relationship Id="rId5" Type="http://schemas.openxmlformats.org/officeDocument/2006/relationships/image" Target="../media/image71.png"/><Relationship Id="rId6" Type="http://schemas.openxmlformats.org/officeDocument/2006/relationships/image" Target="../media/image6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image" Target="../media/image65.jpg"/><Relationship Id="rId5" Type="http://schemas.openxmlformats.org/officeDocument/2006/relationships/image" Target="../media/image74.png"/><Relationship Id="rId6" Type="http://schemas.openxmlformats.org/officeDocument/2006/relationships/image" Target="../media/image6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image" Target="../media/image65.jpg"/><Relationship Id="rId4" Type="http://schemas.openxmlformats.org/officeDocument/2006/relationships/image" Target="../media/image76.png"/><Relationship Id="rId5" Type="http://schemas.openxmlformats.org/officeDocument/2006/relationships/image" Target="../media/image6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image" Target="../media/image78.png"/><Relationship Id="rId4" Type="http://schemas.openxmlformats.org/officeDocument/2006/relationships/image" Target="../media/image66.png"/><Relationship Id="rId5" Type="http://schemas.openxmlformats.org/officeDocument/2006/relationships/image" Target="../media/image79.png"/><Relationship Id="rId6" Type="http://schemas.openxmlformats.org/officeDocument/2006/relationships/image" Target="../media/image6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image" Target="../media/image65.jpg"/><Relationship Id="rId4" Type="http://schemas.openxmlformats.org/officeDocument/2006/relationships/image" Target="../media/image74.png"/><Relationship Id="rId5" Type="http://schemas.openxmlformats.org/officeDocument/2006/relationships/image" Target="../media/image6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image" Target="../media/image65.jpg"/><Relationship Id="rId4" Type="http://schemas.openxmlformats.org/officeDocument/2006/relationships/image" Target="../media/image66.png"/><Relationship Id="rId5"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image" Target="../media/image65.jpg"/><Relationship Id="rId4" Type="http://schemas.openxmlformats.org/officeDocument/2006/relationships/image" Target="../media/image71.png"/><Relationship Id="rId5" Type="http://schemas.openxmlformats.org/officeDocument/2006/relationships/image" Target="../media/image6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image" Target="../media/image73.png"/><Relationship Id="rId4" Type="http://schemas.openxmlformats.org/officeDocument/2006/relationships/image" Target="../media/image65.jpg"/><Relationship Id="rId5" Type="http://schemas.openxmlformats.org/officeDocument/2006/relationships/image" Target="../media/image84.png"/><Relationship Id="rId6"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65.jpg"/><Relationship Id="rId4" Type="http://schemas.openxmlformats.org/officeDocument/2006/relationships/image" Target="../media/image86.png"/><Relationship Id="rId5" Type="http://schemas.openxmlformats.org/officeDocument/2006/relationships/image" Target="../media/image6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notesSlide" Target="../notesSlides/notesSlide5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 Id="rId3" Type="http://schemas.openxmlformats.org/officeDocument/2006/relationships/notesSlide" Target="../notesSlides/notesSlide5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 Id="rId3" Type="http://schemas.openxmlformats.org/officeDocument/2006/relationships/notesSlide" Target="../notesSlides/notesSlide5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notesSlide" Target="../notesSlides/notesSlide5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jp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Wed 28 Oct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Soil news: restored land can look finished while its soil fungi lag behind</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3 slides follow · images · Wormhole post n20261024a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n20261024a-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n20261024a-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n20261024a-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Fri 30 Oct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Research pick from Carla: mycorrhizal fungi extend cotton's phosphorus reach 15-fold</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2 slides follow · images · Wormhole post k20261030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k20261030-v1-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k20261030-v1-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Sat 31 Oct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Fun Soil News: October 2026</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4 slides follow · images · Wormhole post p17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p17-f1-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p17-f1-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p17-f1-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image" descr="p17-f1-4.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Sun 8 Nov 2026 · Instagram</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soil may hold 59% of all life on Earth</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1 slide follow · images · Wormhole post ss-05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ss-05-v2-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Tue 17 Nov 2026 ·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tillage releases carbon that soil life locked away</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1 slide follow · images · Wormhole post ss-04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lide 1 image" descr="ss-04-v2-1.jpg"/>
          <p:cNvPicPr>
            <a:picLocks noChangeAspect="1"/>
          </p:cNvPicPr>
          <p:nvPr/>
        </p:nvPicPr>
        <p:blipFill>
          <a:blip r:embed="rId2"/>
          <a:stretch>
            <a:fillRect/>
          </a:stretch>
        </p:blipFill>
        <p:spPr>
          <a:xfrm>
            <a:off x="0" y="3743325"/>
            <a:ext cx="10287000" cy="53721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Wed 18 Nov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Shoutout: beopen.earth</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3 slides follow · images · Wormhole post ev-02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ev-02-v2-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ev-02-v2-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ev-02-v2-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Thu 19 Nov 2026 ·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Secure Soil, Save Life</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1 slide follow · images · Wormhole post ss-07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lide 1 image" descr="ss-07-v2-1.jpg"/>
          <p:cNvPicPr>
            <a:picLocks noChangeAspect="1"/>
          </p:cNvPicPr>
          <p:nvPr/>
        </p:nvPicPr>
        <p:blipFill>
          <a:blip r:embed="rId2"/>
          <a:stretch>
            <a:fillRect/>
          </a:stretch>
        </p:blipFill>
        <p:spPr>
          <a:xfrm>
            <a:off x="0" y="3743325"/>
            <a:ext cx="10287000" cy="53721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Thu 19 Nov 2026 · Instagram</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the soil carbon sponge cools the land</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4 slides follow · images · Wormhole post ss-08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ss-08-v2-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ss-08-v2-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ss-08-v2-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image" descr="ss-08-v2-5.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Fri 20 Nov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New study: regenerative farms store 39% more soil carbon</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8 slides follow · editable · Wormhole post news-1000farms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1676400"/>
            <a:ext cx="8915400" cy="9525000"/>
          </a:xfrm>
          <a:prstGeom prst="rect">
            <a:avLst/>
          </a:prstGeom>
        </p:spPr>
      </p:pic>
      <p:pic>
        <p:nvPicPr>
          <p:cNvPr id="5" name="Article image: Figure 2, Lundgren et al. 2026" descr="image.jpg"/>
          <p:cNvPicPr>
            <a:picLocks noChangeAspect="1"/>
          </p:cNvPicPr>
          <p:nvPr/>
        </p:nvPicPr>
        <p:blipFill>
          <a:blip r:embed="rId5"/>
          <a:stretch>
            <a:fillRect/>
          </a:stretch>
        </p:blipFill>
        <p:spPr>
          <a:xfrm>
            <a:off x="952500" y="1943100"/>
            <a:ext cx="8382000" cy="3810000"/>
          </a:xfrm>
          <a:prstGeom prst="rect">
            <a:avLst/>
          </a:prstGeom>
        </p:spPr>
      </p:pic>
      <p:pic>
        <p:nvPicPr>
          <p:cNvPr id="6" name="Tab" descr="image.jpg"/>
          <p:cNvPicPr>
            <a:picLocks noChangeAspect="1"/>
          </p:cNvPicPr>
          <p:nvPr/>
        </p:nvPicPr>
        <p:blipFill>
          <a:blip r:embed="rId6"/>
          <a:stretch>
            <a:fillRect/>
          </a:stretch>
        </p:blipFill>
        <p:spPr>
          <a:xfrm>
            <a:off x="952500" y="5143500"/>
            <a:ext cx="6096000" cy="609600"/>
          </a:xfrm>
          <a:prstGeom prst="rect">
            <a:avLst/>
          </a:prstGeom>
        </p:spPr>
      </p:pic>
      <p:pic>
        <p:nvPicPr>
          <p:cNvPr id="7" name="Bar" descr="image.jpg"/>
          <p:cNvPicPr>
            <a:picLocks noChangeAspect="1"/>
          </p:cNvPicPr>
          <p:nvPr/>
        </p:nvPicPr>
        <p:blipFill>
          <a:blip r:embed="rId7"/>
          <a:stretch>
            <a:fillRect/>
          </a:stretch>
        </p:blipFill>
        <p:spPr>
          <a:xfrm>
            <a:off x="952500" y="6515100"/>
            <a:ext cx="95250" cy="2390775"/>
          </a:xfrm>
          <a:prstGeom prst="rect">
            <a:avLst/>
          </a:prstGeom>
        </p:spPr>
      </p:pic>
      <p:pic>
        <p:nvPicPr>
          <p:cNvPr id="8" name="Arrow" descr="image.png"/>
          <p:cNvPicPr>
            <a:picLocks noChangeAspect="1"/>
          </p:cNvPicPr>
          <p:nvPr/>
        </p:nvPicPr>
        <p:blipFill>
          <a:blip r:embed="rId8"/>
          <a:stretch>
            <a:fillRect/>
          </a:stretch>
        </p:blipFill>
        <p:spPr>
          <a:xfrm>
            <a:off x="3714750" y="11525250"/>
            <a:ext cx="457200" cy="457200"/>
          </a:xfrm>
          <a:prstGeom prst="rect">
            <a:avLst/>
          </a:prstGeom>
        </p:spPr>
      </p:pic>
      <p:sp>
        <p:nvSpPr>
          <p:cNvPr id="9" name="Tab text"/>
          <p:cNvSpPr txBox="1"/>
          <p:nvPr/>
        </p:nvSpPr>
        <p:spPr>
          <a:xfrm>
            <a:off x="1016000" y="4622800"/>
            <a:ext cx="5164667" cy="474133"/>
          </a:xfrm>
          <a:prstGeom prst="rect">
            <a:avLst/>
          </a:prstGeom>
          <a:noFill/>
        </p:spPr>
        <p:txBody>
          <a:bodyPr wrap="square" lIns="0" rIns="0" tIns="0" bIns="0">
            <a:spAutoFit/>
          </a:bodyPr>
          <a:lstStyle/>
          <a:p>
            <a:pPr algn="l">
              <a:lnSpc>
                <a:spcPct val="100000"/>
              </a:lnSpc>
            </a:pPr>
            <a:r>
              <a:rPr sz="3070" i="0" b="0">
                <a:solidFill>
                  <a:srgbClr val="F4F1EA"/>
                </a:solidFill>
                <a:latin typeface="Pathway Gothic One"/>
              </a:rPr>
              <a:t>ENVIRONMENTAL RESEARCH: FOOD SYSTEMS</a:t>
            </a:r>
          </a:p>
        </p:txBody>
      </p:sp>
      <p:sp>
        <p:nvSpPr>
          <p:cNvPr id="10" name="Credit"/>
          <p:cNvSpPr txBox="1"/>
          <p:nvPr/>
        </p:nvSpPr>
        <p:spPr>
          <a:xfrm>
            <a:off x="846667" y="5198533"/>
            <a:ext cx="7450667" cy="423333"/>
          </a:xfrm>
          <a:prstGeom prst="rect">
            <a:avLst/>
          </a:prstGeom>
          <a:noFill/>
        </p:spPr>
        <p:txBody>
          <a:bodyPr wrap="square" lIns="0" rIns="0" tIns="0" bIns="0">
            <a:spAutoFit/>
          </a:bodyPr>
          <a:lstStyle/>
          <a:p>
            <a:pPr algn="r">
              <a:lnSpc>
                <a:spcPct val="100000"/>
              </a:lnSpc>
            </a:pPr>
            <a:r>
              <a:rPr sz="2800" i="0" b="0">
                <a:solidFill>
                  <a:srgbClr val="6E5452"/>
                </a:solidFill>
                <a:latin typeface="Source Sans 3"/>
              </a:rPr>
              <a:t>Figure 2, Lundgren et al. 2026, CC BY 4.0</a:t>
            </a:r>
          </a:p>
        </p:txBody>
      </p:sp>
      <p:sp>
        <p:nvSpPr>
          <p:cNvPr id="11" name="Headline"/>
          <p:cNvSpPr txBox="1"/>
          <p:nvPr/>
        </p:nvSpPr>
        <p:spPr>
          <a:xfrm>
            <a:off x="1134533" y="5723467"/>
            <a:ext cx="7027333" cy="2455333"/>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Regenerative farms stored 39% more soil carbon</a:t>
            </a:r>
          </a:p>
        </p:txBody>
      </p:sp>
      <p:sp>
        <p:nvSpPr>
          <p:cNvPr id="12" name="Details"/>
          <p:cNvSpPr txBox="1"/>
          <p:nvPr/>
        </p:nvSpPr>
        <p:spPr>
          <a:xfrm>
            <a:off x="1134533" y="8170333"/>
            <a:ext cx="7027333" cy="1185333"/>
          </a:xfrm>
          <a:prstGeom prst="rect">
            <a:avLst/>
          </a:prstGeom>
          <a:noFill/>
        </p:spPr>
        <p:txBody>
          <a:bodyPr wrap="square" lIns="0" rIns="0" tIns="0" bIns="0">
            <a:spAutoFit/>
          </a:bodyPr>
          <a:lstStyle/>
          <a:p>
            <a:pPr algn="l">
              <a:lnSpc>
                <a:spcPct val="120000"/>
              </a:lnSpc>
            </a:pPr>
            <a:r>
              <a:rPr sz="3470" i="0" b="0">
                <a:solidFill>
                  <a:srgbClr val="333130"/>
                </a:solidFill>
                <a:latin typeface="Source Sans 3"/>
              </a:rPr>
              <a:t>A study of working farms across North America.</a:t>
            </a:r>
          </a:p>
        </p:txBody>
      </p:sp>
      <p:sp>
        <p:nvSpPr>
          <p:cNvPr id="13" name="Read More"/>
          <p:cNvSpPr txBox="1"/>
          <p:nvPr/>
        </p:nvSpPr>
        <p:spPr>
          <a:xfrm>
            <a:off x="643467" y="10193867"/>
            <a:ext cx="2540000" cy="541867"/>
          </a:xfrm>
          <a:prstGeom prst="rect">
            <a:avLst/>
          </a:prstGeom>
          <a:noFill/>
        </p:spPr>
        <p:txBody>
          <a:bodyPr wrap="square" lIns="0" rIns="0" tIns="0" bIns="0">
            <a:spAutoFit/>
          </a:bodyPr>
          <a:lstStyle/>
          <a:p>
            <a:pPr algn="l">
              <a:lnSpc>
                <a:spcPct val="100000"/>
              </a:lnSpc>
            </a:pPr>
            <a:r>
              <a:rPr sz="3470" i="0" b="1">
                <a:solidFill>
                  <a:srgbClr val="F4F1EA"/>
                </a:solidFill>
                <a:latin typeface="Montserrat"/>
              </a:rPr>
              <a:t>Read More</a:t>
            </a:r>
          </a:p>
        </p:txBody>
      </p:sp>
      <p:sp>
        <p:nvSpPr>
          <p:cNvPr id="14" name="Source"/>
          <p:cNvSpPr txBox="1"/>
          <p:nvPr/>
        </p:nvSpPr>
        <p:spPr>
          <a:xfrm>
            <a:off x="3826933" y="10160000"/>
            <a:ext cx="4707467" cy="931333"/>
          </a:xfrm>
          <a:prstGeom prst="rect">
            <a:avLst/>
          </a:prstGeom>
          <a:noFill/>
        </p:spPr>
        <p:txBody>
          <a:bodyPr wrap="square" lIns="0" rIns="0" tIns="0" bIns="0">
            <a:spAutoFit/>
          </a:bodyPr>
          <a:lstStyle/>
          <a:p>
            <a:pPr algn="r">
              <a:lnSpc>
                <a:spcPct val="115000"/>
              </a:lnSpc>
            </a:pPr>
            <a:r>
              <a:rPr sz="2800" i="0" b="0">
                <a:solidFill>
                  <a:srgbClr val="F4F1EA"/>
                </a:solidFill>
                <a:latin typeface="Source Sans 3"/>
              </a:rPr>
              <a:t>Source:
doi.org/10.1088/2976-601X/ae8f4e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3276600"/>
            <a:ext cx="8915400" cy="6296025"/>
          </a:xfrm>
          <a:prstGeom prst="rect">
            <a:avLst/>
          </a:prstGeom>
        </p:spPr>
      </p:pic>
      <p:pic>
        <p:nvPicPr>
          <p:cNvPr id="5" name="Bar" descr="image.jpg"/>
          <p:cNvPicPr>
            <a:picLocks noChangeAspect="1"/>
          </p:cNvPicPr>
          <p:nvPr/>
        </p:nvPicPr>
        <p:blipFill>
          <a:blip r:embed="rId5"/>
          <a:stretch>
            <a:fillRect/>
          </a:stretch>
        </p:blipFill>
        <p:spPr>
          <a:xfrm>
            <a:off x="1181100" y="4133850"/>
            <a:ext cx="95250" cy="704850"/>
          </a:xfrm>
          <a:prstGeom prst="rect">
            <a:avLst/>
          </a:prstGeom>
        </p:spPr>
      </p:pic>
      <p:sp>
        <p:nvSpPr>
          <p:cNvPr id="6" name="Headline"/>
          <p:cNvSpPr txBox="1"/>
          <p:nvPr/>
        </p:nvSpPr>
        <p:spPr>
          <a:xfrm>
            <a:off x="1405467" y="3589867"/>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1,000 Farms</a:t>
            </a:r>
          </a:p>
        </p:txBody>
      </p:sp>
      <p:sp>
        <p:nvSpPr>
          <p:cNvPr id="7" name="Details"/>
          <p:cNvSpPr txBox="1"/>
          <p:nvPr/>
        </p:nvSpPr>
        <p:spPr>
          <a:xfrm>
            <a:off x="1405467" y="4605867"/>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The 1000 Farms Initiative measured working farms across North America, from the most conventional to the most regenerative. Led by Ecdysis Foundation.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4371975"/>
            <a:ext cx="8915400" cy="4105275"/>
          </a:xfrm>
          <a:prstGeom prst="rect">
            <a:avLst/>
          </a:prstGeom>
        </p:spPr>
      </p:pic>
      <p:pic>
        <p:nvPicPr>
          <p:cNvPr id="5" name="Bar" descr="image.jpg"/>
          <p:cNvPicPr>
            <a:picLocks noChangeAspect="1"/>
          </p:cNvPicPr>
          <p:nvPr/>
        </p:nvPicPr>
        <p:blipFill>
          <a:blip r:embed="rId5"/>
          <a:stretch>
            <a:fillRect/>
          </a:stretch>
        </p:blipFill>
        <p:spPr>
          <a:xfrm>
            <a:off x="1181100" y="5229225"/>
            <a:ext cx="95250" cy="1543050"/>
          </a:xfrm>
          <a:prstGeom prst="rect">
            <a:avLst/>
          </a:prstGeom>
        </p:spPr>
      </p:pic>
      <p:sp>
        <p:nvSpPr>
          <p:cNvPr id="6" name="Headline"/>
          <p:cNvSpPr txBox="1"/>
          <p:nvPr/>
        </p:nvSpPr>
        <p:spPr>
          <a:xfrm>
            <a:off x="1405467" y="4563533"/>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39% more soil carbon</a:t>
            </a:r>
          </a:p>
        </p:txBody>
      </p:sp>
      <p:sp>
        <p:nvSpPr>
          <p:cNvPr id="7" name="Details"/>
          <p:cNvSpPr txBox="1"/>
          <p:nvPr/>
        </p:nvSpPr>
        <p:spPr>
          <a:xfrm>
            <a:off x="1405467" y="6324600"/>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on the most regenerative farms.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4486275"/>
            <a:ext cx="8915400" cy="3876675"/>
          </a:xfrm>
          <a:prstGeom prst="rect">
            <a:avLst/>
          </a:prstGeom>
        </p:spPr>
      </p:pic>
      <p:pic>
        <p:nvPicPr>
          <p:cNvPr id="5" name="Bar" descr="image.jpg"/>
          <p:cNvPicPr>
            <a:picLocks noChangeAspect="1"/>
          </p:cNvPicPr>
          <p:nvPr/>
        </p:nvPicPr>
        <p:blipFill>
          <a:blip r:embed="rId5"/>
          <a:stretch>
            <a:fillRect/>
          </a:stretch>
        </p:blipFill>
        <p:spPr>
          <a:xfrm>
            <a:off x="1181100" y="5343525"/>
            <a:ext cx="95250" cy="704850"/>
          </a:xfrm>
          <a:prstGeom prst="rect">
            <a:avLst/>
          </a:prstGeom>
        </p:spPr>
      </p:pic>
      <p:sp>
        <p:nvSpPr>
          <p:cNvPr id="6" name="Headline"/>
          <p:cNvSpPr txBox="1"/>
          <p:nvPr/>
        </p:nvSpPr>
        <p:spPr>
          <a:xfrm>
            <a:off x="1405467" y="4665133"/>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+181% total fungi</a:t>
            </a:r>
          </a:p>
        </p:txBody>
      </p:sp>
      <p:sp>
        <p:nvSpPr>
          <p:cNvPr id="7" name="Details"/>
          <p:cNvSpPr txBox="1"/>
          <p:nvPr/>
        </p:nvSpPr>
        <p:spPr>
          <a:xfrm>
            <a:off x="1405467" y="5681133"/>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in the most regenerative soils (figure 3 of the paper).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3771900"/>
            <a:ext cx="8915400" cy="5314950"/>
          </a:xfrm>
          <a:prstGeom prst="rect">
            <a:avLst/>
          </a:prstGeom>
        </p:spPr>
      </p:pic>
      <p:pic>
        <p:nvPicPr>
          <p:cNvPr id="5" name="Bar" descr="image.jpg"/>
          <p:cNvPicPr>
            <a:picLocks noChangeAspect="1"/>
          </p:cNvPicPr>
          <p:nvPr/>
        </p:nvPicPr>
        <p:blipFill>
          <a:blip r:embed="rId5"/>
          <a:stretch>
            <a:fillRect/>
          </a:stretch>
        </p:blipFill>
        <p:spPr>
          <a:xfrm>
            <a:off x="1181100" y="4629150"/>
            <a:ext cx="95250" cy="1543050"/>
          </a:xfrm>
          <a:prstGeom prst="rect">
            <a:avLst/>
          </a:prstGeom>
        </p:spPr>
      </p:pic>
      <p:sp>
        <p:nvSpPr>
          <p:cNvPr id="6" name="Headline"/>
          <p:cNvSpPr txBox="1"/>
          <p:nvPr/>
        </p:nvSpPr>
        <p:spPr>
          <a:xfrm>
            <a:off x="1405467" y="4030133"/>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More life everywhere</a:t>
            </a:r>
          </a:p>
        </p:txBody>
      </p:sp>
      <p:sp>
        <p:nvSpPr>
          <p:cNvPr id="7" name="Details"/>
          <p:cNvSpPr txBox="1"/>
          <p:nvPr/>
        </p:nvSpPr>
        <p:spPr>
          <a:xfrm>
            <a:off x="1405467" y="5791200"/>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Soil microbes, insects, plants and birds. The more biodiversity, the more carbon stored.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4486275"/>
            <a:ext cx="8915400" cy="3876675"/>
          </a:xfrm>
          <a:prstGeom prst="rect">
            <a:avLst/>
          </a:prstGeom>
        </p:spPr>
      </p:pic>
      <p:pic>
        <p:nvPicPr>
          <p:cNvPr id="5" name="Bar" descr="image.jpg"/>
          <p:cNvPicPr>
            <a:picLocks noChangeAspect="1"/>
          </p:cNvPicPr>
          <p:nvPr/>
        </p:nvPicPr>
        <p:blipFill>
          <a:blip r:embed="rId5"/>
          <a:stretch>
            <a:fillRect/>
          </a:stretch>
        </p:blipFill>
        <p:spPr>
          <a:xfrm>
            <a:off x="1181100" y="5343525"/>
            <a:ext cx="95250" cy="704850"/>
          </a:xfrm>
          <a:prstGeom prst="rect">
            <a:avLst/>
          </a:prstGeom>
        </p:spPr>
      </p:pic>
      <p:sp>
        <p:nvSpPr>
          <p:cNvPr id="6" name="Headline"/>
          <p:cNvSpPr txBox="1"/>
          <p:nvPr/>
        </p:nvSpPr>
        <p:spPr>
          <a:xfrm>
            <a:off x="1405467" y="4665133"/>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Same yields</a:t>
            </a:r>
          </a:p>
        </p:txBody>
      </p:sp>
      <p:sp>
        <p:nvSpPr>
          <p:cNvPr id="7" name="Details"/>
          <p:cNvSpPr txBox="1"/>
          <p:nvPr/>
        </p:nvSpPr>
        <p:spPr>
          <a:xfrm>
            <a:off x="1405467" y="5681133"/>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Yields matched national averages, and net profit per acre was similar.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3771900"/>
            <a:ext cx="8915400" cy="5314950"/>
          </a:xfrm>
          <a:prstGeom prst="rect">
            <a:avLst/>
          </a:prstGeom>
        </p:spPr>
      </p:pic>
      <p:pic>
        <p:nvPicPr>
          <p:cNvPr id="5" name="Bar" descr="image.jpg"/>
          <p:cNvPicPr>
            <a:picLocks noChangeAspect="1"/>
          </p:cNvPicPr>
          <p:nvPr/>
        </p:nvPicPr>
        <p:blipFill>
          <a:blip r:embed="rId5"/>
          <a:stretch>
            <a:fillRect/>
          </a:stretch>
        </p:blipFill>
        <p:spPr>
          <a:xfrm>
            <a:off x="1181100" y="4629150"/>
            <a:ext cx="95250" cy="1543050"/>
          </a:xfrm>
          <a:prstGeom prst="rect">
            <a:avLst/>
          </a:prstGeom>
        </p:spPr>
      </p:pic>
      <p:sp>
        <p:nvSpPr>
          <p:cNvPr id="6" name="Headline"/>
          <p:cNvSpPr txBox="1"/>
          <p:nvPr/>
        </p:nvSpPr>
        <p:spPr>
          <a:xfrm>
            <a:off x="1405467" y="4030133"/>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The whole system counts</a:t>
            </a:r>
          </a:p>
        </p:txBody>
      </p:sp>
      <p:sp>
        <p:nvSpPr>
          <p:cNvPr id="7" name="Details"/>
          <p:cNvSpPr txBox="1"/>
          <p:nvPr/>
        </p:nvSpPr>
        <p:spPr>
          <a:xfrm>
            <a:off x="1405467" y="5791200"/>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Farms using one regenerative practice alone looked like conventional farms.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jpg"/>
          <p:cNvPicPr>
            <a:picLocks noChangeAspect="1"/>
          </p:cNvPicPr>
          <p:nvPr/>
        </p:nvPicPr>
        <p:blipFill>
          <a:blip r:embed="rId2"/>
          <a:stretch>
            <a:fillRect/>
          </a:stretch>
        </p:blipFill>
        <p:spPr>
          <a:xfrm>
            <a:off x="0" y="0"/>
            <a:ext cx="10287000" cy="12858750"/>
          </a:xfrm>
          <a:prstGeom prst="rect">
            <a:avLst/>
          </a:prstGeom>
        </p:spPr>
      </p:pic>
      <p:pic>
        <p:nvPicPr>
          <p:cNvPr id="3" name="Logo" descr="image.png"/>
          <p:cNvPicPr>
            <a:picLocks noChangeAspect="1"/>
          </p:cNvPicPr>
          <p:nvPr/>
        </p:nvPicPr>
        <p:blipFill>
          <a:blip r:embed="rId3"/>
          <a:stretch>
            <a:fillRect/>
          </a:stretch>
        </p:blipFill>
        <p:spPr>
          <a:xfrm>
            <a:off x="381000" y="342900"/>
            <a:ext cx="1047750" cy="1047750"/>
          </a:xfrm>
          <a:prstGeom prst="rect">
            <a:avLst/>
          </a:prstGeom>
        </p:spPr>
      </p:pic>
      <p:pic>
        <p:nvPicPr>
          <p:cNvPr id="4" name="Card" descr="image.jpg"/>
          <p:cNvPicPr>
            <a:picLocks noChangeAspect="1"/>
          </p:cNvPicPr>
          <p:nvPr/>
        </p:nvPicPr>
        <p:blipFill>
          <a:blip r:embed="rId4"/>
          <a:stretch>
            <a:fillRect/>
          </a:stretch>
        </p:blipFill>
        <p:spPr>
          <a:xfrm>
            <a:off x="685800" y="4191000"/>
            <a:ext cx="8915400" cy="4476750"/>
          </a:xfrm>
          <a:prstGeom prst="rect">
            <a:avLst/>
          </a:prstGeom>
        </p:spPr>
      </p:pic>
      <p:pic>
        <p:nvPicPr>
          <p:cNvPr id="5" name="Bar" descr="image.jpg"/>
          <p:cNvPicPr>
            <a:picLocks noChangeAspect="1"/>
          </p:cNvPicPr>
          <p:nvPr/>
        </p:nvPicPr>
        <p:blipFill>
          <a:blip r:embed="rId5"/>
          <a:stretch>
            <a:fillRect/>
          </a:stretch>
        </p:blipFill>
        <p:spPr>
          <a:xfrm>
            <a:off x="1181100" y="5048250"/>
            <a:ext cx="95250" cy="704850"/>
          </a:xfrm>
          <a:prstGeom prst="rect">
            <a:avLst/>
          </a:prstGeom>
        </p:spPr>
      </p:pic>
      <p:sp>
        <p:nvSpPr>
          <p:cNvPr id="6" name="Headline"/>
          <p:cNvSpPr txBox="1"/>
          <p:nvPr/>
        </p:nvSpPr>
        <p:spPr>
          <a:xfrm>
            <a:off x="1405467" y="4402667"/>
            <a:ext cx="6688667" cy="3894667"/>
          </a:xfrm>
          <a:prstGeom prst="rect">
            <a:avLst/>
          </a:prstGeom>
          <a:noFill/>
        </p:spPr>
        <p:txBody>
          <a:bodyPr wrap="square" lIns="0" rIns="0" tIns="0" bIns="0">
            <a:spAutoFit/>
          </a:bodyPr>
          <a:lstStyle/>
          <a:p>
            <a:pPr algn="l">
              <a:lnSpc>
                <a:spcPct val="105000"/>
              </a:lnSpc>
            </a:pPr>
            <a:r>
              <a:rPr sz="5600" i="0" b="1">
                <a:solidFill>
                  <a:srgbClr val="4F3433"/>
                </a:solidFill>
                <a:latin typeface="Montserrat"/>
              </a:rPr>
              <a:t>Read the paper</a:t>
            </a:r>
          </a:p>
        </p:txBody>
      </p:sp>
      <p:sp>
        <p:nvSpPr>
          <p:cNvPr id="7" name="Details"/>
          <p:cNvSpPr txBox="1"/>
          <p:nvPr/>
        </p:nvSpPr>
        <p:spPr>
          <a:xfrm>
            <a:off x="1405467" y="5418667"/>
            <a:ext cx="6688667" cy="3556000"/>
          </a:xfrm>
          <a:prstGeom prst="rect">
            <a:avLst/>
          </a:prstGeom>
          <a:noFill/>
        </p:spPr>
        <p:txBody>
          <a:bodyPr wrap="square" lIns="0" rIns="0" tIns="0" bIns="0">
            <a:spAutoFit/>
          </a:bodyPr>
          <a:lstStyle/>
          <a:p>
            <a:pPr algn="l">
              <a:lnSpc>
                <a:spcPct val="122000"/>
              </a:lnSpc>
            </a:pPr>
            <a:r>
              <a:rPr sz="3470" i="0" b="0">
                <a:solidFill>
                  <a:srgbClr val="333130"/>
                </a:solidFill>
                <a:latin typeface="Source Sans 3"/>
              </a:rPr>
              <a:t>Lundgren et al., Environmental Research: Food Systems, 2026. Link in bio.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Fri 20 Nov 2026 · Instagram</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Valluvan's coconut farm, 0.86% to 2.33% organic matter</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6 slides follow · images · Wormhole post ss-01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ss-01-v2-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ss-01-v2-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ss-01-v2-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image" descr="ss-01-v2-4.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image" descr="ss-01-v2-5.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image" descr="ss-01-v2-6.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Sun 22 Nov 2026 · Instagram</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5 numbers that show what soil life does</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6 slides follow · images · Wormhole post ss-02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ss-02-v2-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ss-02-v2-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ss-02-v2-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image" descr="ss-02-v2-4.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image" descr="ss-02-v2-5.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image" descr="ss-02-v2-6.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Tue 24 Nov 2026 ·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COP30, USD 1 trillion for energy, USD 9 billion for agriculture</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1 slide follow · images · Wormhole post ss-03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lide 1 image" descr="ss-03-v2-1.jpg"/>
          <p:cNvPicPr>
            <a:picLocks noChangeAspect="1"/>
          </p:cNvPicPr>
          <p:nvPr/>
        </p:nvPicPr>
        <p:blipFill>
          <a:blip r:embed="rId2"/>
          <a:stretch>
            <a:fillRect/>
          </a:stretch>
        </p:blipFill>
        <p:spPr>
          <a:xfrm>
            <a:off x="0" y="3743325"/>
            <a:ext cx="10287000" cy="53721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Tue 24 Nov 2026 · Instagram</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healthy soil and healthy humans</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5 slides follow · images · Wormhole post ss-06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ss-06-v2-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ss-06-v2-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ss-06-v2-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image" descr="ss-06-v2-4.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image" descr="ss-06-v2-5.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Fri 27 Nov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Fun Soil News: November 2026</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6 slides follow · editable · Wormhole post pl20261127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1" descr="image.jpg"/>
          <p:cNvPicPr>
            <a:picLocks noChangeAspect="1"/>
          </p:cNvPicPr>
          <p:nvPr/>
        </p:nvPicPr>
        <p:blipFill>
          <a:blip r:embed="rId2"/>
          <a:stretch>
            <a:fillRect/>
          </a:stretch>
        </p:blipFill>
        <p:spPr>
          <a:xfrm>
            <a:off x="0" y="0"/>
            <a:ext cx="10287000" cy="12858750"/>
          </a:xfrm>
          <a:prstGeom prst="rect">
            <a:avLst/>
          </a:prstGeom>
        </p:spPr>
      </p:pic>
      <p:pic>
        <p:nvPicPr>
          <p:cNvPr id="3" name="tamil-nadu-marigold" descr="image.png"/>
          <p:cNvPicPr>
            <a:picLocks noChangeAspect="1"/>
          </p:cNvPicPr>
          <p:nvPr/>
        </p:nvPicPr>
        <p:blipFill>
          <a:blip r:embed="rId3"/>
          <a:stretch>
            <a:fillRect/>
          </a:stretch>
        </p:blipFill>
        <p:spPr>
          <a:xfrm>
            <a:off x="1143000" y="6667500"/>
            <a:ext cx="2333625" cy="4000500"/>
          </a:xfrm>
          <a:prstGeom prst="rect">
            <a:avLst/>
          </a:prstGeom>
        </p:spPr>
      </p:pic>
      <p:pic>
        <p:nvPicPr>
          <p:cNvPr id="4" name="norfolk-common-poppy" descr="image.png"/>
          <p:cNvPicPr>
            <a:picLocks noChangeAspect="1"/>
          </p:cNvPicPr>
          <p:nvPr/>
        </p:nvPicPr>
        <p:blipFill>
          <a:blip r:embed="rId4"/>
          <a:stretch>
            <a:fillRect/>
          </a:stretch>
        </p:blipFill>
        <p:spPr>
          <a:xfrm>
            <a:off x="4000500" y="5905500"/>
            <a:ext cx="2371725" cy="5143500"/>
          </a:xfrm>
          <a:prstGeom prst="rect">
            <a:avLst/>
          </a:prstGeom>
        </p:spPr>
      </p:pic>
      <p:pic>
        <p:nvPicPr>
          <p:cNvPr id="5" name="santa-fe-globemallow" descr="image.png"/>
          <p:cNvPicPr>
            <a:picLocks noChangeAspect="1"/>
          </p:cNvPicPr>
          <p:nvPr/>
        </p:nvPicPr>
        <p:blipFill>
          <a:blip r:embed="rId5"/>
          <a:stretch>
            <a:fillRect/>
          </a:stretch>
        </p:blipFill>
        <p:spPr>
          <a:xfrm>
            <a:off x="6667500" y="6858000"/>
            <a:ext cx="2667000" cy="4000500"/>
          </a:xfrm>
          <a:prstGeom prst="rect">
            <a:avLst/>
          </a:prstGeom>
        </p:spPr>
      </p:pic>
      <p:pic>
        <p:nvPicPr>
          <p:cNvPr id="6" name="logo" descr="image.png"/>
          <p:cNvPicPr>
            <a:picLocks noChangeAspect="1"/>
          </p:cNvPicPr>
          <p:nvPr/>
        </p:nvPicPr>
        <p:blipFill>
          <a:blip r:embed="rId6"/>
          <a:stretch>
            <a:fillRect/>
          </a:stretch>
        </p:blipFill>
        <p:spPr>
          <a:xfrm>
            <a:off x="8324850" y="11144250"/>
            <a:ext cx="1428750" cy="1238250"/>
          </a:xfrm>
          <a:prstGeom prst="rect">
            <a:avLst/>
          </a:prstGeom>
        </p:spPr>
      </p:pic>
      <p:sp>
        <p:nvSpPr>
          <p:cNvPr id="7" name="heading"/>
          <p:cNvSpPr txBox="1"/>
          <p:nvPr/>
        </p:nvSpPr>
        <p:spPr>
          <a:xfrm>
            <a:off x="762000" y="1270000"/>
            <a:ext cx="7620000" cy="3556000"/>
          </a:xfrm>
          <a:prstGeom prst="rect">
            <a:avLst/>
          </a:prstGeom>
          <a:noFill/>
        </p:spPr>
        <p:txBody>
          <a:bodyPr wrap="square" lIns="0" rIns="0" tIns="0" bIns="0">
            <a:spAutoFit/>
          </a:bodyPr>
          <a:lstStyle/>
          <a:p>
            <a:pPr algn="l">
              <a:lnSpc>
                <a:spcPct val="112000"/>
              </a:lnSpc>
            </a:pPr>
            <a:r>
              <a:rPr sz="6670" i="0" b="1">
                <a:solidFill>
                  <a:srgbClr val="4F3433"/>
                </a:solidFill>
                <a:latin typeface="Fredoka"/>
              </a:rPr>
              <a:t>Fun Soil News: November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2"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costa-rica-hibiscus" descr="image.png"/>
          <p:cNvPicPr>
            <a:picLocks noChangeAspect="1"/>
          </p:cNvPicPr>
          <p:nvPr/>
        </p:nvPicPr>
        <p:blipFill>
          <a:blip r:embed="rId4"/>
          <a:stretch>
            <a:fillRect/>
          </a:stretch>
        </p:blipFill>
        <p:spPr>
          <a:xfrm>
            <a:off x="6667500" y="7810500"/>
            <a:ext cx="2486025"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NOVEMBER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1. Country in big type, one sentence, source.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3"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tamil-nadu-jasmine" descr="image.png"/>
          <p:cNvPicPr>
            <a:picLocks noChangeAspect="1"/>
          </p:cNvPicPr>
          <p:nvPr/>
        </p:nvPicPr>
        <p:blipFill>
          <a:blip r:embed="rId4"/>
          <a:stretch>
            <a:fillRect/>
          </a:stretch>
        </p:blipFill>
        <p:spPr>
          <a:xfrm>
            <a:off x="6667500" y="7810500"/>
            <a:ext cx="3619500"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NOVEMBER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2. Country in big type, one sentence, source.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4" descr="image.jpg"/>
          <p:cNvPicPr>
            <a:picLocks noChangeAspect="1"/>
          </p:cNvPicPr>
          <p:nvPr/>
        </p:nvPicPr>
        <p:blipFill>
          <a:blip r:embed="rId2"/>
          <a:stretch>
            <a:fillRect/>
          </a:stretch>
        </p:blipFill>
        <p:spPr>
          <a:xfrm>
            <a:off x="0" y="0"/>
            <a:ext cx="10287000" cy="12858750"/>
          </a:xfrm>
          <a:prstGeom prst="rect">
            <a:avLst/>
          </a:prstGeom>
        </p:spPr>
      </p:pic>
      <p:pic>
        <p:nvPicPr>
          <p:cNvPr id="3" name="tamil-nadu-jasmine" descr="image.png"/>
          <p:cNvPicPr>
            <a:picLocks noChangeAspect="1"/>
          </p:cNvPicPr>
          <p:nvPr/>
        </p:nvPicPr>
        <p:blipFill>
          <a:blip r:embed="rId3"/>
          <a:stretch>
            <a:fillRect/>
          </a:stretch>
        </p:blipFill>
        <p:spPr>
          <a:xfrm>
            <a:off x="0" y="7810500"/>
            <a:ext cx="180975" cy="2857500"/>
          </a:xfrm>
          <a:prstGeom prst="rect">
            <a:avLst/>
          </a:prstGeom>
        </p:spPr>
      </p:pic>
      <p:pic>
        <p:nvPicPr>
          <p:cNvPr id="4" name="top-bar" descr="image.jpg"/>
          <p:cNvPicPr>
            <a:picLocks noChangeAspect="1"/>
          </p:cNvPicPr>
          <p:nvPr/>
        </p:nvPicPr>
        <p:blipFill>
          <a:blip r:embed="rId4"/>
          <a:stretch>
            <a:fillRect/>
          </a:stretch>
        </p:blipFill>
        <p:spPr>
          <a:xfrm>
            <a:off x="0" y="0"/>
            <a:ext cx="10287000" cy="1047750"/>
          </a:xfrm>
          <a:prstGeom prst="rect">
            <a:avLst/>
          </a:prstGeom>
        </p:spPr>
      </p:pic>
      <p:pic>
        <p:nvPicPr>
          <p:cNvPr id="5" name="costa-rica-poro-flower" descr="image.png"/>
          <p:cNvPicPr>
            <a:picLocks noChangeAspect="1"/>
          </p:cNvPicPr>
          <p:nvPr/>
        </p:nvPicPr>
        <p:blipFill>
          <a:blip r:embed="rId5"/>
          <a:stretch>
            <a:fillRect/>
          </a:stretch>
        </p:blipFill>
        <p:spPr>
          <a:xfrm>
            <a:off x="6667500" y="7810500"/>
            <a:ext cx="3619500" cy="2857500"/>
          </a:xfrm>
          <a:prstGeom prst="rect">
            <a:avLst/>
          </a:prstGeom>
        </p:spPr>
      </p:pic>
      <p:pic>
        <p:nvPicPr>
          <p:cNvPr id="6" name="logo" descr="image.png"/>
          <p:cNvPicPr>
            <a:picLocks noChangeAspect="1"/>
          </p:cNvPicPr>
          <p:nvPr/>
        </p:nvPicPr>
        <p:blipFill>
          <a:blip r:embed="rId6"/>
          <a:stretch>
            <a:fillRect/>
          </a:stretch>
        </p:blipFill>
        <p:spPr>
          <a:xfrm>
            <a:off x="8324850" y="11144250"/>
            <a:ext cx="1428750" cy="1238250"/>
          </a:xfrm>
          <a:prstGeom prst="rect">
            <a:avLst/>
          </a:prstGeom>
        </p:spPr>
      </p:pic>
      <p:sp>
        <p:nvSpPr>
          <p:cNvPr id="7"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NOVEMBER 2026</a:t>
            </a:r>
          </a:p>
        </p:txBody>
      </p:sp>
      <p:sp>
        <p:nvSpPr>
          <p:cNvPr id="8"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3. Country in big type, one sentence, source.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5" descr="image.jpg"/>
          <p:cNvPicPr>
            <a:picLocks noChangeAspect="1"/>
          </p:cNvPicPr>
          <p:nvPr/>
        </p:nvPicPr>
        <p:blipFill>
          <a:blip r:embed="rId2"/>
          <a:stretch>
            <a:fillRect/>
          </a:stretch>
        </p:blipFill>
        <p:spPr>
          <a:xfrm>
            <a:off x="0" y="0"/>
            <a:ext cx="10287000" cy="12858750"/>
          </a:xfrm>
          <a:prstGeom prst="rect">
            <a:avLst/>
          </a:prstGeom>
        </p:spPr>
      </p:pic>
      <p:pic>
        <p:nvPicPr>
          <p:cNvPr id="3" name="costa-rica-poro-flower" descr="image.png"/>
          <p:cNvPicPr>
            <a:picLocks noChangeAspect="1"/>
          </p:cNvPicPr>
          <p:nvPr/>
        </p:nvPicPr>
        <p:blipFill>
          <a:blip r:embed="rId3"/>
          <a:stretch>
            <a:fillRect/>
          </a:stretch>
        </p:blipFill>
        <p:spPr>
          <a:xfrm>
            <a:off x="0" y="7810500"/>
            <a:ext cx="19050" cy="2857500"/>
          </a:xfrm>
          <a:prstGeom prst="rect">
            <a:avLst/>
          </a:prstGeom>
        </p:spPr>
      </p:pic>
      <p:pic>
        <p:nvPicPr>
          <p:cNvPr id="4" name="top-bar" descr="image.jpg"/>
          <p:cNvPicPr>
            <a:picLocks noChangeAspect="1"/>
          </p:cNvPicPr>
          <p:nvPr/>
        </p:nvPicPr>
        <p:blipFill>
          <a:blip r:embed="rId4"/>
          <a:stretch>
            <a:fillRect/>
          </a:stretch>
        </p:blipFill>
        <p:spPr>
          <a:xfrm>
            <a:off x="0" y="0"/>
            <a:ext cx="10287000" cy="1047750"/>
          </a:xfrm>
          <a:prstGeom prst="rect">
            <a:avLst/>
          </a:prstGeom>
        </p:spPr>
      </p:pic>
      <p:pic>
        <p:nvPicPr>
          <p:cNvPr id="5" name="tamil-nadu-marigold" descr="image.png"/>
          <p:cNvPicPr>
            <a:picLocks noChangeAspect="1"/>
          </p:cNvPicPr>
          <p:nvPr/>
        </p:nvPicPr>
        <p:blipFill>
          <a:blip r:embed="rId5"/>
          <a:stretch>
            <a:fillRect/>
          </a:stretch>
        </p:blipFill>
        <p:spPr>
          <a:xfrm>
            <a:off x="6667500" y="7810500"/>
            <a:ext cx="1666875" cy="2857500"/>
          </a:xfrm>
          <a:prstGeom prst="rect">
            <a:avLst/>
          </a:prstGeom>
        </p:spPr>
      </p:pic>
      <p:pic>
        <p:nvPicPr>
          <p:cNvPr id="6" name="logo" descr="image.png"/>
          <p:cNvPicPr>
            <a:picLocks noChangeAspect="1"/>
          </p:cNvPicPr>
          <p:nvPr/>
        </p:nvPicPr>
        <p:blipFill>
          <a:blip r:embed="rId6"/>
          <a:stretch>
            <a:fillRect/>
          </a:stretch>
        </p:blipFill>
        <p:spPr>
          <a:xfrm>
            <a:off x="8324850" y="11144250"/>
            <a:ext cx="1428750" cy="1238250"/>
          </a:xfrm>
          <a:prstGeom prst="rect">
            <a:avLst/>
          </a:prstGeom>
        </p:spPr>
      </p:pic>
      <p:sp>
        <p:nvSpPr>
          <p:cNvPr id="7"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NOVEMBER 2026</a:t>
            </a:r>
          </a:p>
        </p:txBody>
      </p:sp>
      <p:sp>
        <p:nvSpPr>
          <p:cNvPr id="8"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4. Country in big type, one sentence, source.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6"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santa-fe-chamisa" descr="image.png"/>
          <p:cNvPicPr>
            <a:picLocks noChangeAspect="1"/>
          </p:cNvPicPr>
          <p:nvPr/>
        </p:nvPicPr>
        <p:blipFill>
          <a:blip r:embed="rId4"/>
          <a:stretch>
            <a:fillRect/>
          </a:stretch>
        </p:blipFill>
        <p:spPr>
          <a:xfrm>
            <a:off x="6667500" y="7810500"/>
            <a:ext cx="2181225"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NOVEMBER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5. Country in big type, one sentence, source.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Fri 18 Dec 2026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Fun Soil News: December 2026</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6 slides follow · editable · Wormhole post pl20261218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1" descr="image.jpg"/>
          <p:cNvPicPr>
            <a:picLocks noChangeAspect="1"/>
          </p:cNvPicPr>
          <p:nvPr/>
        </p:nvPicPr>
        <p:blipFill>
          <a:blip r:embed="rId2"/>
          <a:stretch>
            <a:fillRect/>
          </a:stretch>
        </p:blipFill>
        <p:spPr>
          <a:xfrm>
            <a:off x="0" y="0"/>
            <a:ext cx="10287000" cy="12858750"/>
          </a:xfrm>
          <a:prstGeom prst="rect">
            <a:avLst/>
          </a:prstGeom>
        </p:spPr>
      </p:pic>
      <p:pic>
        <p:nvPicPr>
          <p:cNvPr id="3" name="costa-rica-heliconia" descr="image.png"/>
          <p:cNvPicPr>
            <a:picLocks noChangeAspect="1"/>
          </p:cNvPicPr>
          <p:nvPr/>
        </p:nvPicPr>
        <p:blipFill>
          <a:blip r:embed="rId3"/>
          <a:stretch>
            <a:fillRect/>
          </a:stretch>
        </p:blipFill>
        <p:spPr>
          <a:xfrm>
            <a:off x="857250" y="6096000"/>
            <a:ext cx="2152650" cy="5334000"/>
          </a:xfrm>
          <a:prstGeom prst="rect">
            <a:avLst/>
          </a:prstGeom>
        </p:spPr>
      </p:pic>
      <p:pic>
        <p:nvPicPr>
          <p:cNvPr id="4" name="costa-rica-hibiscus" descr="image.png"/>
          <p:cNvPicPr>
            <a:picLocks noChangeAspect="1"/>
          </p:cNvPicPr>
          <p:nvPr/>
        </p:nvPicPr>
        <p:blipFill>
          <a:blip r:embed="rId4"/>
          <a:stretch>
            <a:fillRect/>
          </a:stretch>
        </p:blipFill>
        <p:spPr>
          <a:xfrm>
            <a:off x="3619500" y="8191500"/>
            <a:ext cx="2486025" cy="2857500"/>
          </a:xfrm>
          <a:prstGeom prst="rect">
            <a:avLst/>
          </a:prstGeom>
        </p:spPr>
      </p:pic>
      <p:pic>
        <p:nvPicPr>
          <p:cNvPr id="5" name="costa-rica-torch-ginger" descr="image.png"/>
          <p:cNvPicPr>
            <a:picLocks noChangeAspect="1"/>
          </p:cNvPicPr>
          <p:nvPr/>
        </p:nvPicPr>
        <p:blipFill>
          <a:blip r:embed="rId5"/>
          <a:stretch>
            <a:fillRect/>
          </a:stretch>
        </p:blipFill>
        <p:spPr>
          <a:xfrm>
            <a:off x="5905500" y="5715000"/>
            <a:ext cx="3086100" cy="5334000"/>
          </a:xfrm>
          <a:prstGeom prst="rect">
            <a:avLst/>
          </a:prstGeom>
        </p:spPr>
      </p:pic>
      <p:pic>
        <p:nvPicPr>
          <p:cNvPr id="6" name="logo" descr="image.png"/>
          <p:cNvPicPr>
            <a:picLocks noChangeAspect="1"/>
          </p:cNvPicPr>
          <p:nvPr/>
        </p:nvPicPr>
        <p:blipFill>
          <a:blip r:embed="rId6"/>
          <a:stretch>
            <a:fillRect/>
          </a:stretch>
        </p:blipFill>
        <p:spPr>
          <a:xfrm>
            <a:off x="8324850" y="11144250"/>
            <a:ext cx="1428750" cy="1238250"/>
          </a:xfrm>
          <a:prstGeom prst="rect">
            <a:avLst/>
          </a:prstGeom>
        </p:spPr>
      </p:pic>
      <p:sp>
        <p:nvSpPr>
          <p:cNvPr id="7" name="heading"/>
          <p:cNvSpPr txBox="1"/>
          <p:nvPr/>
        </p:nvSpPr>
        <p:spPr>
          <a:xfrm>
            <a:off x="762000" y="1270000"/>
            <a:ext cx="7620000" cy="3556000"/>
          </a:xfrm>
          <a:prstGeom prst="rect">
            <a:avLst/>
          </a:prstGeom>
          <a:noFill/>
        </p:spPr>
        <p:txBody>
          <a:bodyPr wrap="square" lIns="0" rIns="0" tIns="0" bIns="0">
            <a:spAutoFit/>
          </a:bodyPr>
          <a:lstStyle/>
          <a:p>
            <a:pPr algn="l">
              <a:lnSpc>
                <a:spcPct val="112000"/>
              </a:lnSpc>
            </a:pPr>
            <a:r>
              <a:rPr sz="6670" i="0" b="1">
                <a:solidFill>
                  <a:srgbClr val="4F3433"/>
                </a:solidFill>
                <a:latin typeface="Fredoka"/>
              </a:rPr>
              <a:t>Fun Soil News: December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2"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tamil-nadu-marigold" descr="image.png"/>
          <p:cNvPicPr>
            <a:picLocks noChangeAspect="1"/>
          </p:cNvPicPr>
          <p:nvPr/>
        </p:nvPicPr>
        <p:blipFill>
          <a:blip r:embed="rId4"/>
          <a:stretch>
            <a:fillRect/>
          </a:stretch>
        </p:blipFill>
        <p:spPr>
          <a:xfrm>
            <a:off x="6667500" y="7810500"/>
            <a:ext cx="1666875"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DECEMBER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1. Country in big type, one sentence, source.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3"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costa-rica-hibiscus" descr="image.png"/>
          <p:cNvPicPr>
            <a:picLocks noChangeAspect="1"/>
          </p:cNvPicPr>
          <p:nvPr/>
        </p:nvPicPr>
        <p:blipFill>
          <a:blip r:embed="rId4"/>
          <a:stretch>
            <a:fillRect/>
          </a:stretch>
        </p:blipFill>
        <p:spPr>
          <a:xfrm>
            <a:off x="6667500" y="7810500"/>
            <a:ext cx="2486025"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DECEMBER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2. Country in big type, one sentence, source.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4"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costa-rica-poro-flower" descr="image.png"/>
          <p:cNvPicPr>
            <a:picLocks noChangeAspect="1"/>
          </p:cNvPicPr>
          <p:nvPr/>
        </p:nvPicPr>
        <p:blipFill>
          <a:blip r:embed="rId4"/>
          <a:stretch>
            <a:fillRect/>
          </a:stretch>
        </p:blipFill>
        <p:spPr>
          <a:xfrm>
            <a:off x="6667500" y="7810500"/>
            <a:ext cx="3619500"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DECEMBER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3. Country in big type, one sentence, source.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5" descr="image.jpg"/>
          <p:cNvPicPr>
            <a:picLocks noChangeAspect="1"/>
          </p:cNvPicPr>
          <p:nvPr/>
        </p:nvPicPr>
        <p:blipFill>
          <a:blip r:embed="rId2"/>
          <a:stretch>
            <a:fillRect/>
          </a:stretch>
        </p:blipFill>
        <p:spPr>
          <a:xfrm>
            <a:off x="0" y="0"/>
            <a:ext cx="10287000" cy="12858750"/>
          </a:xfrm>
          <a:prstGeom prst="rect">
            <a:avLst/>
          </a:prstGeom>
        </p:spPr>
      </p:pic>
      <p:pic>
        <p:nvPicPr>
          <p:cNvPr id="3" name="costa-rica-poro-flower" descr="image.png"/>
          <p:cNvPicPr>
            <a:picLocks noChangeAspect="1"/>
          </p:cNvPicPr>
          <p:nvPr/>
        </p:nvPicPr>
        <p:blipFill>
          <a:blip r:embed="rId3"/>
          <a:stretch>
            <a:fillRect/>
          </a:stretch>
        </p:blipFill>
        <p:spPr>
          <a:xfrm>
            <a:off x="0" y="7810500"/>
            <a:ext cx="19050" cy="2857500"/>
          </a:xfrm>
          <a:prstGeom prst="rect">
            <a:avLst/>
          </a:prstGeom>
        </p:spPr>
      </p:pic>
      <p:pic>
        <p:nvPicPr>
          <p:cNvPr id="4" name="top-bar" descr="image.jpg"/>
          <p:cNvPicPr>
            <a:picLocks noChangeAspect="1"/>
          </p:cNvPicPr>
          <p:nvPr/>
        </p:nvPicPr>
        <p:blipFill>
          <a:blip r:embed="rId4"/>
          <a:stretch>
            <a:fillRect/>
          </a:stretch>
        </p:blipFill>
        <p:spPr>
          <a:xfrm>
            <a:off x="0" y="0"/>
            <a:ext cx="10287000" cy="1047750"/>
          </a:xfrm>
          <a:prstGeom prst="rect">
            <a:avLst/>
          </a:prstGeom>
        </p:spPr>
      </p:pic>
      <p:pic>
        <p:nvPicPr>
          <p:cNvPr id="5" name="tamil-nadu-pink-lotus" descr="image.png"/>
          <p:cNvPicPr>
            <a:picLocks noChangeAspect="1"/>
          </p:cNvPicPr>
          <p:nvPr/>
        </p:nvPicPr>
        <p:blipFill>
          <a:blip r:embed="rId5"/>
          <a:stretch>
            <a:fillRect/>
          </a:stretch>
        </p:blipFill>
        <p:spPr>
          <a:xfrm>
            <a:off x="6667500" y="7810500"/>
            <a:ext cx="2562225" cy="2857500"/>
          </a:xfrm>
          <a:prstGeom prst="rect">
            <a:avLst/>
          </a:prstGeom>
        </p:spPr>
      </p:pic>
      <p:pic>
        <p:nvPicPr>
          <p:cNvPr id="6" name="logo" descr="image.png"/>
          <p:cNvPicPr>
            <a:picLocks noChangeAspect="1"/>
          </p:cNvPicPr>
          <p:nvPr/>
        </p:nvPicPr>
        <p:blipFill>
          <a:blip r:embed="rId6"/>
          <a:stretch>
            <a:fillRect/>
          </a:stretch>
        </p:blipFill>
        <p:spPr>
          <a:xfrm>
            <a:off x="8324850" y="11144250"/>
            <a:ext cx="1428750" cy="1238250"/>
          </a:xfrm>
          <a:prstGeom prst="rect">
            <a:avLst/>
          </a:prstGeom>
        </p:spPr>
      </p:pic>
      <p:sp>
        <p:nvSpPr>
          <p:cNvPr id="7"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DECEMBER 2026</a:t>
            </a:r>
          </a:p>
        </p:txBody>
      </p:sp>
      <p:sp>
        <p:nvSpPr>
          <p:cNvPr id="8"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4. Country in big type, one sentence, source.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6" descr="image.jpg"/>
          <p:cNvPicPr>
            <a:picLocks noChangeAspect="1"/>
          </p:cNvPicPr>
          <p:nvPr/>
        </p:nvPicPr>
        <p:blipFill>
          <a:blip r:embed="rId2"/>
          <a:stretch>
            <a:fillRect/>
          </a:stretch>
        </p:blipFill>
        <p:spPr>
          <a:xfrm>
            <a:off x="0" y="0"/>
            <a:ext cx="10287000" cy="12858750"/>
          </a:xfrm>
          <a:prstGeom prst="rect">
            <a:avLst/>
          </a:prstGeom>
        </p:spPr>
      </p:pic>
      <p:pic>
        <p:nvPicPr>
          <p:cNvPr id="3" name="top-bar" descr="image.jpg"/>
          <p:cNvPicPr>
            <a:picLocks noChangeAspect="1"/>
          </p:cNvPicPr>
          <p:nvPr/>
        </p:nvPicPr>
        <p:blipFill>
          <a:blip r:embed="rId3"/>
          <a:stretch>
            <a:fillRect/>
          </a:stretch>
        </p:blipFill>
        <p:spPr>
          <a:xfrm>
            <a:off x="0" y="0"/>
            <a:ext cx="10287000" cy="1047750"/>
          </a:xfrm>
          <a:prstGeom prst="rect">
            <a:avLst/>
          </a:prstGeom>
        </p:spPr>
      </p:pic>
      <p:pic>
        <p:nvPicPr>
          <p:cNvPr id="4" name="santa-fe-globemallow" descr="image.png"/>
          <p:cNvPicPr>
            <a:picLocks noChangeAspect="1"/>
          </p:cNvPicPr>
          <p:nvPr/>
        </p:nvPicPr>
        <p:blipFill>
          <a:blip r:embed="rId4"/>
          <a:stretch>
            <a:fillRect/>
          </a:stretch>
        </p:blipFill>
        <p:spPr>
          <a:xfrm>
            <a:off x="6667500" y="7810500"/>
            <a:ext cx="1905000" cy="2857500"/>
          </a:xfrm>
          <a:prstGeom prst="rect">
            <a:avLst/>
          </a:prstGeom>
        </p:spPr>
      </p:pic>
      <p:pic>
        <p:nvPicPr>
          <p:cNvPr id="5" name="logo" descr="image.png"/>
          <p:cNvPicPr>
            <a:picLocks noChangeAspect="1"/>
          </p:cNvPicPr>
          <p:nvPr/>
        </p:nvPicPr>
        <p:blipFill>
          <a:blip r:embed="rId5"/>
          <a:stretch>
            <a:fillRect/>
          </a:stretch>
        </p:blipFill>
        <p:spPr>
          <a:xfrm>
            <a:off x="8324850" y="11144250"/>
            <a:ext cx="1428750" cy="1238250"/>
          </a:xfrm>
          <a:prstGeom prst="rect">
            <a:avLst/>
          </a:prstGeom>
        </p:spPr>
      </p:pic>
      <p:sp>
        <p:nvSpPr>
          <p:cNvPr id="6" name="eyebrow"/>
          <p:cNvSpPr txBox="1"/>
          <p:nvPr/>
        </p:nvSpPr>
        <p:spPr>
          <a:xfrm>
            <a:off x="778933" y="338667"/>
            <a:ext cx="7450667" cy="423333"/>
          </a:xfrm>
          <a:prstGeom prst="rect">
            <a:avLst/>
          </a:prstGeom>
          <a:noFill/>
        </p:spPr>
        <p:txBody>
          <a:bodyPr wrap="square" lIns="0" rIns="0" tIns="0" bIns="0">
            <a:spAutoFit/>
          </a:bodyPr>
          <a:lstStyle/>
          <a:p>
            <a:pPr algn="l">
              <a:lnSpc>
                <a:spcPct val="120000"/>
              </a:lnSpc>
            </a:pPr>
            <a:r>
              <a:rPr sz="1730" i="0" b="1">
                <a:solidFill>
                  <a:srgbClr val="F4F1EA"/>
                </a:solidFill>
                <a:latin typeface="Montserrat"/>
              </a:rPr>
              <a:t>FUN SOIL NEWS · DECEMBER 2026</a:t>
            </a:r>
          </a:p>
        </p:txBody>
      </p:sp>
      <p:sp>
        <p:nvSpPr>
          <p:cNvPr id="7" name="heading"/>
          <p:cNvSpPr txBox="1"/>
          <p:nvPr/>
        </p:nvSpPr>
        <p:spPr>
          <a:xfrm>
            <a:off x="762000" y="1693333"/>
            <a:ext cx="7620000" cy="3556000"/>
          </a:xfrm>
          <a:prstGeom prst="rect">
            <a:avLst/>
          </a:prstGeom>
          <a:noFill/>
        </p:spPr>
        <p:txBody>
          <a:bodyPr wrap="square" lIns="0" rIns="0" tIns="0" bIns="0">
            <a:spAutoFit/>
          </a:bodyPr>
          <a:lstStyle/>
          <a:p>
            <a:pPr algn="l">
              <a:lnSpc>
                <a:spcPct val="112000"/>
              </a:lnSpc>
            </a:pPr>
            <a:r>
              <a:rPr sz="5330" i="0" b="1">
                <a:solidFill>
                  <a:srgbClr val="4F3433"/>
                </a:solidFill>
                <a:latin typeface="Fredoka"/>
              </a:rPr>
              <a:t>Story 5. Country in big type, one sentence, source.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Sat 9 Jan 2027 ·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(LinkedIn): 10 billion microorganisms in a gram of soil</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1 slide follow · images · Wormhole post j20270109b</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lide 1 image" descr="j20270109b-v2-1.jpg"/>
          <p:cNvPicPr>
            <a:picLocks noChangeAspect="1"/>
          </p:cNvPicPr>
          <p:nvPr/>
        </p:nvPicPr>
        <p:blipFill>
          <a:blip r:embed="rId2"/>
          <a:stretch>
            <a:fillRect/>
          </a:stretch>
        </p:blipFill>
        <p:spPr>
          <a:xfrm>
            <a:off x="0" y="3743325"/>
            <a:ext cx="10287000" cy="53721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Sat 23 Jan 2027 ·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Save Soil shoutout (LinkedIn): fertility trees, 33 million planted in West Africa</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1 slide follow · images · Wormhole post j20270123a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lide 1 image" descr="j20270123a-v2-1.jpg"/>
          <p:cNvPicPr>
            <a:picLocks noChangeAspect="1"/>
          </p:cNvPicPr>
          <p:nvPr/>
        </p:nvPicPr>
        <p:blipFill>
          <a:blip r:embed="rId2"/>
          <a:stretch>
            <a:fillRect/>
          </a:stretch>
        </p:blipFill>
        <p:spPr>
          <a:xfrm>
            <a:off x="0" y="3743325"/>
            <a:ext cx="10287000" cy="53721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15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ate"/>
          <p:cNvSpPr txBox="1"/>
          <p:nvPr/>
        </p:nvSpPr>
        <p:spPr>
          <a:xfrm>
            <a:off x="857250" y="4000500"/>
            <a:ext cx="8572500" cy="1143000"/>
          </a:xfrm>
          <a:prstGeom prst="rect">
            <a:avLst/>
          </a:prstGeom>
          <a:noFill/>
        </p:spPr>
        <p:txBody>
          <a:bodyPr wrap="square" lIns="0" rIns="0" tIns="0" bIns="0">
            <a:spAutoFit/>
          </a:bodyPr>
          <a:lstStyle/>
          <a:p>
            <a:r>
              <a:rPr sz="3900" b="0">
                <a:solidFill>
                  <a:srgbClr val="F4F1EA"/>
                </a:solidFill>
                <a:latin typeface="Source Sans 3"/>
              </a:rPr>
              <a:t>Date TBD · Instagram, Facebook, LinkedIn</a:t>
            </a:r>
          </a:p>
        </p:txBody>
      </p:sp>
      <p:sp>
        <p:nvSpPr>
          <p:cNvPr id="4" name="Topic"/>
          <p:cNvSpPr txBox="1"/>
          <p:nvPr/>
        </p:nvSpPr>
        <p:spPr>
          <a:xfrm>
            <a:off x="857250" y="5334000"/>
            <a:ext cx="8572500" cy="4000500"/>
          </a:xfrm>
          <a:prstGeom prst="rect">
            <a:avLst/>
          </a:prstGeom>
          <a:noFill/>
        </p:spPr>
        <p:txBody>
          <a:bodyPr wrap="square" lIns="0" rIns="0" tIns="0" bIns="0">
            <a:spAutoFit/>
          </a:bodyPr>
          <a:lstStyle/>
          <a:p>
            <a:r>
              <a:rPr sz="5400" b="1">
                <a:solidFill>
                  <a:srgbClr val="F4F1EA"/>
                </a:solidFill>
                <a:latin typeface="Montserrat"/>
              </a:rPr>
              <a:t>Soil news: a mustard plant shares nutrients with an ancient soil fungus</a:t>
            </a:r>
          </a:p>
        </p:txBody>
      </p:sp>
      <p:sp>
        <p:nvSpPr>
          <p:cNvPr id="5" name="Slides"/>
          <p:cNvSpPr txBox="1"/>
          <p:nvPr/>
        </p:nvSpPr>
        <p:spPr>
          <a:xfrm>
            <a:off x="857250" y="10001250"/>
            <a:ext cx="8572500" cy="1524000"/>
          </a:xfrm>
          <a:prstGeom prst="rect">
            <a:avLst/>
          </a:prstGeom>
          <a:noFill/>
        </p:spPr>
        <p:txBody>
          <a:bodyPr wrap="square" lIns="0" rIns="0" tIns="0" bIns="0">
            <a:spAutoFit/>
          </a:bodyPr>
          <a:lstStyle/>
          <a:p>
            <a:r>
              <a:rPr sz="3150" b="0">
                <a:solidFill>
                  <a:srgbClr val="F4F1EA"/>
                </a:solidFill>
                <a:latin typeface="Source Sans 3"/>
              </a:rPr>
              <a:t>3 slides follow · images · Wormhole post n20261023a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image" descr="n20261023a-1.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image" descr="n20261023a-2.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image" descr="n20261023a-3.jp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
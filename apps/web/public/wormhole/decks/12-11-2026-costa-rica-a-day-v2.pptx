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8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12-11-2026-costa-rica-a-day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762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048500"/>
            <a:ext cx="10287000" cy="581025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620000"/>
            <a:ext cx="7772400" cy="190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6200" b="1">
                <a:solidFill>
                  <a:srgbClr val="F4F1EA"/>
                </a:solidFill>
                <a:latin typeface="Montserrat"/>
              </a:rPr>
              <a:t>A day at the Costa Rica workshop.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754362"/>
            <a:ext cx="7772400" cy="948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1">
                <a:solidFill>
                  <a:srgbClr val="DDE5D4"/>
                </a:solidFill>
                <a:latin typeface="Montserrat"/>
              </a:rPr>
              <a:t>Accelerator Workshop, Costa Rica · 18 to 29 January 2027</a:t>
            </a:r>
          </a:p>
        </p:txBody>
      </p:sp>
      <p:pic>
        <p:nvPicPr>
          <p:cNvPr id="6" name="Picture 5" descr="poro-flow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5715000"/>
            <a:ext cx="3267075" cy="2667000"/>
          </a:xfrm>
          <a:prstGeom prst="rect">
            <a:avLst/>
          </a:prstGeom>
        </p:spPr>
      </p:pic>
      <p:pic>
        <p:nvPicPr>
          <p:cNvPr id="7" name="Picture 6" descr="logo-di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950" y="10934700"/>
            <a:ext cx="12382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12-11-2026-costa-rica-a-day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8191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6667500"/>
            <a:ext cx="8915400" cy="409575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2050" y="7143750"/>
            <a:ext cx="6724650" cy="1535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5250" b="1">
                <a:solidFill>
                  <a:srgbClr val="F4F1EA"/>
                </a:solidFill>
                <a:latin typeface="Montserrat"/>
              </a:rPr>
              <a:t>Morning: build the pile.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2050" y="8907780"/>
            <a:ext cx="6724650" cy="948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0">
                <a:solidFill>
                  <a:srgbClr val="DDE5D4"/>
                </a:solidFill>
                <a:latin typeface="Montserrat"/>
              </a:rPr>
              <a:t>Feedstocks, water, and a team to turn it with.</a:t>
            </a:r>
          </a:p>
        </p:txBody>
      </p:sp>
      <p:pic>
        <p:nvPicPr>
          <p:cNvPr id="6" name="Picture 5" descr="torch-ging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0" y="3810000"/>
            <a:ext cx="2381250" cy="3810000"/>
          </a:xfrm>
          <a:prstGeom prst="rect">
            <a:avLst/>
          </a:prstGeom>
        </p:spPr>
      </p:pic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8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905000"/>
            <a:ext cx="8915400" cy="19880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5300" b="1">
                <a:solidFill>
                  <a:srgbClr val="4F3433"/>
                </a:solidFill>
                <a:latin typeface="Montserrat"/>
              </a:rPr>
              <a:t>Midday: lunch together.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121658"/>
            <a:ext cx="8915400" cy="575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700" b="0">
                <a:solidFill>
                  <a:srgbClr val="4F3433"/>
                </a:solidFill>
                <a:latin typeface="Montserrat"/>
              </a:rPr>
              <a:t>Lunch is on site, Monday to Friday.</a:t>
            </a:r>
          </a:p>
        </p:txBody>
      </p:sp>
      <p:pic>
        <p:nvPicPr>
          <p:cNvPr id="4" name="Picture 3" descr="heliconia-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6096000"/>
            <a:ext cx="2847975" cy="6105525"/>
          </a:xfrm>
          <a:prstGeom prst="rect">
            <a:avLst/>
          </a:prstGeom>
        </p:spPr>
      </p:pic>
      <p:pic>
        <p:nvPicPr>
          <p:cNvPr id="5" name="Picture 4" descr="hibiscus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8572500"/>
            <a:ext cx="2543175" cy="2857500"/>
          </a:xfrm>
          <a:prstGeom prst="rect">
            <a:avLst/>
          </a:prstGeom>
        </p:spPr>
      </p:pic>
      <p:pic>
        <p:nvPicPr>
          <p:cNvPr id="6" name="Picture 5" descr="torch-ginger-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6477000"/>
            <a:ext cx="3571875" cy="5715000"/>
          </a:xfrm>
          <a:prstGeom prst="rect">
            <a:avLst/>
          </a:prstGeom>
        </p:spPr>
      </p:pic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5D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12-11-2026-costa-rica-a-day4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8191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6667500"/>
            <a:ext cx="8915400" cy="409575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2050" y="7143750"/>
            <a:ext cx="6724650" cy="1535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5250" b="1">
                <a:solidFill>
                  <a:srgbClr val="F4F1EA"/>
                </a:solidFill>
                <a:latin typeface="Montserrat"/>
              </a:rPr>
              <a:t>Afternoon: the microscope.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2050" y="8907780"/>
            <a:ext cx="6724650" cy="521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0">
                <a:solidFill>
                  <a:srgbClr val="DDE5D4"/>
                </a:solidFill>
                <a:latin typeface="Montserrat"/>
              </a:rPr>
              <a:t>You check what you made in the morning.</a:t>
            </a:r>
          </a:p>
        </p:txBody>
      </p:sp>
      <p:pic>
        <p:nvPicPr>
          <p:cNvPr id="6" name="Picture 5" descr="poro-flow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0" y="5810250"/>
            <a:ext cx="2333625" cy="1905000"/>
          </a:xfrm>
          <a:prstGeom prst="rect">
            <a:avLst/>
          </a:prstGeom>
        </p:spPr>
      </p:pic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5D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047750"/>
            <a:ext cx="4572000" cy="4305300"/>
          </a:xfrm>
          <a:prstGeom prst="rect">
            <a:avLst/>
          </a:prstGeom>
        </p:spPr>
      </p:pic>
      <p:pic>
        <p:nvPicPr>
          <p:cNvPr id="3" name="Picture 2" descr="heliconia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1500" y="571500"/>
            <a:ext cx="2314575" cy="4962525"/>
          </a:xfrm>
          <a:prstGeom prst="rect">
            <a:avLst/>
          </a:prstGeom>
        </p:spPr>
      </p:pic>
      <p:pic>
        <p:nvPicPr>
          <p:cNvPr id="4" name="Picture 3" descr="poro-flower-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857250"/>
            <a:ext cx="2800350" cy="2286000"/>
          </a:xfrm>
          <a:prstGeom prst="rect">
            <a:avLst/>
          </a:prstGeom>
        </p:spPr>
      </p:pic>
      <p:pic>
        <p:nvPicPr>
          <p:cNvPr id="5" name="Picture 4" descr="hibiscus-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0" y="4476750"/>
            <a:ext cx="2200275" cy="2476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7620000"/>
            <a:ext cx="8915400" cy="9593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8560"/>
              </a:lnSpc>
            </a:pPr>
            <a:r>
              <a:rPr sz="5300" b="1">
                <a:solidFill>
                  <a:srgbClr val="22371F"/>
                </a:solidFill>
                <a:latin typeface="Montserrat"/>
              </a:rPr>
              <a:t>18 to 29 January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750808"/>
            <a:ext cx="8915400" cy="948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800"/>
              </a:lnSpc>
            </a:pPr>
            <a:r>
              <a:rPr sz="2400" b="1">
                <a:solidFill>
                  <a:srgbClr val="156826"/>
                </a:solidFill>
                <a:latin typeface="Montserrat"/>
              </a:rPr>
              <a:t>Accelerator Workshop at Armonía Agricultura Orgánica, near San José, Costa 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870948"/>
            <a:ext cx="8915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800"/>
              </a:lnSpc>
            </a:pPr>
            <a:r>
              <a:rPr sz="2550" b="1">
                <a:solidFill>
                  <a:srgbClr val="4F3433"/>
                </a:solidFill>
                <a:latin typeface="Montserrat"/>
              </a:rPr>
              <a:t>Register, link in bio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
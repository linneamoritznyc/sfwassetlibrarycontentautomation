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pi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67" y="4233333"/>
            <a:ext cx="5418667" cy="5418667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6733" y="5113867"/>
            <a:ext cx="948267" cy="8636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067" y="9431867"/>
            <a:ext cx="1574800" cy="1574800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F4F1EA"/>
                </a:solidFill>
                <a:latin typeface="Fredoka"/>
              </a:rPr>
              <a:t>33% of the world's soils are moderately to highly degraded.</a:t>
            </a:r>
          </a:p>
        </p:txBody>
      </p:sp>
      <p:sp>
        <p:nvSpPr>
          <p:cNvPr id="7" name="label one in three"/>
          <p:cNvSpPr txBox="1"/>
          <p:nvPr/>
        </p:nvSpPr>
        <p:spPr>
          <a:xfrm>
            <a:off x="6688667" y="4741333"/>
            <a:ext cx="1862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70" i="0" b="1">
                <a:solidFill>
                  <a:srgbClr val="F4F1EA"/>
                </a:solidFill>
                <a:latin typeface="Montserrat"/>
              </a:rPr>
              <a:t>one in three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78933" y="9906000"/>
            <a:ext cx="5418667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E3DDCC"/>
                </a:solidFill>
                <a:latin typeface="Montserrat"/>
              </a:rPr>
              <a:t>Source: FAO and ITPS (2015), Status of the World's Soil Resources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causes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572000"/>
            <a:ext cx="7620000" cy="4402667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067" y="9431867"/>
            <a:ext cx="1574800" cy="1574800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930" i="0" b="1">
                <a:solidFill>
                  <a:srgbClr val="F4F1EA"/>
                </a:solidFill>
                <a:latin typeface="Fredoka"/>
              </a:rPr>
              <a:t>The causes: erosion, loss of organic carbon, salinization, compaction, acidification and pollution.</a:t>
            </a:r>
          </a:p>
        </p:txBody>
      </p:sp>
      <p:sp>
        <p:nvSpPr>
          <p:cNvPr id="6" name="label erosion"/>
          <p:cNvSpPr txBox="1"/>
          <p:nvPr/>
        </p:nvSpPr>
        <p:spPr>
          <a:xfrm>
            <a:off x="508000" y="6265333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870" i="0" b="1">
                <a:solidFill>
                  <a:srgbClr val="F4F1EA"/>
                </a:solidFill>
                <a:latin typeface="Montserrat"/>
              </a:rPr>
              <a:t>erosion</a:t>
            </a:r>
          </a:p>
        </p:txBody>
      </p:sp>
      <p:sp>
        <p:nvSpPr>
          <p:cNvPr id="7" name="label carbon loss"/>
          <p:cNvSpPr txBox="1"/>
          <p:nvPr/>
        </p:nvSpPr>
        <p:spPr>
          <a:xfrm>
            <a:off x="3048000" y="6265333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870" i="0" b="1">
                <a:solidFill>
                  <a:srgbClr val="F4F1EA"/>
                </a:solidFill>
                <a:latin typeface="Montserrat"/>
              </a:rPr>
              <a:t>carbon loss</a:t>
            </a:r>
          </a:p>
        </p:txBody>
      </p:sp>
      <p:sp>
        <p:nvSpPr>
          <p:cNvPr id="8" name="label salinization"/>
          <p:cNvSpPr txBox="1"/>
          <p:nvPr/>
        </p:nvSpPr>
        <p:spPr>
          <a:xfrm>
            <a:off x="5588000" y="6265333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870" i="0" b="1">
                <a:solidFill>
                  <a:srgbClr val="F4F1EA"/>
                </a:solidFill>
                <a:latin typeface="Montserrat"/>
              </a:rPr>
              <a:t>salinization</a:t>
            </a:r>
          </a:p>
        </p:txBody>
      </p:sp>
      <p:sp>
        <p:nvSpPr>
          <p:cNvPr id="9" name="label compaction"/>
          <p:cNvSpPr txBox="1"/>
          <p:nvPr/>
        </p:nvSpPr>
        <p:spPr>
          <a:xfrm>
            <a:off x="508000" y="8551333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870" i="0" b="1">
                <a:solidFill>
                  <a:srgbClr val="F4F1EA"/>
                </a:solidFill>
                <a:latin typeface="Montserrat"/>
              </a:rPr>
              <a:t>compaction</a:t>
            </a:r>
          </a:p>
        </p:txBody>
      </p:sp>
      <p:sp>
        <p:nvSpPr>
          <p:cNvPr id="10" name="label acidification"/>
          <p:cNvSpPr txBox="1"/>
          <p:nvPr/>
        </p:nvSpPr>
        <p:spPr>
          <a:xfrm>
            <a:off x="3048000" y="8551333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870" i="0" b="1">
                <a:solidFill>
                  <a:srgbClr val="F4F1EA"/>
                </a:solidFill>
                <a:latin typeface="Montserrat"/>
              </a:rPr>
              <a:t>acidification</a:t>
            </a:r>
          </a:p>
        </p:txBody>
      </p:sp>
      <p:sp>
        <p:nvSpPr>
          <p:cNvPr id="11" name="label pollution"/>
          <p:cNvSpPr txBox="1"/>
          <p:nvPr/>
        </p:nvSpPr>
        <p:spPr>
          <a:xfrm>
            <a:off x="5588000" y="8551333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870" i="0" b="1">
                <a:solidFill>
                  <a:srgbClr val="F4F1EA"/>
                </a:solidFill>
                <a:latin typeface="Montserrat"/>
              </a:rPr>
              <a:t>pollution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soil-profi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4572000"/>
            <a:ext cx="4741333" cy="5080000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533" y="4978400"/>
            <a:ext cx="694267" cy="237067"/>
          </a:xfrm>
          <a:prstGeom prst="rect">
            <a:avLst/>
          </a:prstGeom>
        </p:spPr>
      </p:pic>
      <p:pic>
        <p:nvPicPr>
          <p:cNvPr id="5" name="arr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2533" y="8068733"/>
            <a:ext cx="685800" cy="364067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067" y="9431867"/>
            <a:ext cx="1574800" cy="1574800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F4F1EA"/>
                </a:solidFill>
                <a:latin typeface="Fredoka"/>
              </a:rPr>
              <a:t>Forming a few centimeters of new soil can take centuries.</a:t>
            </a:r>
          </a:p>
        </p:txBody>
      </p:sp>
      <p:sp>
        <p:nvSpPr>
          <p:cNvPr id="8" name="label a few centimeters of top"/>
          <p:cNvSpPr txBox="1"/>
          <p:nvPr/>
        </p:nvSpPr>
        <p:spPr>
          <a:xfrm>
            <a:off x="5926667" y="4402667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a few centimeters of topsoil</a:t>
            </a:r>
          </a:p>
        </p:txBody>
      </p:sp>
      <p:sp>
        <p:nvSpPr>
          <p:cNvPr id="9" name="label rock that weathers slowl"/>
          <p:cNvSpPr txBox="1"/>
          <p:nvPr/>
        </p:nvSpPr>
        <p:spPr>
          <a:xfrm>
            <a:off x="5926667" y="7789333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rock that weathers slowly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4428067"/>
            <a:ext cx="4690533" cy="4690533"/>
          </a:xfrm>
          <a:prstGeom prst="rect">
            <a:avLst/>
          </a:prstGeom>
        </p:spPr>
      </p:pic>
      <p:pic>
        <p:nvPicPr>
          <p:cNvPr id="4" name="compost-white-fungal-thread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667" y="5926667"/>
            <a:ext cx="2540000" cy="2556933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067" y="9431867"/>
            <a:ext cx="1574800" cy="1574800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F4F1EA"/>
                </a:solidFill>
                <a:latin typeface="Fredoka"/>
              </a:rPr>
              <a:t>Restoring soil biology is one of the fastest ways to rebuild it.</a:t>
            </a:r>
          </a:p>
        </p:txBody>
      </p:sp>
      <p:sp>
        <p:nvSpPr>
          <p:cNvPr id="7" name="label a fungal hypha at 100x, "/>
          <p:cNvSpPr txBox="1"/>
          <p:nvPr/>
        </p:nvSpPr>
        <p:spPr>
          <a:xfrm>
            <a:off x="762000" y="9398000"/>
            <a:ext cx="4741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70" i="0" b="1">
                <a:solidFill>
                  <a:srgbClr val="F4F1EA"/>
                </a:solidFill>
                <a:latin typeface="Montserrat"/>
              </a:rPr>
              <a:t>a fungal hypha at 100x, by Marco Trevisan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
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mountain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02667"/>
            <a:ext cx="7620000" cy="4910667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533" y="7569200"/>
            <a:ext cx="431800" cy="2006600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4F3433"/>
                </a:solidFill>
                <a:latin typeface="Fredoka"/>
              </a:rPr>
              <a:t>Mountain soils are thin, young and fragile.</a:t>
            </a:r>
          </a:p>
        </p:txBody>
      </p:sp>
      <p:sp>
        <p:nvSpPr>
          <p:cNvPr id="7" name="label a thin layer of soil ove"/>
          <p:cNvSpPr txBox="1"/>
          <p:nvPr/>
        </p:nvSpPr>
        <p:spPr>
          <a:xfrm>
            <a:off x="4741333" y="9567333"/>
            <a:ext cx="3217333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a thin layer of soil over rock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3801533"/>
            <a:ext cx="7789333" cy="5765800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6130" i="0" b="1">
                <a:solidFill>
                  <a:srgbClr val="4F3433"/>
                </a:solidFill>
                <a:latin typeface="Fredoka"/>
              </a:rPr>
              <a:t>Cold and steep slopes slow soil formation.</a:t>
            </a:r>
          </a:p>
        </p:txBody>
      </p:sp>
      <p:sp>
        <p:nvSpPr>
          <p:cNvPr id="6" name="label thin, rocky mountain soi"/>
          <p:cNvSpPr txBox="1"/>
          <p:nvPr/>
        </p:nvSpPr>
        <p:spPr>
          <a:xfrm>
            <a:off x="762000" y="9652000"/>
            <a:ext cx="5418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thin, rocky mountain soil, Montana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USDA NRCS Montana, Public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drawn-storm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402667"/>
            <a:ext cx="7620000" cy="5080000"/>
          </a:xfrm>
          <a:prstGeom prst="rect">
            <a:avLst/>
          </a:prstGeom>
        </p:spPr>
      </p:pic>
      <p:pic>
        <p:nvPicPr>
          <p:cNvPr id="4" name="arrow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0267" y="5706533"/>
            <a:ext cx="541867" cy="1278467"/>
          </a:xfrm>
          <a:prstGeom prst="rect">
            <a:avLst/>
          </a:prstGeom>
        </p:spPr>
      </p:pic>
      <p:pic>
        <p:nvPicPr>
          <p:cNvPr id="5" name="logo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6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470" i="0" b="1">
                <a:solidFill>
                  <a:srgbClr val="4F3433"/>
                </a:solidFill>
                <a:latin typeface="Fredoka"/>
              </a:rPr>
              <a:t>Without roots and cover, one heavy storm can wash away centuries of soil.</a:t>
            </a:r>
          </a:p>
        </p:txBody>
      </p:sp>
      <p:sp>
        <p:nvSpPr>
          <p:cNvPr id="7" name="label soil washing downhill"/>
          <p:cNvSpPr txBox="1"/>
          <p:nvPr/>
        </p:nvSpPr>
        <p:spPr>
          <a:xfrm>
            <a:off x="4233333" y="5080000"/>
            <a:ext cx="2540000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2070" i="0" b="1">
                <a:solidFill>
                  <a:srgbClr val="4F3433"/>
                </a:solidFill>
                <a:latin typeface="Montserrat"/>
              </a:rPr>
              <a:t>soil washing downhill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-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33" y="4445000"/>
            <a:ext cx="7789333" cy="4868333"/>
          </a:xfrm>
          <a:prstGeom prst="rect">
            <a:avLst/>
          </a:prstGeom>
        </p:spPr>
      </p:pic>
      <p:pic>
        <p:nvPicPr>
          <p:cNvPr id="4" name="logo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867" y="9906000"/>
            <a:ext cx="1270000" cy="1100667"/>
          </a:xfrm>
          <a:prstGeom prst="rect">
            <a:avLst/>
          </a:prstGeom>
        </p:spPr>
      </p:pic>
      <p:sp>
        <p:nvSpPr>
          <p:cNvPr id="5" name="heading"/>
          <p:cNvSpPr txBox="1"/>
          <p:nvPr/>
        </p:nvSpPr>
        <p:spPr>
          <a:xfrm>
            <a:off x="762000" y="931333"/>
            <a:ext cx="7620000" cy="355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730" i="0" b="1">
                <a:solidFill>
                  <a:srgbClr val="4F3433"/>
                </a:solidFill>
                <a:latin typeface="Fredoka"/>
              </a:rPr>
              <a:t>Terraces, cover and living roots hold mountain farms together.</a:t>
            </a:r>
          </a:p>
        </p:txBody>
      </p:sp>
      <p:sp>
        <p:nvSpPr>
          <p:cNvPr id="6" name="label Hapao rice terraces, Ifu"/>
          <p:cNvSpPr txBox="1"/>
          <p:nvPr/>
        </p:nvSpPr>
        <p:spPr>
          <a:xfrm>
            <a:off x="762000" y="9398000"/>
            <a:ext cx="5926667" cy="1354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870" i="0" b="1">
                <a:solidFill>
                  <a:srgbClr val="4F3433"/>
                </a:solidFill>
                <a:latin typeface="Montserrat"/>
              </a:rPr>
              <a:t>Hapao rice terraces, Ifugao, Philippines</a:t>
            </a:r>
          </a:p>
        </p:txBody>
      </p:sp>
      <p:sp>
        <p:nvSpPr>
          <p:cNvPr id="7" name="credit"/>
          <p:cNvSpPr txBox="1"/>
          <p:nvPr/>
        </p:nvSpPr>
        <p:spPr>
          <a:xfrm>
            <a:off x="778933" y="10583333"/>
            <a:ext cx="6096000" cy="6773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70" i="0" b="0">
                <a:solidFill>
                  <a:srgbClr val="5C4636"/>
                </a:solidFill>
                <a:latin typeface="Montserrat"/>
              </a:rPr>
              <a:t>Photo: Arian Zwegers, CC BY 2.0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
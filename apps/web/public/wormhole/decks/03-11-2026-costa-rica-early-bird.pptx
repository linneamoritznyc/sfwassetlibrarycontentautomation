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Photo: IMG_4534.HEIC</a:t>
            </a:r>
          </a:p>
          <a:p>
            <a:r>
              <a:t>Costa Rica Oct 2025, Armonía: laughing around the wire mesh bin with a thermometer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Photo: PXL_20251022_151710920.MP.jpg</a:t>
            </a:r>
          </a:p>
          <a:p>
            <a:r>
              <a:t>Costa Rica Oct 2025, Armonía: wide view of the shed, several teams building at once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Photo: PXL_20240716_224324982_HandsInSoil.jpg</a:t>
            </a:r>
          </a:p>
          <a:p>
            <a:r>
              <a:t>Costa Rica Jul 2024, Armonía: hands in woody compost (HandsInSoil)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Photo: PXL_20251020_222404850.jpg + Compost_Tea_Prep.jpg</a:t>
            </a:r>
          </a:p>
          <a:p>
            <a:r>
              <a:t>Costa Rica Oct 2025: frothy brew in the blue tub (top); Costa Rica Jul 2024: Compost Tea Prep bucket brewer (bottom)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Photo: PXL_20251023_191907277.jpg</a:t>
            </a:r>
          </a:p>
          <a:p>
            <a:r>
              <a:t>Costa Rica Oct 2025, Armonía: class watching live microscopy on screen (Drive ID 1YTuACdcqtVqv99HAArkRDlBUYdnCP8KZ), brightened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Photo: PXL_20251022_172210012.jpg</a:t>
            </a:r>
          </a:p>
          <a:p>
            <a:r>
              <a:t>Costa Rica Oct 2025, Armonía: the class under the big tree in the forest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hoto IMG_453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green band (continues into slide 2)"/>
          <p:cNvSpPr/>
          <p:nvPr/>
        </p:nvSpPr>
        <p:spPr>
          <a:xfrm>
            <a:off x="571500" y="7905750"/>
            <a:ext cx="9715500" cy="38100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line"/>
          <p:cNvSpPr txBox="1"/>
          <p:nvPr/>
        </p:nvSpPr>
        <p:spPr>
          <a:xfrm>
            <a:off x="1047750" y="8286750"/>
            <a:ext cx="88582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4F1EA"/>
                </a:solidFill>
                <a:latin typeface="Montserrat"/>
              </a:rPr>
              <a:t>Early Nematode Discount ends tomorrow</a:t>
            </a:r>
          </a:p>
        </p:txBody>
      </p:sp>
      <p:sp>
        <p:nvSpPr>
          <p:cNvPr id="5" name="small line"/>
          <p:cNvSpPr txBox="1"/>
          <p:nvPr/>
        </p:nvSpPr>
        <p:spPr>
          <a:xfrm>
            <a:off x="1066800" y="1095375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50" b="0">
                <a:solidFill>
                  <a:srgbClr val="F4F1EA"/>
                </a:solidFill>
                <a:latin typeface="Source Sans 3"/>
              </a:rPr>
              <a:t>Accelerator Workshop · Costa Rica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hoto PXL_20251022_151710920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0"/>
            <a:ext cx="6477000" cy="12858750"/>
          </a:xfrm>
          <a:prstGeom prst="rect">
            <a:avLst/>
          </a:prstGeom>
        </p:spPr>
      </p:pic>
      <p:sp>
        <p:nvSpPr>
          <p:cNvPr id="3" name="green band (continues into slide 2)"/>
          <p:cNvSpPr/>
          <p:nvPr/>
        </p:nvSpPr>
        <p:spPr>
          <a:xfrm>
            <a:off x="0" y="7905750"/>
            <a:ext cx="3810000" cy="38100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reen band slide 2"/>
          <p:cNvSpPr/>
          <p:nvPr/>
        </p:nvSpPr>
        <p:spPr>
          <a:xfrm>
            <a:off x="0" y="0"/>
            <a:ext cx="3810000" cy="1285875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dline"/>
          <p:cNvSpPr txBox="1"/>
          <p:nvPr/>
        </p:nvSpPr>
        <p:spPr>
          <a:xfrm>
            <a:off x="381000" y="2857500"/>
            <a:ext cx="3238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350" b="1">
                <a:solidFill>
                  <a:srgbClr val="F4F1EA"/>
                </a:solidFill>
                <a:latin typeface="Montserrat"/>
              </a:rPr>
              <a:t>Ten days of hands‑on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hoto HandsInSoil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7905750"/>
          </a:xfrm>
          <a:prstGeom prst="rect">
            <a:avLst/>
          </a:prstGeom>
        </p:spPr>
      </p:pic>
      <p:sp>
        <p:nvSpPr>
          <p:cNvPr id="3" name="soil brown box"/>
          <p:cNvSpPr/>
          <p:nvPr/>
        </p:nvSpPr>
        <p:spPr>
          <a:xfrm>
            <a:off x="0" y="7239000"/>
            <a:ext cx="10287000" cy="5619750"/>
          </a:xfrm>
          <a:prstGeom prst="rect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line"/>
          <p:cNvSpPr txBox="1"/>
          <p:nvPr/>
        </p:nvSpPr>
        <p:spPr>
          <a:xfrm>
            <a:off x="762000" y="8191500"/>
            <a:ext cx="85725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4F1EA"/>
                </a:solidFill>
                <a:latin typeface="Montserrat"/>
              </a:rPr>
              <a:t>Build BioComplete™ compost with your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hoto PXL_20251020_222404850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429375"/>
          </a:xfrm>
          <a:prstGeom prst="rect">
            <a:avLst/>
          </a:prstGeom>
        </p:spPr>
      </p:pic>
      <p:pic>
        <p:nvPicPr>
          <p:cNvPr id="3" name="photo Compost Tea Pre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29375"/>
            <a:ext cx="10287000" cy="6429375"/>
          </a:xfrm>
          <a:prstGeom prst="rect">
            <a:avLst/>
          </a:prstGeom>
        </p:spPr>
      </p:pic>
      <p:sp>
        <p:nvSpPr>
          <p:cNvPr id="4" name="cream box"/>
          <p:cNvSpPr/>
          <p:nvPr/>
        </p:nvSpPr>
        <p:spPr>
          <a:xfrm>
            <a:off x="1333500" y="5191125"/>
            <a:ext cx="8953500" cy="24765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dline"/>
          <p:cNvSpPr txBox="1"/>
          <p:nvPr/>
        </p:nvSpPr>
        <p:spPr>
          <a:xfrm>
            <a:off x="1905000" y="5191125"/>
            <a:ext cx="8001000" cy="2476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550" b="1">
                <a:solidFill>
                  <a:srgbClr val="4F3433"/>
                </a:solidFill>
                <a:latin typeface="Montserrat"/>
              </a:rPr>
              <a:t>Brew extracts and teas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hoto PXL_20251023_19190727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education blue box"/>
          <p:cNvSpPr/>
          <p:nvPr/>
        </p:nvSpPr>
        <p:spPr>
          <a:xfrm>
            <a:off x="0" y="0"/>
            <a:ext cx="7239000" cy="4476750"/>
          </a:xfrm>
          <a:prstGeom prst="rect">
            <a:avLst/>
          </a:prstGeom>
          <a:solidFill>
            <a:srgbClr val="378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line"/>
          <p:cNvSpPr txBox="1"/>
          <p:nvPr/>
        </p:nvSpPr>
        <p:spPr>
          <a:xfrm>
            <a:off x="666750" y="857250"/>
            <a:ext cx="6096000" cy="323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950" b="1">
                <a:solidFill>
                  <a:srgbClr val="F4F1EA"/>
                </a:solidFill>
                <a:latin typeface="Montserrat"/>
              </a:rPr>
              <a:t>Read the biology, with a mentor beside you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hoto PXL_20251022_1722100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green box"/>
          <p:cNvSpPr/>
          <p:nvPr/>
        </p:nvSpPr>
        <p:spPr>
          <a:xfrm>
            <a:off x="857250" y="7048500"/>
            <a:ext cx="8572500" cy="51435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1428750" y="7524750"/>
            <a:ext cx="762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350" b="1">
                <a:solidFill>
                  <a:srgbClr val="F4F1EA"/>
                </a:solidFill>
                <a:latin typeface="Montserrat"/>
              </a:rPr>
              <a:t>Accelerator Workshop</a:t>
            </a:r>
          </a:p>
        </p:txBody>
      </p:sp>
      <p:sp>
        <p:nvSpPr>
          <p:cNvPr id="5" name="place"/>
          <p:cNvSpPr txBox="1"/>
          <p:nvPr/>
        </p:nvSpPr>
        <p:spPr>
          <a:xfrm>
            <a:off x="1447800" y="8524875"/>
            <a:ext cx="723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0">
                <a:solidFill>
                  <a:srgbClr val="F4F1EA"/>
                </a:solidFill>
                <a:latin typeface="Source Sans 3"/>
              </a:rPr>
              <a:t>Heredia, Costa Rica</a:t>
            </a:r>
          </a:p>
        </p:txBody>
      </p:sp>
      <p:sp>
        <p:nvSpPr>
          <p:cNvPr id="6" name="dates"/>
          <p:cNvSpPr txBox="1"/>
          <p:nvPr/>
        </p:nvSpPr>
        <p:spPr>
          <a:xfrm>
            <a:off x="1447800" y="9096375"/>
            <a:ext cx="723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0">
                <a:solidFill>
                  <a:srgbClr val="F4F1EA"/>
                </a:solidFill>
                <a:latin typeface="Source Sans 3"/>
              </a:rPr>
              <a:t>January 18–29, 2027</a:t>
            </a:r>
          </a:p>
        </p:txBody>
      </p:sp>
      <p:sp>
        <p:nvSpPr>
          <p:cNvPr id="7" name="cta"/>
          <p:cNvSpPr txBox="1"/>
          <p:nvPr/>
        </p:nvSpPr>
        <p:spPr>
          <a:xfrm>
            <a:off x="1428750" y="10525125"/>
            <a:ext cx="5524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4F1EA"/>
                </a:solidFill>
                <a:latin typeface="Montserrat"/>
              </a:rPr>
              <a:t>Register, link in bio</a:t>
            </a:r>
          </a:p>
        </p:txBody>
      </p:sp>
      <p:pic>
        <p:nvPicPr>
          <p:cNvPr id="8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0" y="10287000"/>
            <a:ext cx="1619250" cy="1619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
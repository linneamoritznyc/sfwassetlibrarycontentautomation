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95500"/>
            <a:ext cx="8915400" cy="143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9750" b="0">
                <a:solidFill>
                  <a:srgbClr val="4F3433"/>
                </a:solidFill>
                <a:latin typeface="Fredoka"/>
              </a:rPr>
              <a:t>Fun Soil News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756660"/>
            <a:ext cx="8915400" cy="681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3300" b="1">
                <a:solidFill>
                  <a:srgbClr val="4F3433"/>
                </a:solidFill>
                <a:latin typeface="Montserrat"/>
              </a:rPr>
              <a:t>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667250"/>
            <a:ext cx="8915400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850" b="0">
                <a:solidFill>
                  <a:srgbClr val="4F3433"/>
                </a:solidFill>
                <a:latin typeface="Montserrat"/>
              </a:rPr>
              <a:t>Three good stories from the soil this month.</a:t>
            </a:r>
          </a:p>
        </p:txBody>
      </p:sp>
      <p:pic>
        <p:nvPicPr>
          <p:cNvPr id="5" name="Picture 4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858000"/>
            <a:ext cx="2486025" cy="5324475"/>
          </a:xfrm>
          <a:prstGeom prst="rect">
            <a:avLst/>
          </a:prstGeom>
        </p:spPr>
      </p:pic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9144000"/>
            <a:ext cx="2371725" cy="2667000"/>
          </a:xfrm>
          <a:prstGeom prst="rect">
            <a:avLst/>
          </a:prstGeom>
        </p:spPr>
      </p:pic>
      <p:pic>
        <p:nvPicPr>
          <p:cNvPr id="7" name="Picture 6" descr="torch-ging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6858000"/>
            <a:ext cx="2857500" cy="4572000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3335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6250"/>
            <a:ext cx="8915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250" b="1">
                <a:solidFill>
                  <a:srgbClr val="F4F1EA"/>
                </a:solidFill>
                <a:latin typeface="Montserrat"/>
              </a:rPr>
              <a:t>FUN SOIL NEWS ·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0750"/>
            <a:ext cx="8915400" cy="1226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8250" b="0">
                <a:solidFill>
                  <a:srgbClr val="22371F"/>
                </a:solidFill>
                <a:latin typeface="Fredoka"/>
              </a:rPr>
              <a:t>Australia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03320"/>
            <a:ext cx="8915400" cy="1935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3450" b="0">
                <a:solidFill>
                  <a:srgbClr val="22371F"/>
                </a:solidFill>
                <a:latin typeface="Montserrat"/>
              </a:rPr>
              <a:t>Six years after replanting, the fungi in restored farmland were still recovering what they do in the soil.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53750"/>
            <a:ext cx="6096000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1950" b="1">
                <a:solidFill>
                  <a:srgbClr val="156826"/>
                </a:solidFill>
                <a:latin typeface="Montserrat"/>
              </a:rPr>
              <a:t>Flinders University News, 20 October 2026</a:t>
            </a:r>
          </a:p>
        </p:txBody>
      </p:sp>
      <p:pic>
        <p:nvPicPr>
          <p:cNvPr id="7" name="Picture 6" descr="poro-flower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7620000"/>
            <a:ext cx="2571750" cy="2095500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3335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6250"/>
            <a:ext cx="8915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250" b="1">
                <a:solidFill>
                  <a:srgbClr val="F4F1EA"/>
                </a:solidFill>
                <a:latin typeface="Montserrat"/>
              </a:rPr>
              <a:t>FUN SOIL NEWS ·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0750"/>
            <a:ext cx="8915400" cy="1226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8250" b="0">
                <a:solidFill>
                  <a:srgbClr val="22371F"/>
                </a:solidFill>
                <a:latin typeface="Fredoka"/>
              </a:rPr>
              <a:t>Forests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03320"/>
            <a:ext cx="8915400" cy="1935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3450" b="0">
                <a:solidFill>
                  <a:srgbClr val="22371F"/>
                </a:solidFill>
                <a:latin typeface="Montserrat"/>
              </a:rPr>
              <a:t>Climate warming can slow how tree roots feed the microbes in the soil around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53750"/>
            <a:ext cx="6096000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1950" b="1">
                <a:solidFill>
                  <a:srgbClr val="156826"/>
                </a:solidFill>
                <a:latin typeface="Montserrat"/>
              </a:rPr>
              <a:t>Phys.org, October 2026</a:t>
            </a:r>
          </a:p>
        </p:txBody>
      </p:sp>
      <p:pic>
        <p:nvPicPr>
          <p:cNvPr id="7" name="Picture 6" descr="torch-ginger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5905500"/>
            <a:ext cx="2495550" cy="3990975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3335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6250"/>
            <a:ext cx="8915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250" b="1">
                <a:solidFill>
                  <a:srgbClr val="F4F1EA"/>
                </a:solidFill>
                <a:latin typeface="Montserrat"/>
              </a:rPr>
              <a:t>FUN SOIL NEWS ·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0750"/>
            <a:ext cx="8915400" cy="1226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8250" b="0">
                <a:solidFill>
                  <a:srgbClr val="22371F"/>
                </a:solidFill>
                <a:latin typeface="Fredoka"/>
              </a:rPr>
              <a:t>Biochar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03320"/>
            <a:ext cx="8915400" cy="1935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3450" b="0">
                <a:solidFill>
                  <a:srgbClr val="22371F"/>
                </a:solidFill>
                <a:latin typeface="Montserrat"/>
              </a:rPr>
              <a:t>Researchers used "bomb carbon" in wood shavings to measure how long biochar stays in soil.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53750"/>
            <a:ext cx="6096000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1950" b="1">
                <a:solidFill>
                  <a:srgbClr val="156826"/>
                </a:solidFill>
                <a:latin typeface="Montserrat"/>
              </a:rPr>
              <a:t>Phys.org, October 2026</a:t>
            </a:r>
          </a:p>
        </p:txBody>
      </p:sp>
      <p:pic>
        <p:nvPicPr>
          <p:cNvPr id="7" name="Picture 6" descr="hibiscus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7810500"/>
            <a:ext cx="1866900" cy="2095500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029950"/>
            <a:ext cx="1143000" cy="99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
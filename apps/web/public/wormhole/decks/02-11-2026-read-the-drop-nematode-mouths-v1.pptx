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1625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5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18.png"/><Relationship Id="rId8" Type="http://schemas.openxmlformats.org/officeDocument/2006/relationships/image" Target="../media/image5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22.png"/><Relationship Id="rId9" Type="http://schemas.openxmlformats.org/officeDocument/2006/relationships/image" Target="../media/image5.png"/><Relationship Id="rId10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5511800"/>
            <a:ext cx="5232400" cy="5232400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200" y="5791200"/>
            <a:ext cx="2040467" cy="1337733"/>
          </a:xfrm>
          <a:prstGeom prst="rect">
            <a:avLst/>
          </a:prstGeom>
        </p:spPr>
      </p:pic>
      <p:pic>
        <p:nvPicPr>
          <p:cNvPr id="5" name="small-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10871200"/>
            <a:ext cx="1524000" cy="1524000"/>
          </a:xfrm>
          <a:prstGeom prst="rect">
            <a:avLst/>
          </a:prstGeom>
        </p:spPr>
      </p:pic>
      <p:pic>
        <p:nvPicPr>
          <p:cNvPr id="6" name="ring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667" y="10828867"/>
            <a:ext cx="1608667" cy="1608667"/>
          </a:xfrm>
          <a:prstGeom prst="rect">
            <a:avLst/>
          </a:prstGeom>
        </p:spPr>
      </p:pic>
      <p:pic>
        <p:nvPicPr>
          <p:cNvPr id="7" name="small-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32000" y="10955867"/>
            <a:ext cx="1354667" cy="1354667"/>
          </a:xfrm>
          <a:prstGeom prst="rect">
            <a:avLst/>
          </a:prstGeom>
        </p:spPr>
      </p:pic>
      <p:pic>
        <p:nvPicPr>
          <p:cNvPr id="8" name="small-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1333" y="10955867"/>
            <a:ext cx="1354667" cy="1354667"/>
          </a:xfrm>
          <a:prstGeom prst="rect">
            <a:avLst/>
          </a:prstGeom>
        </p:spPr>
      </p:pic>
      <p:pic>
        <p:nvPicPr>
          <p:cNvPr id="9" name="small-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667" y="10955867"/>
            <a:ext cx="1354667" cy="1354667"/>
          </a:xfrm>
          <a:prstGeom prst="rect">
            <a:avLst/>
          </a:prstGeom>
        </p:spPr>
      </p:pic>
      <p:pic>
        <p:nvPicPr>
          <p:cNvPr id="10" name="log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11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730" i="0" b="1">
                <a:solidFill>
                  <a:srgbClr val="F4F1EA"/>
                </a:solidFill>
                <a:latin typeface="Fredoka"/>
              </a:rPr>
              <a:t>Bacterial feeder: open, tube-shaped mouth</a:t>
            </a:r>
          </a:p>
        </p:txBody>
      </p:sp>
      <p:sp>
        <p:nvSpPr>
          <p:cNvPr id="12" name="label the open mouth tube"/>
          <p:cNvSpPr txBox="1"/>
          <p:nvPr/>
        </p:nvSpPr>
        <p:spPr>
          <a:xfrm>
            <a:off x="6434667" y="5173133"/>
            <a:ext cx="237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the open mouth tube</a:t>
            </a:r>
          </a:p>
        </p:txBody>
      </p:sp>
      <p:sp>
        <p:nvSpPr>
          <p:cNvPr id="13" name="credit"/>
          <p:cNvSpPr txBox="1"/>
          <p:nvPr/>
        </p:nvSpPr>
        <p:spPr>
          <a:xfrm>
            <a:off x="778933" y="15663333"/>
            <a:ext cx="5418667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E3DDCC"/>
                </a:solidFill>
                <a:latin typeface="Montserrat"/>
              </a:rPr>
              <a:t>Micrograph: Tandingan De Ley et al. 2023, PLOS ONE, CC BY 4.0 (cropped)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5511800"/>
            <a:ext cx="5232400" cy="5232400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333" y="5799667"/>
            <a:ext cx="2082800" cy="2108200"/>
          </a:xfrm>
          <a:prstGeom prst="rect">
            <a:avLst/>
          </a:prstGeom>
        </p:spPr>
      </p:pic>
      <p:pic>
        <p:nvPicPr>
          <p:cNvPr id="5" name="small-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67" y="10955867"/>
            <a:ext cx="1354667" cy="1354667"/>
          </a:xfrm>
          <a:prstGeom prst="rect">
            <a:avLst/>
          </a:prstGeom>
        </p:spPr>
      </p:pic>
      <p:pic>
        <p:nvPicPr>
          <p:cNvPr id="6" name="small-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7333" y="10871200"/>
            <a:ext cx="1524000" cy="1524000"/>
          </a:xfrm>
          <a:prstGeom prst="rect">
            <a:avLst/>
          </a:prstGeom>
        </p:spPr>
      </p:pic>
      <p:pic>
        <p:nvPicPr>
          <p:cNvPr id="7" name="ring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10828867"/>
            <a:ext cx="1608667" cy="1608667"/>
          </a:xfrm>
          <a:prstGeom prst="rect">
            <a:avLst/>
          </a:prstGeom>
        </p:spPr>
      </p:pic>
      <p:pic>
        <p:nvPicPr>
          <p:cNvPr id="8" name="small-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1333" y="10955867"/>
            <a:ext cx="1354667" cy="1354667"/>
          </a:xfrm>
          <a:prstGeom prst="rect">
            <a:avLst/>
          </a:prstGeom>
        </p:spPr>
      </p:pic>
      <p:pic>
        <p:nvPicPr>
          <p:cNvPr id="9" name="small-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667" y="10955867"/>
            <a:ext cx="1354667" cy="1354667"/>
          </a:xfrm>
          <a:prstGeom prst="rect">
            <a:avLst/>
          </a:prstGeom>
        </p:spPr>
      </p:pic>
      <p:pic>
        <p:nvPicPr>
          <p:cNvPr id="10" name="log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11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730" i="0" b="1">
                <a:solidFill>
                  <a:srgbClr val="F4F1EA"/>
                </a:solidFill>
                <a:latin typeface="Fredoka"/>
              </a:rPr>
              <a:t>Fungal feeder: a thin stylet to pierce hyphae</a:t>
            </a:r>
          </a:p>
        </p:txBody>
      </p:sp>
      <p:sp>
        <p:nvSpPr>
          <p:cNvPr id="12" name="label the thin stylet"/>
          <p:cNvSpPr txBox="1"/>
          <p:nvPr/>
        </p:nvSpPr>
        <p:spPr>
          <a:xfrm>
            <a:off x="6434667" y="5173133"/>
            <a:ext cx="237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the thin stylet</a:t>
            </a:r>
          </a:p>
        </p:txBody>
      </p:sp>
      <p:sp>
        <p:nvSpPr>
          <p:cNvPr id="13" name="credit"/>
          <p:cNvSpPr txBox="1"/>
          <p:nvPr/>
        </p:nvSpPr>
        <p:spPr>
          <a:xfrm>
            <a:off x="778933" y="15663333"/>
            <a:ext cx="5418667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E3DDCC"/>
                </a:solidFill>
                <a:latin typeface="Montserrat"/>
              </a:rPr>
              <a:t>Micrograph: Munawar et al. 2024, Microorganisms, CC BY 4.0 (cropped)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5511800"/>
            <a:ext cx="5232400" cy="5232400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400" y="5799667"/>
            <a:ext cx="2218267" cy="1964267"/>
          </a:xfrm>
          <a:prstGeom prst="rect">
            <a:avLst/>
          </a:prstGeom>
        </p:spPr>
      </p:pic>
      <p:pic>
        <p:nvPicPr>
          <p:cNvPr id="5" name="small-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67" y="10955867"/>
            <a:ext cx="1354667" cy="1354667"/>
          </a:xfrm>
          <a:prstGeom prst="rect">
            <a:avLst/>
          </a:prstGeom>
        </p:spPr>
      </p:pic>
      <p:pic>
        <p:nvPicPr>
          <p:cNvPr id="6" name="small-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0" y="10955867"/>
            <a:ext cx="1354667" cy="1354667"/>
          </a:xfrm>
          <a:prstGeom prst="rect">
            <a:avLst/>
          </a:prstGeom>
        </p:spPr>
      </p:pic>
      <p:pic>
        <p:nvPicPr>
          <p:cNvPr id="7" name="small-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6667" y="10871200"/>
            <a:ext cx="1524000" cy="1524000"/>
          </a:xfrm>
          <a:prstGeom prst="rect">
            <a:avLst/>
          </a:prstGeom>
        </p:spPr>
      </p:pic>
      <p:pic>
        <p:nvPicPr>
          <p:cNvPr id="8" name="ring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4333" y="10828867"/>
            <a:ext cx="1608667" cy="1608667"/>
          </a:xfrm>
          <a:prstGeom prst="rect">
            <a:avLst/>
          </a:prstGeom>
        </p:spPr>
      </p:pic>
      <p:pic>
        <p:nvPicPr>
          <p:cNvPr id="9" name="small-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667" y="10955867"/>
            <a:ext cx="1354667" cy="1354667"/>
          </a:xfrm>
          <a:prstGeom prst="rect">
            <a:avLst/>
          </a:prstGeom>
        </p:spPr>
      </p:pic>
      <p:pic>
        <p:nvPicPr>
          <p:cNvPr id="10" name="log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11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730" i="0" b="1">
                <a:solidFill>
                  <a:srgbClr val="F4F1EA"/>
                </a:solidFill>
                <a:latin typeface="Fredoka"/>
              </a:rPr>
              <a:t>Root feeder: a heavy stylet to pierce roots</a:t>
            </a:r>
          </a:p>
        </p:txBody>
      </p:sp>
      <p:sp>
        <p:nvSpPr>
          <p:cNvPr id="12" name="label the heavy stylet with kn"/>
          <p:cNvSpPr txBox="1"/>
          <p:nvPr/>
        </p:nvSpPr>
        <p:spPr>
          <a:xfrm>
            <a:off x="6434667" y="5173133"/>
            <a:ext cx="237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the heavy stylet with knobs</a:t>
            </a:r>
          </a:p>
        </p:txBody>
      </p:sp>
      <p:sp>
        <p:nvSpPr>
          <p:cNvPr id="13" name="credit"/>
          <p:cNvSpPr txBox="1"/>
          <p:nvPr/>
        </p:nvSpPr>
        <p:spPr>
          <a:xfrm>
            <a:off x="778933" y="15663333"/>
            <a:ext cx="5418667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E3DDCC"/>
                </a:solidFill>
                <a:latin typeface="Montserrat"/>
              </a:rPr>
              <a:t>Micrograph: Handoo et al. 2021, Plants, CC BY 4.0 (cropped)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800" y="5511800"/>
            <a:ext cx="5232400" cy="5232400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333" y="5791200"/>
            <a:ext cx="1820333" cy="1964267"/>
          </a:xfrm>
          <a:prstGeom prst="rect">
            <a:avLst/>
          </a:prstGeom>
        </p:spPr>
      </p:pic>
      <p:pic>
        <p:nvPicPr>
          <p:cNvPr id="5" name="small-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67" y="10955867"/>
            <a:ext cx="1354667" cy="1354667"/>
          </a:xfrm>
          <a:prstGeom prst="rect">
            <a:avLst/>
          </a:prstGeom>
        </p:spPr>
      </p:pic>
      <p:pic>
        <p:nvPicPr>
          <p:cNvPr id="6" name="small-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0" y="10955867"/>
            <a:ext cx="1354667" cy="1354667"/>
          </a:xfrm>
          <a:prstGeom prst="rect">
            <a:avLst/>
          </a:prstGeom>
        </p:spPr>
      </p:pic>
      <p:pic>
        <p:nvPicPr>
          <p:cNvPr id="7" name="small-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1333" y="10955867"/>
            <a:ext cx="1354667" cy="1354667"/>
          </a:xfrm>
          <a:prstGeom prst="rect">
            <a:avLst/>
          </a:prstGeom>
        </p:spPr>
      </p:pic>
      <p:pic>
        <p:nvPicPr>
          <p:cNvPr id="8" name="small-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6000" y="10871200"/>
            <a:ext cx="1524000" cy="1524000"/>
          </a:xfrm>
          <a:prstGeom prst="rect">
            <a:avLst/>
          </a:prstGeom>
        </p:spPr>
      </p:pic>
      <p:pic>
        <p:nvPicPr>
          <p:cNvPr id="9" name="ring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3667" y="10828867"/>
            <a:ext cx="1608667" cy="1608667"/>
          </a:xfrm>
          <a:prstGeom prst="rect">
            <a:avLst/>
          </a:prstGeom>
        </p:spPr>
      </p:pic>
      <p:pic>
        <p:nvPicPr>
          <p:cNvPr id="10" name="log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11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730" i="0" b="1">
                <a:solidFill>
                  <a:srgbClr val="F4F1EA"/>
                </a:solidFill>
                <a:latin typeface="Fredoka"/>
              </a:rPr>
              <a:t>Predator: teeth or a wide mouth</a:t>
            </a:r>
          </a:p>
        </p:txBody>
      </p:sp>
      <p:sp>
        <p:nvSpPr>
          <p:cNvPr id="12" name="label a wide mouth with a toot"/>
          <p:cNvSpPr txBox="1"/>
          <p:nvPr/>
        </p:nvSpPr>
        <p:spPr>
          <a:xfrm>
            <a:off x="6434667" y="5173133"/>
            <a:ext cx="2370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a wide mouth with a tooth</a:t>
            </a:r>
          </a:p>
        </p:txBody>
      </p:sp>
      <p:sp>
        <p:nvSpPr>
          <p:cNvPr id="13" name="credit"/>
          <p:cNvSpPr txBox="1"/>
          <p:nvPr/>
        </p:nvSpPr>
        <p:spPr>
          <a:xfrm>
            <a:off x="778933" y="15663333"/>
            <a:ext cx="5418667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E3DDCC"/>
                </a:solidFill>
                <a:latin typeface="Montserrat"/>
              </a:rPr>
              <a:t>Micrograph: Altash et al. 2024, ZooKeys, CC BY 4.0 (cropped)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6256000"/>
          </a:xfrm>
          <a:prstGeom prst="rect">
            <a:avLst/>
          </a:prstGeom>
        </p:spPr>
      </p:pic>
      <p:pic>
        <p:nvPicPr>
          <p:cNvPr id="3" name="micrograph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67" y="5291667"/>
            <a:ext cx="2624667" cy="2624667"/>
          </a:xfrm>
          <a:prstGeom prst="rect">
            <a:avLst/>
          </a:prstGeom>
        </p:spPr>
      </p:pic>
      <p:pic>
        <p:nvPicPr>
          <p:cNvPr id="4" name="micrograph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9667" y="5291667"/>
            <a:ext cx="2624667" cy="2624667"/>
          </a:xfrm>
          <a:prstGeom prst="rect">
            <a:avLst/>
          </a:prstGeom>
        </p:spPr>
      </p:pic>
      <p:pic>
        <p:nvPicPr>
          <p:cNvPr id="5" name="micrograph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667" y="8593667"/>
            <a:ext cx="2624667" cy="2624667"/>
          </a:xfrm>
          <a:prstGeom prst="rect">
            <a:avLst/>
          </a:prstGeom>
        </p:spPr>
      </p:pic>
      <p:pic>
        <p:nvPicPr>
          <p:cNvPr id="6" name="micrograph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9667" y="8593667"/>
            <a:ext cx="2624667" cy="2624667"/>
          </a:xfrm>
          <a:prstGeom prst="rect">
            <a:avLst/>
          </a:prstGeom>
        </p:spPr>
      </p:pic>
      <p:pic>
        <p:nvPicPr>
          <p:cNvPr id="7" name="log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5067" y="14257867"/>
            <a:ext cx="1574800" cy="1574800"/>
          </a:xfrm>
          <a:prstGeom prst="rect">
            <a:avLst/>
          </a:prstGeom>
        </p:spPr>
      </p:pic>
      <p:sp>
        <p:nvSpPr>
          <p:cNvPr id="8" name="heading"/>
          <p:cNvSpPr txBox="1"/>
          <p:nvPr/>
        </p:nvSpPr>
        <p:spPr>
          <a:xfrm>
            <a:off x="762000" y="1016000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i="0" b="1">
                <a:solidFill>
                  <a:srgbClr val="F4F1EA"/>
                </a:solidFill>
                <a:latin typeface="Fredoka"/>
              </a:rPr>
              <a:t>Read the mouth, know the job.</a:t>
            </a:r>
          </a:p>
        </p:txBody>
      </p:sp>
      <p:sp>
        <p:nvSpPr>
          <p:cNvPr id="9" name="label bacterial feeder"/>
          <p:cNvSpPr txBox="1"/>
          <p:nvPr/>
        </p:nvSpPr>
        <p:spPr>
          <a:xfrm>
            <a:off x="931333" y="7941733"/>
            <a:ext cx="2709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bacterial feeder</a:t>
            </a:r>
          </a:p>
        </p:txBody>
      </p:sp>
      <p:sp>
        <p:nvSpPr>
          <p:cNvPr id="10" name="label fungal feeder"/>
          <p:cNvSpPr txBox="1"/>
          <p:nvPr/>
        </p:nvSpPr>
        <p:spPr>
          <a:xfrm>
            <a:off x="4487333" y="7941733"/>
            <a:ext cx="2709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fungal feeder</a:t>
            </a:r>
          </a:p>
        </p:txBody>
      </p:sp>
      <p:sp>
        <p:nvSpPr>
          <p:cNvPr id="11" name="label root feeder"/>
          <p:cNvSpPr txBox="1"/>
          <p:nvPr/>
        </p:nvSpPr>
        <p:spPr>
          <a:xfrm>
            <a:off x="931333" y="11243733"/>
            <a:ext cx="2709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root feeder</a:t>
            </a:r>
          </a:p>
        </p:txBody>
      </p:sp>
      <p:sp>
        <p:nvSpPr>
          <p:cNvPr id="12" name="label predator"/>
          <p:cNvSpPr txBox="1"/>
          <p:nvPr/>
        </p:nvSpPr>
        <p:spPr>
          <a:xfrm>
            <a:off x="4487333" y="11243733"/>
            <a:ext cx="2709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2000"/>
              </a:lnSpc>
            </a:pPr>
            <a:r>
              <a:rPr sz="2070" i="0" b="1">
                <a:solidFill>
                  <a:srgbClr val="F4F1EA"/>
                </a:solidFill>
                <a:latin typeface="Montserrat"/>
              </a:rPr>
              <a:t>predator</a:t>
            </a:r>
          </a:p>
        </p:txBody>
      </p:sp>
      <p:sp>
        <p:nvSpPr>
          <p:cNvPr id="13" name="credit"/>
          <p:cNvSpPr txBox="1"/>
          <p:nvPr/>
        </p:nvSpPr>
        <p:spPr>
          <a:xfrm>
            <a:off x="778933" y="15663333"/>
            <a:ext cx="5757333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E3DDCC"/>
                </a:solidFill>
                <a:latin typeface="Montserrat"/>
              </a:rPr>
              <a:t>Micrographs: Tandingan De Ley 2023, Munawar 2024, Handoo 2021, Altash 2024; CC BY 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
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18000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4233333"/>
            <a:ext cx="7789333" cy="4910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pic>
        <p:nvPicPr>
          <p:cNvPr id="6" name="globe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9313333"/>
            <a:ext cx="1862667" cy="1862667"/>
          </a:xfrm>
          <a:prstGeom prst="rect">
            <a:avLst/>
          </a:prstGeom>
        </p:spPr>
      </p:pic>
      <p:sp>
        <p:nvSpPr>
          <p:cNvPr id="7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070" i="0" b="1">
                <a:solidFill>
                  <a:srgbClr val="4F3433"/>
                </a:solidFill>
                <a:latin typeface="Fredoka"/>
              </a:rPr>
              <a:t>Soil Regenerators in the wild. [Name], Simalungun Regency, Sumatra, Indonesia</a:t>
            </a:r>
          </a:p>
        </p:txBody>
      </p:sp>
      <p:sp>
        <p:nvSpPr>
          <p:cNvPr id="8" name="label PHOTO: the farmer, from "/>
          <p:cNvSpPr txBox="1"/>
          <p:nvPr/>
        </p:nvSpPr>
        <p:spPr>
          <a:xfrm>
            <a:off x="1100667" y="6434667"/>
            <a:ext cx="694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farmer, from their own photos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70400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4385733"/>
            <a:ext cx="7789333" cy="4910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Farming the way their parents did. Then they looked under a microscope.</a:t>
            </a:r>
          </a:p>
        </p:txBody>
      </p:sp>
      <p:sp>
        <p:nvSpPr>
          <p:cNvPr id="7" name="label PHOTO: the farm, from th"/>
          <p:cNvSpPr txBox="1"/>
          <p:nvPr/>
        </p:nvSpPr>
        <p:spPr>
          <a:xfrm>
            <a:off x="1100667" y="6587067"/>
            <a:ext cx="694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farm, from the farmer's photos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9333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3894667"/>
            <a:ext cx="7789333" cy="4910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Regenerative compost, checked under the microscope.</a:t>
            </a:r>
          </a:p>
        </p:txBody>
      </p:sp>
      <p:sp>
        <p:nvSpPr>
          <p:cNvPr id="7" name="label PHOTO: their compost or "/>
          <p:cNvSpPr txBox="1"/>
          <p:nvPr/>
        </p:nvSpPr>
        <p:spPr>
          <a:xfrm>
            <a:off x="1100667" y="6096000"/>
            <a:ext cx="694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their compost or microscope, from their photos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979333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3894667"/>
            <a:ext cx="7789333" cy="4910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330" i="0" b="1">
                <a:solidFill>
                  <a:srgbClr val="4F3433"/>
                </a:solidFill>
                <a:latin typeface="Fredoka"/>
              </a:rPr>
              <a:t>Fields mapped, companion plants and ground cover planted.</a:t>
            </a:r>
          </a:p>
        </p:txBody>
      </p:sp>
      <p:sp>
        <p:nvSpPr>
          <p:cNvPr id="7" name="label PHOTO: their fields and "/>
          <p:cNvSpPr txBox="1"/>
          <p:nvPr/>
        </p:nvSpPr>
        <p:spPr>
          <a:xfrm>
            <a:off x="1100667" y="6096000"/>
            <a:ext cx="694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their fields and ground cover, from their photos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-placehold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250267"/>
            <a:ext cx="7620000" cy="4741333"/>
          </a:xfrm>
          <a:prstGeom prst="rect">
            <a:avLst/>
          </a:prstGeom>
        </p:spPr>
      </p:pic>
      <p:pic>
        <p:nvPicPr>
          <p:cNvPr id="4" name="placeholder-fram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3" y="4165600"/>
            <a:ext cx="7789333" cy="49106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930" i="0" b="1">
                <a:solidFill>
                  <a:srgbClr val="4F3433"/>
                </a:solidFill>
                <a:latin typeface="Fredoka"/>
              </a:rPr>
              <a:t>“It has enriched the people, plants and animals in the Simalungun regency where I call home.”</a:t>
            </a:r>
          </a:p>
        </p:txBody>
      </p:sp>
      <p:sp>
        <p:nvSpPr>
          <p:cNvPr id="7" name="label PHOTO: the farmer, from "/>
          <p:cNvSpPr txBox="1"/>
          <p:nvPr/>
        </p:nvSpPr>
        <p:spPr>
          <a:xfrm>
            <a:off x="1100667" y="6366933"/>
            <a:ext cx="6942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130" i="0" b="1">
                <a:solidFill>
                  <a:srgbClr val="4F3433"/>
                </a:solidFill>
                <a:latin typeface="Montserrat"/>
              </a:rPr>
              <a:t>PHOTO: the farmer, from their own photos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
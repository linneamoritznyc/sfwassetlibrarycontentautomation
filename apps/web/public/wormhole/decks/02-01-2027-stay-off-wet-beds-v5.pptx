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diagram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556000"/>
            <a:ext cx="7620000" cy="4487333"/>
          </a:xfrm>
          <a:prstGeom prst="rect">
            <a:avLst/>
          </a:prstGeom>
        </p:spPr>
      </p:pic>
      <p:pic>
        <p:nvPicPr>
          <p:cNvPr id="4" name="log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4533" y="9982200"/>
            <a:ext cx="1185333" cy="1024467"/>
          </a:xfrm>
          <a:prstGeom prst="rect">
            <a:avLst/>
          </a:prstGeom>
        </p:spPr>
      </p:pic>
      <p:sp>
        <p:nvSpPr>
          <p:cNvPr id="5" name="label"/>
          <p:cNvSpPr txBox="1"/>
          <p:nvPr/>
        </p:nvSpPr>
        <p:spPr>
          <a:xfrm>
            <a:off x="762000" y="677333"/>
            <a:ext cx="7620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70" i="0" b="0">
                <a:solidFill>
                  <a:srgbClr val="156826"/>
                </a:solidFill>
                <a:latin typeface="Pathway Gothic One"/>
              </a:rPr>
              <a:t>DO THIS WEEKEND</a:t>
            </a:r>
          </a:p>
        </p:txBody>
      </p:sp>
      <p:sp>
        <p:nvSpPr>
          <p:cNvPr id="6" name="heading"/>
          <p:cNvSpPr txBox="1"/>
          <p:nvPr/>
        </p:nvSpPr>
        <p:spPr>
          <a:xfrm>
            <a:off x="762000" y="1185333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6400" i="0" b="1">
                <a:solidFill>
                  <a:srgbClr val="4F3433"/>
                </a:solidFill>
                <a:latin typeface="Montserrat"/>
              </a:rPr>
              <a:t>Stay off wet beds.</a:t>
            </a:r>
          </a:p>
        </p:txBody>
      </p:sp>
      <p:sp>
        <p:nvSpPr>
          <p:cNvPr id="7" name="label"/>
          <p:cNvSpPr txBox="1"/>
          <p:nvPr/>
        </p:nvSpPr>
        <p:spPr>
          <a:xfrm>
            <a:off x="762000" y="8297333"/>
            <a:ext cx="3640667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70" i="0" b="0">
                <a:solidFill>
                  <a:srgbClr val="333130"/>
                </a:solidFill>
                <a:latin typeface="Source Sans 3"/>
              </a:rPr>
              <a:t>Wet soil under a boot: pores pressed shut.</a:t>
            </a:r>
          </a:p>
        </p:txBody>
      </p:sp>
      <p:sp>
        <p:nvSpPr>
          <p:cNvPr id="8" name="label"/>
          <p:cNvSpPr txBox="1"/>
          <p:nvPr/>
        </p:nvSpPr>
        <p:spPr>
          <a:xfrm>
            <a:off x="4741333" y="8297333"/>
            <a:ext cx="3640667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70" i="0" b="0">
                <a:solidFill>
                  <a:srgbClr val="333130"/>
                </a:solidFill>
                <a:latin typeface="Source Sans 3"/>
              </a:rPr>
              <a:t>A board spreads the weight: the crumb stays open.</a:t>
            </a:r>
          </a:p>
        </p:txBody>
      </p:sp>
      <p:sp>
        <p:nvSpPr>
          <p:cNvPr id="9" name="body"/>
          <p:cNvSpPr txBox="1"/>
          <p:nvPr/>
        </p:nvSpPr>
        <p:spPr>
          <a:xfrm>
            <a:off x="762000" y="9652000"/>
            <a:ext cx="6434667" cy="2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670" i="0" b="0">
                <a:solidFill>
                  <a:srgbClr val="4F3433"/>
                </a:solidFill>
                <a:latin typeface="Source Sans 3"/>
              </a:rPr>
              <a:t>Walk on boards or a mulched path instead.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
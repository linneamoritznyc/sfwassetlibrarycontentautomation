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humus-blob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4741333"/>
            <a:ext cx="5080000" cy="4741333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867" y="8246533"/>
            <a:ext cx="321733" cy="1075267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870" i="0" b="1">
                <a:solidFill>
                  <a:srgbClr val="4F3433"/>
                </a:solidFill>
                <a:latin typeface="Fredoka"/>
              </a:rPr>
              <a:t>Myth: “Humus is a special, stable substance in soil.”</a:t>
            </a:r>
          </a:p>
        </p:txBody>
      </p:sp>
      <p:sp>
        <p:nvSpPr>
          <p:cNvPr id="7" name="label the textbook picture"/>
          <p:cNvSpPr txBox="1"/>
          <p:nvPr/>
        </p:nvSpPr>
        <p:spPr>
          <a:xfrm>
            <a:off x="5926667" y="9313333"/>
            <a:ext cx="2201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the textbook picture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textbook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4741333"/>
            <a:ext cx="7112000" cy="50800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200" i="0" b="1">
                <a:solidFill>
                  <a:srgbClr val="4F3433"/>
                </a:solidFill>
                <a:latin typeface="Fredoka"/>
              </a:rPr>
              <a:t>For a century, textbooks described humic substances as large, unique molecules.</a:t>
            </a:r>
          </a:p>
        </p:txBody>
      </p:sp>
      <p:sp>
        <p:nvSpPr>
          <p:cNvPr id="6" name="label a giant “humic molecule”"/>
          <p:cNvSpPr txBox="1"/>
          <p:nvPr/>
        </p:nvSpPr>
        <p:spPr>
          <a:xfrm>
            <a:off x="5249333" y="9906000"/>
            <a:ext cx="2794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a giant “humic molecule”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flask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333" y="5080000"/>
            <a:ext cx="5249333" cy="4741333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6553200"/>
            <a:ext cx="2074333" cy="2379133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931333"/>
            <a:ext cx="7620000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800" i="0" b="1">
                <a:solidFill>
                  <a:srgbClr val="4F3433"/>
                </a:solidFill>
                <a:latin typeface="Fredoka"/>
              </a:rPr>
              <a:t>Modern imaging found little of that in intact soil. Much of it came from the harsh extraction method.</a:t>
            </a:r>
          </a:p>
        </p:txBody>
      </p:sp>
      <p:sp>
        <p:nvSpPr>
          <p:cNvPr id="7" name="label strong alkali pulls out "/>
          <p:cNvSpPr txBox="1"/>
          <p:nvPr/>
        </p:nvSpPr>
        <p:spPr>
          <a:xfrm>
            <a:off x="508000" y="5418667"/>
            <a:ext cx="2201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strong alkali pulls out dark extracts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continuum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67" y="5080000"/>
            <a:ext cx="7450667" cy="3979333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931333"/>
            <a:ext cx="7620000" cy="389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930" i="0" b="1">
                <a:solidFill>
                  <a:srgbClr val="4F3433"/>
                </a:solidFill>
                <a:latin typeface="Fredoka"/>
              </a:rPr>
              <a:t>The current view: organic matter is a continuum of compounds being broken down by microbes.</a:t>
            </a:r>
          </a:p>
        </p:txBody>
      </p:sp>
      <p:sp>
        <p:nvSpPr>
          <p:cNvPr id="6" name="label a leaf"/>
          <p:cNvSpPr txBox="1"/>
          <p:nvPr/>
        </p:nvSpPr>
        <p:spPr>
          <a:xfrm>
            <a:off x="931333" y="9313333"/>
            <a:ext cx="1693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a leaf</a:t>
            </a:r>
          </a:p>
        </p:txBody>
      </p:sp>
      <p:sp>
        <p:nvSpPr>
          <p:cNvPr id="7" name="label smaller and smaller piec"/>
          <p:cNvSpPr txBox="1"/>
          <p:nvPr/>
        </p:nvSpPr>
        <p:spPr>
          <a:xfrm>
            <a:off x="3217333" y="9313333"/>
            <a:ext cx="3725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smaller and smaller pieces, eaten by microbes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protected-carbon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33" y="4741333"/>
            <a:ext cx="7281333" cy="4233333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200" i="0" b="1">
                <a:solidFill>
                  <a:srgbClr val="4F3433"/>
                </a:solidFill>
                <a:latin typeface="Fredoka"/>
              </a:rPr>
              <a:t>Carbon stays in soil mainly when it's protected in aggregates or bound to minerals.</a:t>
            </a:r>
          </a:p>
        </p:txBody>
      </p:sp>
      <p:sp>
        <p:nvSpPr>
          <p:cNvPr id="6" name="label inside an aggregate"/>
          <p:cNvSpPr txBox="1"/>
          <p:nvPr/>
        </p:nvSpPr>
        <p:spPr>
          <a:xfrm>
            <a:off x="931333" y="9313333"/>
            <a:ext cx="254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inside an aggregate</a:t>
            </a:r>
          </a:p>
        </p:txBody>
      </p:sp>
      <p:sp>
        <p:nvSpPr>
          <p:cNvPr id="7" name="label stuck to a mineral surfa"/>
          <p:cNvSpPr txBox="1"/>
          <p:nvPr/>
        </p:nvSpPr>
        <p:spPr>
          <a:xfrm>
            <a:off x="5080000" y="8974667"/>
            <a:ext cx="254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stuck to a mineral surface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micr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67" y="5376333"/>
            <a:ext cx="4148667" cy="4148667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200" y="7044267"/>
            <a:ext cx="1447800" cy="626533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i="0" b="1">
                <a:solidFill>
                  <a:srgbClr val="4F3433"/>
                </a:solidFill>
                <a:latin typeface="Fredoka"/>
              </a:rPr>
              <a:t>Microbes are part of the answer. Source on the slide.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778933" y="3556000"/>
            <a:ext cx="7281333" cy="2709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8000"/>
              </a:lnSpc>
            </a:pPr>
            <a:r>
              <a:rPr sz="2400" i="0" b="0">
                <a:solidFill>
                  <a:srgbClr val="5C4636"/>
                </a:solidFill>
                <a:latin typeface="Montserrat"/>
              </a:rPr>
              <a:t>Lehmann, J. and Kleber, M. (2015). The contentious nature of soil organic matter. Nature 528: 60–68.</a:t>
            </a:r>
          </a:p>
        </p:txBody>
      </p:sp>
      <p:sp>
        <p:nvSpPr>
          <p:cNvPr id="8" name="label a fungal hypha at 100x, "/>
          <p:cNvSpPr txBox="1"/>
          <p:nvPr/>
        </p:nvSpPr>
        <p:spPr>
          <a:xfrm>
            <a:off x="5080000" y="6096000"/>
            <a:ext cx="254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a fungal hypha at 100x, by Marco Trevisan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
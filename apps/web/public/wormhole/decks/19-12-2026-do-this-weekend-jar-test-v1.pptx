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ja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3979333"/>
            <a:ext cx="3556000" cy="5418667"/>
          </a:xfrm>
          <a:prstGeom prst="rect">
            <a:avLst/>
          </a:prstGeom>
        </p:spPr>
      </p:pic>
      <p:pic>
        <p:nvPicPr>
          <p:cNvPr id="4" name="dark-soil-clump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333" y="7620000"/>
            <a:ext cx="2201333" cy="1346200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000" y="5706533"/>
            <a:ext cx="889000" cy="9482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What is your soil made of? Find out with a jar.</a:t>
            </a:r>
          </a:p>
        </p:txBody>
      </p:sp>
      <p:sp>
        <p:nvSpPr>
          <p:cNvPr id="8" name="label a jar, water and a handf"/>
          <p:cNvSpPr txBox="1"/>
          <p:nvPr/>
        </p:nvSpPr>
        <p:spPr>
          <a:xfrm>
            <a:off x="6265333" y="4741333"/>
            <a:ext cx="237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jar, water and a handful of your soil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ja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333" y="4402667"/>
            <a:ext cx="3979333" cy="541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200" y="8221133"/>
            <a:ext cx="1794933" cy="304800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867" y="6273800"/>
            <a:ext cx="1617133" cy="550333"/>
          </a:xfrm>
          <a:prstGeom prst="rect">
            <a:avLst/>
          </a:prstGeom>
        </p:spPr>
      </p:pic>
      <p:pic>
        <p:nvPicPr>
          <p:cNvPr id="6" name="arrow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400" y="5020733"/>
            <a:ext cx="1456267" cy="778933"/>
          </a:xfrm>
          <a:prstGeom prst="rect">
            <a:avLst/>
          </a:prstGeom>
        </p:spPr>
      </p:pic>
      <p:pic>
        <p:nvPicPr>
          <p:cNvPr id="7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8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930" i="0" b="1">
                <a:solidFill>
                  <a:srgbClr val="4F3433"/>
                </a:solidFill>
                <a:latin typeface="Fredoka"/>
              </a:rPr>
              <a:t>Fill a jar one third with soil, top up with water and a pinch of dish soap. Shake hard.</a:t>
            </a:r>
          </a:p>
        </p:txBody>
      </p:sp>
      <p:sp>
        <p:nvSpPr>
          <p:cNvPr id="9" name="label one third soil"/>
          <p:cNvSpPr txBox="1"/>
          <p:nvPr/>
        </p:nvSpPr>
        <p:spPr>
          <a:xfrm>
            <a:off x="592667" y="8466667"/>
            <a:ext cx="1947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one third soil</a:t>
            </a:r>
          </a:p>
        </p:txBody>
      </p:sp>
      <p:sp>
        <p:nvSpPr>
          <p:cNvPr id="10" name="label water"/>
          <p:cNvSpPr txBox="1"/>
          <p:nvPr/>
        </p:nvSpPr>
        <p:spPr>
          <a:xfrm>
            <a:off x="6773333" y="5926667"/>
            <a:ext cx="1693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water</a:t>
            </a:r>
          </a:p>
        </p:txBody>
      </p:sp>
      <p:sp>
        <p:nvSpPr>
          <p:cNvPr id="11" name="label a pinch of dish soap"/>
          <p:cNvSpPr txBox="1"/>
          <p:nvPr/>
        </p:nvSpPr>
        <p:spPr>
          <a:xfrm>
            <a:off x="6434667" y="4402667"/>
            <a:ext cx="2032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pinch of dish soap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ja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3979333"/>
            <a:ext cx="3556000" cy="541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200" y="8585200"/>
            <a:ext cx="1286933" cy="270933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867" y="7755467"/>
            <a:ext cx="1625600" cy="4995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Sand settles in about a minute. Mark the line.</a:t>
            </a:r>
          </a:p>
        </p:txBody>
      </p:sp>
      <p:sp>
        <p:nvSpPr>
          <p:cNvPr id="8" name="label sand"/>
          <p:cNvSpPr txBox="1"/>
          <p:nvPr/>
        </p:nvSpPr>
        <p:spPr>
          <a:xfrm>
            <a:off x="6688667" y="8466667"/>
            <a:ext cx="1693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sand</a:t>
            </a:r>
          </a:p>
        </p:txBody>
      </p:sp>
      <p:sp>
        <p:nvSpPr>
          <p:cNvPr id="9" name="label mark the line"/>
          <p:cNvSpPr txBox="1"/>
          <p:nvPr/>
        </p:nvSpPr>
        <p:spPr>
          <a:xfrm>
            <a:off x="677333" y="7281333"/>
            <a:ext cx="1947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mark the 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ja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3979333"/>
            <a:ext cx="3556000" cy="541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533" y="8568267"/>
            <a:ext cx="1193800" cy="245533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7687733"/>
            <a:ext cx="1159933" cy="245533"/>
          </a:xfrm>
          <a:prstGeom prst="rect">
            <a:avLst/>
          </a:prstGeom>
        </p:spPr>
      </p:pic>
      <p:pic>
        <p:nvPicPr>
          <p:cNvPr id="6" name="arrow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6533" y="6993467"/>
            <a:ext cx="1202267" cy="245533"/>
          </a:xfrm>
          <a:prstGeom prst="rect">
            <a:avLst/>
          </a:prstGeom>
        </p:spPr>
      </p:pic>
      <p:pic>
        <p:nvPicPr>
          <p:cNvPr id="7" name="arrow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0" y="5799667"/>
            <a:ext cx="1151467" cy="245533"/>
          </a:xfrm>
          <a:prstGeom prst="rect">
            <a:avLst/>
          </a:prstGeom>
        </p:spPr>
      </p:pic>
      <p:pic>
        <p:nvPicPr>
          <p:cNvPr id="8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9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Silt settles over a few hours. Mark it. Clay can take a day or more.</a:t>
            </a:r>
          </a:p>
        </p:txBody>
      </p:sp>
      <p:sp>
        <p:nvSpPr>
          <p:cNvPr id="10" name="label sand"/>
          <p:cNvSpPr txBox="1"/>
          <p:nvPr/>
        </p:nvSpPr>
        <p:spPr>
          <a:xfrm>
            <a:off x="1016000" y="8551333"/>
            <a:ext cx="152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sand</a:t>
            </a:r>
          </a:p>
        </p:txBody>
      </p:sp>
      <p:sp>
        <p:nvSpPr>
          <p:cNvPr id="11" name="label silt"/>
          <p:cNvSpPr txBox="1"/>
          <p:nvPr/>
        </p:nvSpPr>
        <p:spPr>
          <a:xfrm>
            <a:off x="6942667" y="7670800"/>
            <a:ext cx="152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silt</a:t>
            </a:r>
          </a:p>
        </p:txBody>
      </p:sp>
      <p:sp>
        <p:nvSpPr>
          <p:cNvPr id="12" name="label clay"/>
          <p:cNvSpPr txBox="1"/>
          <p:nvPr/>
        </p:nvSpPr>
        <p:spPr>
          <a:xfrm>
            <a:off x="1016000" y="6985000"/>
            <a:ext cx="152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clay</a:t>
            </a:r>
          </a:p>
        </p:txBody>
      </p:sp>
      <p:sp>
        <p:nvSpPr>
          <p:cNvPr id="13" name="label water"/>
          <p:cNvSpPr txBox="1"/>
          <p:nvPr/>
        </p:nvSpPr>
        <p:spPr>
          <a:xfrm>
            <a:off x="6942667" y="5782733"/>
            <a:ext cx="152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water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texture-triang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3" y="4402667"/>
            <a:ext cx="5249333" cy="4741333"/>
          </a:xfrm>
          <a:prstGeom prst="rect">
            <a:avLst/>
          </a:prstGeom>
        </p:spPr>
      </p:pic>
      <p:pic>
        <p:nvPicPr>
          <p:cNvPr id="4" name="drawn-ja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4741333"/>
            <a:ext cx="2201333" cy="4402667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733" y="7476067"/>
            <a:ext cx="338667" cy="15832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Compare the layers to find your texture.</a:t>
            </a:r>
          </a:p>
        </p:txBody>
      </p:sp>
      <p:sp>
        <p:nvSpPr>
          <p:cNvPr id="8" name="label sand"/>
          <p:cNvSpPr txBox="1"/>
          <p:nvPr/>
        </p:nvSpPr>
        <p:spPr>
          <a:xfrm>
            <a:off x="3048000" y="9017000"/>
            <a:ext cx="127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sand</a:t>
            </a:r>
          </a:p>
        </p:txBody>
      </p:sp>
      <p:sp>
        <p:nvSpPr>
          <p:cNvPr id="9" name="label silt"/>
          <p:cNvSpPr txBox="1"/>
          <p:nvPr/>
        </p:nvSpPr>
        <p:spPr>
          <a:xfrm>
            <a:off x="7281333" y="6604000"/>
            <a:ext cx="127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silt</a:t>
            </a:r>
          </a:p>
        </p:txBody>
      </p:sp>
      <p:sp>
        <p:nvSpPr>
          <p:cNvPr id="10" name="label clay"/>
          <p:cNvSpPr txBox="1"/>
          <p:nvPr/>
        </p:nvSpPr>
        <p:spPr>
          <a:xfrm>
            <a:off x="5503333" y="3979333"/>
            <a:ext cx="127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clay</a:t>
            </a:r>
          </a:p>
        </p:txBody>
      </p:sp>
      <p:sp>
        <p:nvSpPr>
          <p:cNvPr id="11" name="label your soil"/>
          <p:cNvSpPr txBox="1"/>
          <p:nvPr/>
        </p:nvSpPr>
        <p:spPr>
          <a:xfrm>
            <a:off x="5249333" y="9059333"/>
            <a:ext cx="1693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your soil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
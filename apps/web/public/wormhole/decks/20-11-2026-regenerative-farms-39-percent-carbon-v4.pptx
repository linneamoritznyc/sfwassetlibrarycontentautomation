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5.jp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12.jp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17.jpg"/><Relationship Id="rId4" Type="http://schemas.openxmlformats.org/officeDocument/2006/relationships/image" Target="../media/image15.jp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igure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7924800" cy="4741333"/>
          </a:xfrm>
          <a:prstGeom prst="rect">
            <a:avLst/>
          </a:prstGeom>
        </p:spPr>
      </p:pic>
      <p:pic>
        <p:nvPicPr>
          <p:cNvPr id="4" name="Photo: Figure 2, Lundgren et al. 202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33" y="778933"/>
            <a:ext cx="7586133" cy="3894667"/>
          </a:xfrm>
          <a:prstGeom prst="rect">
            <a:avLst/>
          </a:prstGeom>
        </p:spPr>
      </p:pic>
      <p:pic>
        <p:nvPicPr>
          <p:cNvPr id="5" name="Tab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933" y="4233333"/>
            <a:ext cx="5249333" cy="440267"/>
          </a:xfrm>
          <a:prstGeom prst="rect">
            <a:avLst/>
          </a:prstGeom>
        </p:spPr>
      </p:pic>
      <p:pic>
        <p:nvPicPr>
          <p:cNvPr id="6" name="Cream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588000"/>
            <a:ext cx="7924800" cy="4741333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67" y="5994400"/>
            <a:ext cx="84667" cy="2540000"/>
          </a:xfrm>
          <a:prstGeom prst="rect">
            <a:avLst/>
          </a:prstGeom>
        </p:spPr>
      </p:pic>
      <p:pic>
        <p:nvPicPr>
          <p:cNvPr id="8" name="SFW 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5733" y="9186333"/>
            <a:ext cx="1270000" cy="1100667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948267" y="4284133"/>
            <a:ext cx="4995333" cy="372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ENVIRONMENTAL RESEARCH: FOOD SYSTEMS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778933" y="4995333"/>
            <a:ext cx="7586133" cy="33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333130"/>
                </a:solidFill>
                <a:latin typeface="Source Sans 3"/>
              </a:rPr>
              <a:t>Figure 2, Lundgren et al. 2026, CC BY 4.0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236133" y="5926667"/>
            <a:ext cx="7027333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Regenerative farms stored 39% more soil carbon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236133" y="8890000"/>
            <a:ext cx="508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 new study of working farms. Link in bio.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ream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89667"/>
            <a:ext cx="7924800" cy="6841067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7" y="2667000"/>
            <a:ext cx="84667" cy="2565400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733" y="7433733"/>
            <a:ext cx="1270000" cy="11006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236133" y="2599267"/>
            <a:ext cx="7027333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70" i="0" b="1">
                <a:solidFill>
                  <a:srgbClr val="4F3433"/>
                </a:solidFill>
                <a:latin typeface="Montserrat"/>
              </a:rPr>
              <a:t>The 1000 Farms Initiative measured working farms across North America.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236133" y="5571067"/>
            <a:ext cx="7027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the most conventional to the most regenerative. Led by Ecdysis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ream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00400"/>
            <a:ext cx="7924800" cy="44111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7" y="3877733"/>
            <a:ext cx="84667" cy="1236133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733" y="6214533"/>
            <a:ext cx="1270000" cy="11006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236133" y="3810000"/>
            <a:ext cx="7027333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70" i="0" b="1">
                <a:solidFill>
                  <a:srgbClr val="4F3433"/>
                </a:solidFill>
                <a:latin typeface="Montserrat"/>
              </a:rPr>
              <a:t>39% more total soil carbon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236133" y="5452533"/>
            <a:ext cx="7027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 the most regenerative farms.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ream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59667"/>
            <a:ext cx="7924800" cy="4292600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7" y="3937000"/>
            <a:ext cx="84667" cy="567267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733" y="6155267"/>
            <a:ext cx="1270000" cy="11006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236133" y="3869267"/>
            <a:ext cx="7027333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70" i="0" b="1">
                <a:solidFill>
                  <a:srgbClr val="4F3433"/>
                </a:solidFill>
                <a:latin typeface="Montserrat"/>
              </a:rPr>
              <a:t>+181% total fungi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236133" y="4842933"/>
            <a:ext cx="7027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in the most regenerative soils (figure 3 of the paper).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ream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988733"/>
            <a:ext cx="7924800" cy="48429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7" y="3666067"/>
            <a:ext cx="84667" cy="567267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733" y="6434667"/>
            <a:ext cx="1270000" cy="11006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236133" y="3598333"/>
            <a:ext cx="7027333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70" i="0" b="1">
                <a:solidFill>
                  <a:srgbClr val="4F3433"/>
                </a:solidFill>
                <a:latin typeface="Montserrat"/>
              </a:rPr>
              <a:t>More life everywhere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236133" y="4572000"/>
            <a:ext cx="7027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Soil microbes, insects, plants and birds. The more biodiversity, the more carbon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ream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00400"/>
            <a:ext cx="7924800" cy="44111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7" y="3877733"/>
            <a:ext cx="84667" cy="1236133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733" y="6214533"/>
            <a:ext cx="1270000" cy="11006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236133" y="3810000"/>
            <a:ext cx="7027333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70" i="0" b="1">
                <a:solidFill>
                  <a:srgbClr val="4F3433"/>
                </a:solidFill>
                <a:latin typeface="Montserrat"/>
              </a:rPr>
              <a:t>Yields matched national averages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236133" y="5452533"/>
            <a:ext cx="7027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and net profit per acre was similar.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ream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50067"/>
            <a:ext cx="7924800" cy="5511800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7" y="3327400"/>
            <a:ext cx="84667" cy="1236133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733" y="6764867"/>
            <a:ext cx="1270000" cy="11006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236133" y="3259667"/>
            <a:ext cx="7027333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70" i="0" b="1">
                <a:solidFill>
                  <a:srgbClr val="4F3433"/>
                </a:solidFill>
                <a:latin typeface="Montserrat"/>
              </a:rPr>
              <a:t>One practice alone changed nothing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236133" y="4902200"/>
            <a:ext cx="7027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Farms using a single regenerative practice looked like conventional farms.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ream 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988733"/>
            <a:ext cx="7924800" cy="48429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7" y="3666067"/>
            <a:ext cx="84667" cy="567267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733" y="6434667"/>
            <a:ext cx="1270000" cy="11006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236133" y="3598333"/>
            <a:ext cx="7027333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70" i="0" b="1">
                <a:solidFill>
                  <a:srgbClr val="4F3433"/>
                </a:solidFill>
                <a:latin typeface="Montserrat"/>
              </a:rPr>
              <a:t>Read the paper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236133" y="4572000"/>
            <a:ext cx="7027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Lundgren et al., Environmental Research: Food Systems, 2026.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
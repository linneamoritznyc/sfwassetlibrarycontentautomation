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 Clea Chandma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83000"/>
            <a:ext cx="2624667" cy="2624667"/>
          </a:xfrm>
          <a:prstGeom prst="rect">
            <a:avLst/>
          </a:prstGeom>
        </p:spPr>
      </p:pic>
      <p:pic>
        <p:nvPicPr>
          <p:cNvPr id="4" name="photo-placeholder Kelda Lorax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683000"/>
            <a:ext cx="2624667" cy="2624667"/>
          </a:xfrm>
          <a:prstGeom prst="rect">
            <a:avLst/>
          </a:prstGeom>
        </p:spPr>
      </p:pic>
      <p:pic>
        <p:nvPicPr>
          <p:cNvPr id="5" name="portrait Dr. Carla Portuga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900333"/>
            <a:ext cx="2624667" cy="2624667"/>
          </a:xfrm>
          <a:prstGeom prst="rect">
            <a:avLst/>
          </a:prstGeom>
        </p:spPr>
      </p:pic>
      <p:pic>
        <p:nvPicPr>
          <p:cNvPr id="6" name="portrait Kavi Reddy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6900333"/>
            <a:ext cx="2624667" cy="2624667"/>
          </a:xfrm>
          <a:prstGeom prst="rect">
            <a:avLst/>
          </a:prstGeom>
        </p:spPr>
      </p:pic>
      <p:pic>
        <p:nvPicPr>
          <p:cNvPr id="7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8" name="label INTERNATIONAL WOMEN'"/>
          <p:cNvSpPr txBox="1"/>
          <p:nvPr/>
        </p:nvSpPr>
        <p:spPr>
          <a:xfrm>
            <a:off x="762000" y="677333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INTERNATIONAL WOMEN'S DAY</a:t>
            </a:r>
          </a:p>
        </p:txBody>
      </p:sp>
      <p:sp>
        <p:nvSpPr>
          <p:cNvPr id="9" name="heading"/>
          <p:cNvSpPr txBox="1"/>
          <p:nvPr/>
        </p:nvSpPr>
        <p:spPr>
          <a:xfrm>
            <a:off x="762000" y="1185333"/>
            <a:ext cx="7620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70" i="0" b="1">
                <a:solidFill>
                  <a:srgbClr val="F4F1EA"/>
                </a:solidFill>
                <a:latin typeface="Montserrat"/>
              </a:rPr>
              <a:t>Four women on permaculture, soil and community</a:t>
            </a:r>
          </a:p>
        </p:txBody>
      </p:sp>
      <p:sp>
        <p:nvSpPr>
          <p:cNvPr id="10" name="label PHOTO: CLEA"/>
          <p:cNvSpPr txBox="1"/>
          <p:nvPr/>
        </p:nvSpPr>
        <p:spPr>
          <a:xfrm>
            <a:off x="1312333" y="4809067"/>
            <a:ext cx="2286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70" i="0" b="0">
                <a:solidFill>
                  <a:srgbClr val="F4F1EA"/>
                </a:solidFill>
                <a:latin typeface="Pathway Gothic One"/>
              </a:rPr>
              <a:t>PHOTO: CLEA</a:t>
            </a:r>
          </a:p>
        </p:txBody>
      </p:sp>
      <p:sp>
        <p:nvSpPr>
          <p:cNvPr id="11" name="label CLEA CHANDMAL"/>
          <p:cNvSpPr txBox="1"/>
          <p:nvPr/>
        </p:nvSpPr>
        <p:spPr>
          <a:xfrm>
            <a:off x="508000" y="6426200"/>
            <a:ext cx="3894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CLEA CHANDMAL</a:t>
            </a:r>
          </a:p>
        </p:txBody>
      </p:sp>
      <p:sp>
        <p:nvSpPr>
          <p:cNvPr id="12" name="label PHOTO: KELDA"/>
          <p:cNvSpPr txBox="1"/>
          <p:nvPr/>
        </p:nvSpPr>
        <p:spPr>
          <a:xfrm>
            <a:off x="4868333" y="4809067"/>
            <a:ext cx="2286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70" i="0" b="0">
                <a:solidFill>
                  <a:srgbClr val="F4F1EA"/>
                </a:solidFill>
                <a:latin typeface="Pathway Gothic One"/>
              </a:rPr>
              <a:t>PHOTO: KELDA</a:t>
            </a:r>
          </a:p>
        </p:txBody>
      </p:sp>
      <p:sp>
        <p:nvSpPr>
          <p:cNvPr id="13" name="label KELDA LORAX"/>
          <p:cNvSpPr txBox="1"/>
          <p:nvPr/>
        </p:nvSpPr>
        <p:spPr>
          <a:xfrm>
            <a:off x="4064000" y="6426200"/>
            <a:ext cx="3894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KELDA LORAX</a:t>
            </a:r>
          </a:p>
        </p:txBody>
      </p:sp>
      <p:sp>
        <p:nvSpPr>
          <p:cNvPr id="14" name="label DR. CARLA PORTUGAL"/>
          <p:cNvSpPr txBox="1"/>
          <p:nvPr/>
        </p:nvSpPr>
        <p:spPr>
          <a:xfrm>
            <a:off x="508000" y="9643533"/>
            <a:ext cx="3894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DR. CARLA PORTUGAL</a:t>
            </a:r>
          </a:p>
        </p:txBody>
      </p:sp>
      <p:sp>
        <p:nvSpPr>
          <p:cNvPr id="15" name="label KAVI REDDY"/>
          <p:cNvSpPr txBox="1"/>
          <p:nvPr/>
        </p:nvSpPr>
        <p:spPr>
          <a:xfrm>
            <a:off x="4064000" y="9643533"/>
            <a:ext cx="3894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KAVI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4" name="label THE PANEL"/>
          <p:cNvSpPr txBox="1"/>
          <p:nvPr/>
        </p:nvSpPr>
        <p:spPr>
          <a:xfrm>
            <a:off x="762000" y="677333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THE PANEL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1185333"/>
            <a:ext cx="7620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i="0" b="1">
                <a:solidFill>
                  <a:srgbClr val="F4F1EA"/>
                </a:solidFill>
                <a:latin typeface="Montserrat"/>
              </a:rPr>
              <a:t>Women Seeding Regenerative Futures</a:t>
            </a:r>
          </a:p>
        </p:txBody>
      </p:sp>
      <p:sp>
        <p:nvSpPr>
          <p:cNvPr id="6" name="label CLEA CHANDMAL"/>
          <p:cNvSpPr txBox="1"/>
          <p:nvPr/>
        </p:nvSpPr>
        <p:spPr>
          <a:xfrm>
            <a:off x="762000" y="3048000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30" i="0" b="0">
                <a:solidFill>
                  <a:srgbClr val="59A66C"/>
                </a:solidFill>
                <a:latin typeface="Pathway Gothic One"/>
              </a:rPr>
              <a:t>CLEA CHANDMAL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3522133"/>
            <a:ext cx="6265333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70" i="0" b="0">
                <a:solidFill>
                  <a:srgbClr val="E3DDCC"/>
                </a:solidFill>
                <a:latin typeface="Source Sans 3"/>
              </a:rPr>
              <a:t>Permaculture science rooted in plant molecular physiology.</a:t>
            </a:r>
          </a:p>
        </p:txBody>
      </p:sp>
      <p:sp>
        <p:nvSpPr>
          <p:cNvPr id="8" name="label KELDA LORAX"/>
          <p:cNvSpPr txBox="1"/>
          <p:nvPr/>
        </p:nvSpPr>
        <p:spPr>
          <a:xfrm>
            <a:off x="762000" y="4927600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30" i="0" b="0">
                <a:solidFill>
                  <a:srgbClr val="59A66C"/>
                </a:solidFill>
                <a:latin typeface="Pathway Gothic One"/>
              </a:rPr>
              <a:t>KELDA LORAX</a:t>
            </a:r>
          </a:p>
        </p:txBody>
      </p:sp>
      <p:sp>
        <p:nvSpPr>
          <p:cNvPr id="9" name="body"/>
          <p:cNvSpPr txBox="1"/>
          <p:nvPr/>
        </p:nvSpPr>
        <p:spPr>
          <a:xfrm>
            <a:off x="762000" y="5401733"/>
            <a:ext cx="6265333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70" i="0" b="0">
                <a:solidFill>
                  <a:srgbClr val="E3DDCC"/>
                </a:solidFill>
                <a:latin typeface="Source Sans 3"/>
              </a:rPr>
              <a:t>30 years of permaculture education and a deep commitment to justice in land relationships.</a:t>
            </a:r>
          </a:p>
        </p:txBody>
      </p:sp>
      <p:sp>
        <p:nvSpPr>
          <p:cNvPr id="10" name="label DR. CARLA PORTUGAL"/>
          <p:cNvSpPr txBox="1"/>
          <p:nvPr/>
        </p:nvSpPr>
        <p:spPr>
          <a:xfrm>
            <a:off x="762000" y="6807200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30" i="0" b="0">
                <a:solidFill>
                  <a:srgbClr val="59A66C"/>
                </a:solidFill>
                <a:latin typeface="Pathway Gothic One"/>
              </a:rPr>
              <a:t>DR. CARLA PORTUGAL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762000" y="7281333"/>
            <a:ext cx="6265333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70" i="0" b="0">
                <a:solidFill>
                  <a:srgbClr val="E3DDCC"/>
                </a:solidFill>
                <a:latin typeface="Source Sans 3"/>
              </a:rPr>
              <a:t>Research across Brazil and the United States. Instructor, mentor and translator at the Soil Food Web School.</a:t>
            </a:r>
          </a:p>
        </p:txBody>
      </p:sp>
      <p:sp>
        <p:nvSpPr>
          <p:cNvPr id="12" name="label KAVI REDDY"/>
          <p:cNvSpPr txBox="1"/>
          <p:nvPr/>
        </p:nvSpPr>
        <p:spPr>
          <a:xfrm>
            <a:off x="762000" y="8686800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30" i="0" b="0">
                <a:solidFill>
                  <a:srgbClr val="59A66C"/>
                </a:solidFill>
                <a:latin typeface="Pathway Gothic One"/>
              </a:rPr>
              <a:t>KAVI REDDY</a:t>
            </a:r>
          </a:p>
        </p:txBody>
      </p:sp>
      <p:sp>
        <p:nvSpPr>
          <p:cNvPr id="13" name="body"/>
          <p:cNvSpPr txBox="1"/>
          <p:nvPr/>
        </p:nvSpPr>
        <p:spPr>
          <a:xfrm>
            <a:off x="762000" y="9160933"/>
            <a:ext cx="6265333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70" i="0" b="0">
                <a:solidFill>
                  <a:srgbClr val="E3DDCC"/>
                </a:solidFill>
                <a:latin typeface="Source Sans 3"/>
              </a:rPr>
              <a:t>Systems thinking across soil fertility, food systems and global partnerships.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4" name="label WATCH THE FULL PANEL"/>
          <p:cNvSpPr txBox="1"/>
          <p:nvPr/>
        </p:nvSpPr>
        <p:spPr>
          <a:xfrm>
            <a:off x="762000" y="677333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WATCH THE FULL PANEL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1185333"/>
            <a:ext cx="7620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i="0" b="1">
                <a:solidFill>
                  <a:srgbClr val="F4F1EA"/>
                </a:solidFill>
                <a:latin typeface="Montserrat"/>
              </a:rPr>
              <a:t>Learn and grow together with four extraordinary forces of nature.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62000" y="4741333"/>
            <a:ext cx="7450667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70" i="0" b="0">
                <a:solidFill>
                  <a:srgbClr val="E3DDCC"/>
                </a:solidFill>
                <a:latin typeface="Source Sans 3"/>
              </a:rPr>
              <a:t>An all-woman panel of experts in permaculture and regenerative design, recorded live on 2 September 2026. Free to watch.</a:t>
            </a:r>
          </a:p>
        </p:txBody>
      </p:sp>
      <p:sp>
        <p:nvSpPr>
          <p:cNvPr id="7" name="label LINK IN BIO"/>
          <p:cNvSpPr txBox="1"/>
          <p:nvPr/>
        </p:nvSpPr>
        <p:spPr>
          <a:xfrm>
            <a:off x="762000" y="6773333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729" i="0" b="0">
                <a:solidFill>
                  <a:srgbClr val="59A66C"/>
                </a:solidFill>
                <a:latin typeface="Pathway Gothic One"/>
              </a:rPr>
              <a:t>LINK IN BIO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7408333"/>
            <a:ext cx="7450667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30" i="0" b="0">
                <a:solidFill>
                  <a:srgbClr val="E3DDCC"/>
                </a:solidFill>
                <a:latin typeface="Source Sans 3"/>
              </a:rPr>
              <a:t>webinar.soilfoodweb.com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
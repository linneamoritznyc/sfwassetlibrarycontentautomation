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earthworm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4064000"/>
            <a:ext cx="4453467" cy="5418667"/>
          </a:xfrm>
          <a:prstGeom prst="rect">
            <a:avLst/>
          </a:prstGeom>
        </p:spPr>
      </p:pic>
      <p:pic>
        <p:nvPicPr>
          <p:cNvPr id="4" name="drawn-scarf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333" y="3640667"/>
            <a:ext cx="3386667" cy="3386667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6" name="heading"/>
          <p:cNvSpPr txBox="1"/>
          <p:nvPr/>
        </p:nvSpPr>
        <p:spPr>
          <a:xfrm>
            <a:off x="762000" y="1016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7330" i="0" b="1">
                <a:solidFill>
                  <a:srgbClr val="4F3433"/>
                </a:solidFill>
                <a:latin typeface="Fredoka"/>
              </a:rPr>
              <a:t>Your worms get cold too.</a:t>
            </a:r>
          </a:p>
        </p:txBody>
      </p:sp>
      <p:sp>
        <p:nvSpPr>
          <p:cNvPr id="7" name="label a red wiggler, ready for"/>
          <p:cNvSpPr txBox="1"/>
          <p:nvPr/>
        </p:nvSpPr>
        <p:spPr>
          <a:xfrm>
            <a:off x="762000" y="9736667"/>
            <a:ext cx="5080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a red wiggler, ready for winter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rawn-thermomet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333" y="4402667"/>
            <a:ext cx="2540000" cy="5418667"/>
          </a:xfrm>
          <a:prstGeom prst="rect">
            <a:avLst/>
          </a:prstGeom>
        </p:spPr>
      </p:pic>
      <p:pic>
        <p:nvPicPr>
          <p:cNvPr id="4" name="earthworm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1333" y="5926667"/>
            <a:ext cx="2641600" cy="3217333"/>
          </a:xfrm>
          <a:prstGeom prst="rect">
            <a:avLst/>
          </a:prstGeom>
        </p:spPr>
      </p:pic>
      <p:pic>
        <p:nvPicPr>
          <p:cNvPr id="5" name="arrow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3867" y="5367867"/>
            <a:ext cx="770467" cy="1583267"/>
          </a:xfrm>
          <a:prstGeom prst="rect">
            <a:avLst/>
          </a:prstGeom>
        </p:spPr>
      </p:pic>
      <p:pic>
        <p:nvPicPr>
          <p:cNvPr id="6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7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330" i="0" b="1">
                <a:solidFill>
                  <a:srgbClr val="4F3433"/>
                </a:solidFill>
                <a:latin typeface="Fredoka"/>
              </a:rPr>
              <a:t>Red wigglers slow down below about 10°C and die if the bin freezes.</a:t>
            </a:r>
          </a:p>
        </p:txBody>
      </p:sp>
      <p:sp>
        <p:nvSpPr>
          <p:cNvPr id="8" name="label about 10°C: worms slow d"/>
          <p:cNvSpPr txBox="1"/>
          <p:nvPr/>
        </p:nvSpPr>
        <p:spPr>
          <a:xfrm>
            <a:off x="4402667" y="4741333"/>
            <a:ext cx="3048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about 10°C: worms slow down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rawn-shed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4402667"/>
            <a:ext cx="7112000" cy="5418667"/>
          </a:xfrm>
          <a:prstGeom prst="rect">
            <a:avLst/>
          </a:prstGeom>
        </p:spPr>
      </p:pic>
      <p:pic>
        <p:nvPicPr>
          <p:cNvPr id="4" name="arrow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867" y="9287933"/>
            <a:ext cx="1032933" cy="711200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6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870" i="0" b="1">
                <a:solidFill>
                  <a:srgbClr val="4F3433"/>
                </a:solidFill>
                <a:latin typeface="Fredoka"/>
              </a:rPr>
              <a:t>Move the bin to a shed, garage or basement.</a:t>
            </a:r>
          </a:p>
        </p:txBody>
      </p:sp>
      <p:sp>
        <p:nvSpPr>
          <p:cNvPr id="7" name="label the worm bin, out of the"/>
          <p:cNvSpPr txBox="1"/>
          <p:nvPr/>
        </p:nvSpPr>
        <p:spPr>
          <a:xfrm>
            <a:off x="4741333" y="9990667"/>
            <a:ext cx="2540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the worm bin, out of the frost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rawn-cardboard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064000"/>
            <a:ext cx="7620000" cy="5588000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5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870" i="0" b="1">
                <a:solidFill>
                  <a:srgbClr val="4F3433"/>
                </a:solidFill>
                <a:latin typeface="Fredoka"/>
              </a:rPr>
              <a:t>Add extra shredded cardboard as insulation, and feed less.</a:t>
            </a:r>
          </a:p>
        </p:txBody>
      </p:sp>
      <p:sp>
        <p:nvSpPr>
          <p:cNvPr id="6" name="label a thick layer of shredde"/>
          <p:cNvSpPr txBox="1"/>
          <p:nvPr/>
        </p:nvSpPr>
        <p:spPr>
          <a:xfrm>
            <a:off x="762000" y="9821333"/>
            <a:ext cx="5080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a thick layer of shredded cardboard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rawn-spong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67" y="3894667"/>
            <a:ext cx="6434667" cy="5757333"/>
          </a:xfrm>
          <a:prstGeom prst="rect">
            <a:avLst/>
          </a:prstGeom>
        </p:spPr>
      </p:pic>
      <p:pic>
        <p:nvPicPr>
          <p:cNvPr id="4" name="arrow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067" y="8864600"/>
            <a:ext cx="778933" cy="448733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6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870" i="0" b="1">
                <a:solidFill>
                  <a:srgbClr val="4F3433"/>
                </a:solidFill>
                <a:latin typeface="Fredoka"/>
              </a:rPr>
              <a:t>Keep the bedding damp, like a wrung-out sponge.</a:t>
            </a:r>
          </a:p>
        </p:txBody>
      </p:sp>
      <p:sp>
        <p:nvSpPr>
          <p:cNvPr id="7" name="label a few drops, not a strea"/>
          <p:cNvSpPr txBox="1"/>
          <p:nvPr/>
        </p:nvSpPr>
        <p:spPr>
          <a:xfrm>
            <a:off x="5080000" y="9313333"/>
            <a:ext cx="2370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a few drops, not a stream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
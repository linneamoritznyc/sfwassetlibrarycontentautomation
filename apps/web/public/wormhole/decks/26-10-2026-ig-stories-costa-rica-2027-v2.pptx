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668000"/>
            <a:ext cx="10287000" cy="7620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334750"/>
            <a:ext cx="89154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850" b="1">
                <a:solidFill>
                  <a:srgbClr val="F4F1EA"/>
                </a:solidFill>
                <a:latin typeface="Montserrat"/>
              </a:rPr>
              <a:t>We're going back to Costa 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0"/>
            <a:ext cx="8915400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850" b="1">
                <a:solidFill>
                  <a:srgbClr val="DDE5D4"/>
                </a:solidFill>
                <a:latin typeface="Montserrat"/>
              </a:rPr>
              <a:t>Accelerator Workshop · 18 to 29 January 2027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7239000"/>
            <a:ext cx="3219450" cy="36195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096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953500"/>
            <a:ext cx="7810500" cy="57150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429750"/>
            <a:ext cx="6477000" cy="2317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212" b="1">
                <a:solidFill>
                  <a:srgbClr val="F4F1EA"/>
                </a:solidFill>
                <a:latin typeface="Montserrat"/>
              </a:rPr>
              <a:t>A year of hands-on experience in 10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975592"/>
            <a:ext cx="6477000" cy="137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F4F1EA"/>
                </a:solidFill>
                <a:latin typeface="Montserrat"/>
              </a:rPr>
              <a:t>What takes 18 to 24 months alone, you do here in two weeks, with mentors beside you.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8191500"/>
            <a:ext cx="6543675" cy="10467975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381250"/>
            <a:ext cx="5334000" cy="1988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382" b="1">
                <a:solidFill>
                  <a:srgbClr val="22371F"/>
                </a:solidFill>
                <a:latin typeface="Montserrat"/>
              </a:rPr>
              <a:t>Where we learn</a:t>
            </a:r>
          </a:p>
        </p:txBody>
      </p:sp>
      <p:pic>
        <p:nvPicPr>
          <p:cNvPr id="3" name="Picture 2" descr="_s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4572000"/>
            <a:ext cx="7429500" cy="7810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0287000"/>
            <a:ext cx="4953000" cy="4476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572750"/>
            <a:ext cx="3810000" cy="3590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0" y="12763500"/>
            <a:ext cx="4381500" cy="1802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22371F"/>
                </a:solidFill>
                <a:latin typeface="Montserrat"/>
              </a:rPr>
              <a:t>Armonía Agricultura Orgánica, an organic farm on a school campus, 11 km north of San José.</a:t>
            </a:r>
          </a:p>
        </p:txBody>
      </p:sp>
      <p:pic>
        <p:nvPicPr>
          <p:cNvPr id="7" name="Picture 6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3000"/>
            <a:ext cx="4210050" cy="34290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81250"/>
            <a:ext cx="5715000" cy="1228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857500"/>
            <a:ext cx="4762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156826"/>
                </a:solidFill>
                <a:latin typeface="Montserrat"/>
              </a:rPr>
              <a:t>WEEK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33750"/>
            <a:ext cx="4762500" cy="1329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020" b="1">
                <a:solidFill>
                  <a:srgbClr val="4F3433"/>
                </a:solidFill>
                <a:latin typeface="Montserrat"/>
              </a:rPr>
              <a:t>Compost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34000"/>
            <a:ext cx="4572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Feedstocks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Recipes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Building the pile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Hydrating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Monitoring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Turning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382250"/>
            <a:ext cx="4572000" cy="1455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0">
                <a:solidFill>
                  <a:srgbClr val="4F3433"/>
                </a:solidFill>
                <a:latin typeface="Montserrat"/>
              </a:rPr>
              <a:t>Several thermophilic piles, built from scratch with your team.</a:t>
            </a:r>
          </a:p>
        </p:txBody>
      </p:sp>
      <p:pic>
        <p:nvPicPr>
          <p:cNvPr id="8" name="Picture 7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857500"/>
            <a:ext cx="4000500" cy="8572500"/>
          </a:xfrm>
          <a:prstGeom prst="rect">
            <a:avLst/>
          </a:prstGeom>
        </p:spPr>
      </p:pic>
      <p:pic>
        <p:nvPicPr>
          <p:cNvPr id="9" name="Picture 8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381250"/>
            <a:ext cx="8191500" cy="78105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" y="2857500"/>
            <a:ext cx="4000500" cy="857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858500"/>
            <a:ext cx="8915400" cy="22349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084" b="1">
                <a:solidFill>
                  <a:srgbClr val="F4F1EA"/>
                </a:solidFill>
                <a:latin typeface="Montserrat"/>
              </a:rPr>
              <a:t>Several piles, different recipes.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39750"/>
            <a:ext cx="891540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000" b="0">
                <a:solidFill>
                  <a:srgbClr val="DDE5D4"/>
                </a:solidFill>
                <a:latin typeface="Montserrat"/>
              </a:rPr>
              <a:t>Reading each pile and adjusting it is where you learn the most.</a:t>
            </a:r>
          </a:p>
        </p:txBody>
      </p:sp>
      <p:pic>
        <p:nvPicPr>
          <p:cNvPr id="6" name="Picture 5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1250"/>
            <a:ext cx="8915400" cy="8572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9906000"/>
            <a:ext cx="7772400" cy="447675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05050" y="10382250"/>
            <a:ext cx="6667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E8D8C8"/>
                </a:solidFill>
                <a:latin typeface="Montserrat"/>
              </a:rPr>
              <a:t>THE WEEKEND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5050" y="10858500"/>
            <a:ext cx="6858000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680" b="1">
                <a:solidFill>
                  <a:srgbClr val="F4F1EA"/>
                </a:solidFill>
                <a:latin typeface="Montserrat"/>
              </a:rPr>
              <a:t>A break in Costa 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5050" y="12763500"/>
            <a:ext cx="6667500" cy="1002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0">
                <a:solidFill>
                  <a:srgbClr val="F4F1EA"/>
                </a:solidFill>
                <a:latin typeface="Montserrat"/>
              </a:rPr>
              <a:t>Check your piles in the morning, then explore the towns nearby.</a:t>
            </a:r>
          </a:p>
        </p:txBody>
      </p:sp>
      <p:pic>
        <p:nvPicPr>
          <p:cNvPr id="7" name="Picture 6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0" y="11239500"/>
            <a:ext cx="3048000" cy="34290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906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57500" y="10096500"/>
            <a:ext cx="7429500" cy="8191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668000"/>
            <a:ext cx="6286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59A66C"/>
                </a:solidFill>
                <a:latin typeface="Montserrat"/>
              </a:rPr>
              <a:t>WEEK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1144250"/>
            <a:ext cx="6286500" cy="1864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031" b="1">
                <a:solidFill>
                  <a:srgbClr val="F4F1EA"/>
                </a:solidFill>
                <a:latin typeface="Montserrat"/>
              </a:rPr>
              <a:t>Liquid amendments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3144500"/>
            <a:ext cx="6096000" cy="137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Extracts · teas · nematode extractions · protozoan infusions · field application</a:t>
            </a:r>
          </a:p>
        </p:txBody>
      </p:sp>
      <p:pic>
        <p:nvPicPr>
          <p:cNvPr id="7" name="Picture 6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0" y="11430000"/>
            <a:ext cx="4286250" cy="6858000"/>
          </a:xfrm>
          <a:prstGeom prst="rect">
            <a:avLst/>
          </a:prstGeom>
        </p:spPr>
      </p:pic>
      <p:pic>
        <p:nvPicPr>
          <p:cNvPr id="8" name="Picture 7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382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11239500"/>
            <a:ext cx="8915400" cy="3619500"/>
          </a:xfrm>
          <a:prstGeom prst="rect">
            <a:avLst/>
          </a:prstGeom>
          <a:solidFill>
            <a:srgbClr val="D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11715750"/>
            <a:ext cx="7962900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680" b="1">
                <a:solidFill>
                  <a:srgbClr val="22371F"/>
                </a:solidFill>
                <a:latin typeface="Montserrat"/>
              </a:rPr>
              <a:t>At the microscope,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13620750"/>
            <a:ext cx="7962900" cy="1002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0">
                <a:solidFill>
                  <a:srgbClr val="22371F"/>
                </a:solidFill>
                <a:latin typeface="Montserrat"/>
              </a:rPr>
              <a:t>You check everything you make. Microscopes are on site.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9810750"/>
            <a:ext cx="3267075" cy="2667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667000"/>
            <a:ext cx="8915400" cy="379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212" b="1">
                <a:solidFill>
                  <a:srgbClr val="F4F1EA"/>
                </a:solidFill>
                <a:latin typeface="Montserrat"/>
              </a:rPr>
              <a:t>“Be prepared to work hard, listen, and watch everything very intently! You will meet some awesome people and make new friends for life.”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25000"/>
            <a:ext cx="8915400" cy="575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1">
                <a:solidFill>
                  <a:srgbClr val="DDE5D4"/>
                </a:solidFill>
                <a:latin typeface="Montserrat"/>
              </a:rPr>
              <a:t>Donell Frank, Costa Rica workshop, March 2025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858500"/>
            <a:ext cx="3819525" cy="8181975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2382500"/>
            <a:ext cx="3390900" cy="3810000"/>
          </a:xfrm>
          <a:prstGeom prst="rect">
            <a:avLst/>
          </a:prstGeom>
        </p:spPr>
      </p:pic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953750"/>
            <a:ext cx="5114925" cy="818197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50"/>
            <a:ext cx="4191000" cy="1238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0" y="2381250"/>
            <a:ext cx="4953000" cy="1823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4914" b="1">
                <a:solidFill>
                  <a:srgbClr val="4F3433"/>
                </a:solidFill>
                <a:latin typeface="Montserrat"/>
              </a:rP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0" y="4476750"/>
            <a:ext cx="4857750" cy="801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10 days of training and fieldwork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The chance to graduate BioComplete™ Compost Production and Biological Liquid Amendments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2 weeks of live access to mentors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Course materials after the workshop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Lunch on site, Monday to Friday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SFW swag to take home</a:t>
            </a:r>
          </a:p>
        </p:txBody>
      </p:sp>
      <p:pic>
        <p:nvPicPr>
          <p:cNvPr id="5" name="Picture 4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01500"/>
            <a:ext cx="3505200" cy="28575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572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7239000"/>
            <a:ext cx="8915400" cy="7429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715250"/>
            <a:ext cx="7962900" cy="104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382" b="1">
                <a:solidFill>
                  <a:srgbClr val="F4F1EA"/>
                </a:solidFill>
                <a:latin typeface="Montserrat"/>
              </a:rPr>
              <a:t>Who can join?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144000"/>
            <a:ext cx="7962900" cy="2975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DDE5D4"/>
                </a:solidFill>
                <a:latin typeface="Montserrat"/>
              </a:rPr>
              <a:t>Foundation Courses students who have finished Foundation Course 3 before 18 January.</a:t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DDE5D4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DDE5D4"/>
                </a:solidFill>
                <a:latin typeface="Montserrat"/>
              </a:rPr>
              <a:t>You take a short online pre-workshop course, and book your own room nearby.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3144500"/>
            <a:ext cx="2543175" cy="28575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9525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572500"/>
            <a:ext cx="10287000" cy="9715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34500"/>
            <a:ext cx="89154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850" b="1">
                <a:solidFill>
                  <a:srgbClr val="F4F1EA"/>
                </a:solidFill>
                <a:latin typeface="Montserrat"/>
              </a:rPr>
              <a:t>The early bird ends 4 November.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11000"/>
            <a:ext cx="8915400" cy="1108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850" b="1">
                <a:solidFill>
                  <a:srgbClr val="DDE5D4"/>
                </a:solidFill>
                <a:latin typeface="Montserrat"/>
              </a:rPr>
              <a:t>Accelerator Workshop, Costa Rica</a:t>
            </a:r>
          </a:p>
          <a:p>
            <a:pPr algn="l">
              <a:lnSpc>
                <a:spcPct val="114800"/>
              </a:lnSpc>
            </a:pPr>
            <a:r>
              <a:rPr sz="2850" b="1">
                <a:solidFill>
                  <a:srgbClr val="DDE5D4"/>
                </a:solidFill>
                <a:latin typeface="Montserrat"/>
              </a:rPr>
              <a:t>18 to 29 January 2027</a:t>
            </a:r>
          </a:p>
        </p:txBody>
      </p:sp>
      <p:pic>
        <p:nvPicPr>
          <p:cNvPr id="6" name="Picture 5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5334000"/>
            <a:ext cx="2314575" cy="496252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143250"/>
            <a:ext cx="5905500" cy="55626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0" y="1714500"/>
            <a:ext cx="2847975" cy="6105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14500"/>
            <a:ext cx="3505200" cy="28575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239000"/>
            <a:ext cx="2876550" cy="3238500"/>
          </a:xfrm>
          <a:prstGeom prst="rect">
            <a:avLst/>
          </a:prstGeom>
        </p:spPr>
      </p:pic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250" y="5715000"/>
            <a:ext cx="2733675" cy="437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0858500"/>
            <a:ext cx="8915400" cy="22349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6084" b="1">
                <a:solidFill>
                  <a:srgbClr val="22371F"/>
                </a:solidFill>
                <a:latin typeface="Montserrat"/>
              </a:rPr>
              <a:t>Costa Rica,</a:t>
            </a:r>
          </a:p>
          <a:p>
            <a:pPr algn="ctr">
              <a:lnSpc>
                <a:spcPct val="88560"/>
              </a:lnSpc>
            </a:pPr>
            <a:r>
              <a:rPr sz="6084" b="1">
                <a:solidFill>
                  <a:srgbClr val="22371F"/>
                </a:solidFill>
                <a:latin typeface="Montserrat"/>
              </a:rPr>
              <a:t>here we 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335000"/>
            <a:ext cx="8915400" cy="681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18 to 29 January 2027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
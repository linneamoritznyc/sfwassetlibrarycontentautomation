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ark-soil-clum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67" y="5418667"/>
            <a:ext cx="4910667" cy="3005667"/>
          </a:xfrm>
          <a:prstGeom prst="rect">
            <a:avLst/>
          </a:prstGeom>
        </p:spPr>
      </p:pic>
      <p:pic>
        <p:nvPicPr>
          <p:cNvPr id="4" name="level-pil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9398000"/>
            <a:ext cx="2032000" cy="541867"/>
          </a:xfrm>
          <a:prstGeom prst="rect">
            <a:avLst/>
          </a:prstGeom>
        </p:spPr>
      </p:pic>
      <p:pic>
        <p:nvPicPr>
          <p:cNvPr id="5" name="level-pil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667" y="9398000"/>
            <a:ext cx="2032000" cy="5418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Soil aggregates, explained twice. Level 1 for new gardeners, level 2 for consultants.</a:t>
            </a:r>
          </a:p>
        </p:txBody>
      </p:sp>
      <p:sp>
        <p:nvSpPr>
          <p:cNvPr id="8" name="label Level 1"/>
          <p:cNvSpPr txBox="1"/>
          <p:nvPr/>
        </p:nvSpPr>
        <p:spPr>
          <a:xfrm>
            <a:off x="1016000" y="9516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4F3433"/>
                </a:solidFill>
                <a:latin typeface="Montserrat"/>
              </a:rPr>
              <a:t>Level 1</a:t>
            </a:r>
          </a:p>
        </p:txBody>
      </p:sp>
      <p:sp>
        <p:nvSpPr>
          <p:cNvPr id="9" name="label Level 2"/>
          <p:cNvSpPr txBox="1"/>
          <p:nvPr/>
        </p:nvSpPr>
        <p:spPr>
          <a:xfrm>
            <a:off x="3386667" y="9516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F4F1EA"/>
                </a:solidFill>
                <a:latin typeface="Montserrat"/>
              </a:rPr>
              <a:t>Level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evel-pi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2032000" cy="541867"/>
          </a:xfrm>
          <a:prstGeom prst="rect">
            <a:avLst/>
          </a:prstGeom>
        </p:spPr>
      </p:pic>
      <p:pic>
        <p:nvPicPr>
          <p:cNvPr id="4" name="drawn-crumb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4910667"/>
            <a:ext cx="7620000" cy="50800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00" y="8669867"/>
            <a:ext cx="685800" cy="11176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label Level 1"/>
          <p:cNvSpPr txBox="1"/>
          <p:nvPr/>
        </p:nvSpPr>
        <p:spPr>
          <a:xfrm>
            <a:off x="762000" y="880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4F3433"/>
                </a:solidFill>
                <a:latin typeface="Montserrat"/>
              </a:rPr>
              <a:t>Level 1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Level 1: Healthy soil clumps into crumbs. Those crumbs are aggregates.</a:t>
            </a:r>
          </a:p>
        </p:txBody>
      </p:sp>
      <p:sp>
        <p:nvSpPr>
          <p:cNvPr id="9" name="label one crumb, one aggregate"/>
          <p:cNvSpPr txBox="1"/>
          <p:nvPr/>
        </p:nvSpPr>
        <p:spPr>
          <a:xfrm>
            <a:off x="5080000" y="98213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one crumb, one aggregate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evel-pi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2032000" cy="541867"/>
          </a:xfrm>
          <a:prstGeom prst="rect">
            <a:avLst/>
          </a:prstGeom>
        </p:spPr>
      </p:pic>
      <p:pic>
        <p:nvPicPr>
          <p:cNvPr id="4" name="drawn-glued-crumb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33" y="4402667"/>
            <a:ext cx="7281333" cy="55880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33" y="4766733"/>
            <a:ext cx="1117600" cy="694267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733" y="5367867"/>
            <a:ext cx="524933" cy="1117600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9400" y="8043333"/>
            <a:ext cx="1286933" cy="1100667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9" name="label Level 1"/>
          <p:cNvSpPr txBox="1"/>
          <p:nvPr/>
        </p:nvSpPr>
        <p:spPr>
          <a:xfrm>
            <a:off x="762000" y="880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4F3433"/>
                </a:solidFill>
                <a:latin typeface="Montserrat"/>
              </a:rPr>
              <a:t>Level 1</a:t>
            </a:r>
          </a:p>
        </p:txBody>
      </p:sp>
      <p:sp>
        <p:nvSpPr>
          <p:cNvPr id="10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Level 1: Roots, fungi and bacteria glue them together.</a:t>
            </a:r>
          </a:p>
        </p:txBody>
      </p:sp>
      <p:sp>
        <p:nvSpPr>
          <p:cNvPr id="11" name="label a root"/>
          <p:cNvSpPr txBox="1"/>
          <p:nvPr/>
        </p:nvSpPr>
        <p:spPr>
          <a:xfrm>
            <a:off x="677333" y="4402667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root</a:t>
            </a:r>
          </a:p>
        </p:txBody>
      </p:sp>
      <p:sp>
        <p:nvSpPr>
          <p:cNvPr id="12" name="label fungal threads"/>
          <p:cNvSpPr txBox="1"/>
          <p:nvPr/>
        </p:nvSpPr>
        <p:spPr>
          <a:xfrm>
            <a:off x="6434667" y="47413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fungal threads</a:t>
            </a:r>
          </a:p>
        </p:txBody>
      </p:sp>
      <p:sp>
        <p:nvSpPr>
          <p:cNvPr id="13" name="label bacteria"/>
          <p:cNvSpPr txBox="1"/>
          <p:nvPr/>
        </p:nvSpPr>
        <p:spPr>
          <a:xfrm>
            <a:off x="6434667" y="9144000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bacteria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evel-pi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2032000" cy="541867"/>
          </a:xfrm>
          <a:prstGeom prst="rect">
            <a:avLst/>
          </a:prstGeom>
        </p:spPr>
      </p:pic>
      <p:pic>
        <p:nvPicPr>
          <p:cNvPr id="4" name="drawn-pore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67" y="4572000"/>
            <a:ext cx="7450667" cy="48260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8415867"/>
            <a:ext cx="618067" cy="1329267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533" y="6976533"/>
            <a:ext cx="677333" cy="2683933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4733" y="8898467"/>
            <a:ext cx="1032933" cy="838200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9" name="label Level 1"/>
          <p:cNvSpPr txBox="1"/>
          <p:nvPr/>
        </p:nvSpPr>
        <p:spPr>
          <a:xfrm>
            <a:off x="762000" y="880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4F3433"/>
                </a:solidFill>
                <a:latin typeface="Montserrat"/>
              </a:rPr>
              <a:t>Level 1</a:t>
            </a:r>
          </a:p>
        </p:txBody>
      </p:sp>
      <p:sp>
        <p:nvSpPr>
          <p:cNvPr id="10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Level 1: Crumbs leave spaces for air, water and roots.</a:t>
            </a:r>
          </a:p>
        </p:txBody>
      </p:sp>
      <p:sp>
        <p:nvSpPr>
          <p:cNvPr id="11" name="label air"/>
          <p:cNvSpPr txBox="1"/>
          <p:nvPr/>
        </p:nvSpPr>
        <p:spPr>
          <a:xfrm>
            <a:off x="762000" y="9736667"/>
            <a:ext cx="1016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air</a:t>
            </a:r>
          </a:p>
        </p:txBody>
      </p:sp>
      <p:sp>
        <p:nvSpPr>
          <p:cNvPr id="12" name="label water"/>
          <p:cNvSpPr txBox="1"/>
          <p:nvPr/>
        </p:nvSpPr>
        <p:spPr>
          <a:xfrm>
            <a:off x="5080000" y="9652000"/>
            <a:ext cx="1354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water</a:t>
            </a:r>
          </a:p>
        </p:txBody>
      </p:sp>
      <p:sp>
        <p:nvSpPr>
          <p:cNvPr id="13" name="label a root"/>
          <p:cNvSpPr txBox="1"/>
          <p:nvPr/>
        </p:nvSpPr>
        <p:spPr>
          <a:xfrm>
            <a:off x="2370667" y="9736667"/>
            <a:ext cx="1354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root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evel-pi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2032000" cy="541867"/>
          </a:xfrm>
          <a:prstGeom prst="rect">
            <a:avLst/>
          </a:prstGeom>
        </p:spPr>
      </p:pic>
      <p:pic>
        <p:nvPicPr>
          <p:cNvPr id="4" name="drawn-microaggrega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33" y="4741333"/>
            <a:ext cx="5757333" cy="50800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5664200"/>
            <a:ext cx="2226733" cy="812800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867" y="5782733"/>
            <a:ext cx="1701800" cy="1032933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533" y="8407400"/>
            <a:ext cx="1964267" cy="1075267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9" name="label Level 2"/>
          <p:cNvSpPr txBox="1"/>
          <p:nvPr/>
        </p:nvSpPr>
        <p:spPr>
          <a:xfrm>
            <a:off x="762000" y="880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F4F1EA"/>
                </a:solidFill>
                <a:latin typeface="Montserrat"/>
              </a:rPr>
              <a:t>Level 2</a:t>
            </a:r>
          </a:p>
        </p:txBody>
      </p:sp>
      <p:sp>
        <p:nvSpPr>
          <p:cNvPr id="10" name="heading"/>
          <p:cNvSpPr txBox="1"/>
          <p:nvPr/>
        </p:nvSpPr>
        <p:spPr>
          <a:xfrm>
            <a:off x="762000" y="1693333"/>
            <a:ext cx="7620000" cy="321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Level 2: Microaggregates are bound by persistent organic compounds and bacterial glues.</a:t>
            </a:r>
          </a:p>
        </p:txBody>
      </p:sp>
      <p:sp>
        <p:nvSpPr>
          <p:cNvPr id="11" name="label mineral particles"/>
          <p:cNvSpPr txBox="1"/>
          <p:nvPr/>
        </p:nvSpPr>
        <p:spPr>
          <a:xfrm>
            <a:off x="508000" y="5080000"/>
            <a:ext cx="186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mineral particles</a:t>
            </a:r>
          </a:p>
        </p:txBody>
      </p:sp>
      <p:sp>
        <p:nvSpPr>
          <p:cNvPr id="12" name="label organic compounds"/>
          <p:cNvSpPr txBox="1"/>
          <p:nvPr/>
        </p:nvSpPr>
        <p:spPr>
          <a:xfrm>
            <a:off x="6773333" y="5080000"/>
            <a:ext cx="186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organic compounds</a:t>
            </a:r>
          </a:p>
        </p:txBody>
      </p:sp>
      <p:sp>
        <p:nvSpPr>
          <p:cNvPr id="13" name="label bacteria and their glues"/>
          <p:cNvSpPr txBox="1"/>
          <p:nvPr/>
        </p:nvSpPr>
        <p:spPr>
          <a:xfrm>
            <a:off x="508000" y="9482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bacteria and their glues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evel-pi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2032000" cy="541867"/>
          </a:xfrm>
          <a:prstGeom prst="rect">
            <a:avLst/>
          </a:prstGeom>
        </p:spPr>
      </p:pic>
      <p:pic>
        <p:nvPicPr>
          <p:cNvPr id="4" name="drawn-macroaggrega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418667"/>
            <a:ext cx="7620000" cy="47413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867" y="7823200"/>
            <a:ext cx="499533" cy="1667933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067" y="8348133"/>
            <a:ext cx="1964267" cy="1143000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8" name="label Level 2"/>
          <p:cNvSpPr txBox="1"/>
          <p:nvPr/>
        </p:nvSpPr>
        <p:spPr>
          <a:xfrm>
            <a:off x="762000" y="880533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i="0" b="1">
                <a:solidFill>
                  <a:srgbClr val="F4F1EA"/>
                </a:solidFill>
                <a:latin typeface="Montserrat"/>
              </a:rPr>
              <a:t>Level 2</a:t>
            </a:r>
          </a:p>
        </p:txBody>
      </p:sp>
      <p:sp>
        <p:nvSpPr>
          <p:cNvPr id="9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70" i="0" b="1">
                <a:solidFill>
                  <a:srgbClr val="4F3433"/>
                </a:solidFill>
                <a:latin typeface="Fredoka"/>
              </a:rPr>
              <a:t>Level 2: Macroaggregates are held by roots and fungal hyphae, so they break down when tillage cuts those networks.</a:t>
            </a:r>
          </a:p>
        </p:txBody>
      </p:sp>
      <p:sp>
        <p:nvSpPr>
          <p:cNvPr id="10" name="label tillage cuts here"/>
          <p:cNvSpPr txBox="1"/>
          <p:nvPr/>
        </p:nvSpPr>
        <p:spPr>
          <a:xfrm>
            <a:off x="6434667" y="9482667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tillage cuts here</a:t>
            </a:r>
          </a:p>
        </p:txBody>
      </p:sp>
      <p:sp>
        <p:nvSpPr>
          <p:cNvPr id="11" name="label made of microaggregates"/>
          <p:cNvSpPr txBox="1"/>
          <p:nvPr/>
        </p:nvSpPr>
        <p:spPr>
          <a:xfrm>
            <a:off x="592667" y="9482667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made of microaggregates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aggrega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5588000"/>
            <a:ext cx="5080000" cy="4064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Source: Tisdall and Oades, 1982.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78933" y="3556000"/>
            <a:ext cx="7281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2400" i="0" b="0">
                <a:solidFill>
                  <a:srgbClr val="5C4636"/>
                </a:solidFill>
                <a:latin typeface="Montserrat"/>
              </a:rPr>
              <a:t>Tisdall, J. M. and Oades, J. M. (1982). Organic matter and water-stable aggregates in soils. Journal of Soil Science 33: 141–163.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
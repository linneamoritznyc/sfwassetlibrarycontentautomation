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ckground-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compost-white-fungal-thread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418667"/>
            <a:ext cx="5249333" cy="5283200"/>
          </a:xfrm>
          <a:prstGeom prst="rect">
            <a:avLst/>
          </a:prstGeom>
        </p:spPr>
      </p:pic>
      <p:pic>
        <p:nvPicPr>
          <p:cNvPr id="5" name="moss-clump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667" y="6434667"/>
            <a:ext cx="3048000" cy="2108200"/>
          </a:xfrm>
          <a:prstGeom prst="rect">
            <a:avLst/>
          </a:prstGeom>
        </p:spPr>
      </p:pic>
      <p:pic>
        <p:nvPicPr>
          <p:cNvPr id="6" name="earthworm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000" y="8805333"/>
            <a:ext cx="2370667" cy="2624667"/>
          </a:xfrm>
          <a:prstGeom prst="rect">
            <a:avLst/>
          </a:prstGeom>
        </p:spPr>
      </p:pic>
      <p:pic>
        <p:nvPicPr>
          <p:cNvPr id="7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8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NEW STUDY</a:t>
            </a:r>
          </a:p>
        </p:txBody>
      </p:sp>
      <p:sp>
        <p:nvSpPr>
          <p:cNvPr id="9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70" i="0" b="1">
                <a:solidFill>
                  <a:srgbClr val="4F3433"/>
                </a:solidFill>
                <a:latin typeface="Montserrat"/>
              </a:rPr>
              <a:t>The most regenerative farms stored 39% more carbon in their soil.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ckground-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glob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1333" y="5757333"/>
            <a:ext cx="4741333" cy="47413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THE 1000 FARMS INITIATIVE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70" i="0" b="1">
                <a:solidFill>
                  <a:srgbClr val="F4F1EA"/>
                </a:solidFill>
                <a:latin typeface="Montserrat"/>
              </a:rPr>
              <a:t>Working farms across North America, from the most conventional to the most regenerative.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762000" y="4741333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70" i="0" b="0">
                <a:solidFill>
                  <a:srgbClr val="E3DDCC"/>
                </a:solidFill>
                <a:latin typeface="Source Sans 3"/>
              </a:rPr>
              <a:t>Led by Ecdysis Foundation.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ckground-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dark-soil-clump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333" y="6604000"/>
            <a:ext cx="4741333" cy="29040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SOIL CARBON</a:t>
            </a:r>
          </a:p>
        </p:txBody>
      </p:sp>
      <p:sp>
        <p:nvSpPr>
          <p:cNvPr id="7" name="number"/>
          <p:cNvSpPr txBox="1"/>
          <p:nvPr/>
        </p:nvSpPr>
        <p:spPr>
          <a:xfrm>
            <a:off x="762000" y="1354667"/>
            <a:ext cx="7620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156826"/>
                </a:solidFill>
                <a:latin typeface="Montserrat"/>
              </a:rPr>
              <a:t>39%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762000" y="4402667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70" i="0" b="0">
                <a:solidFill>
                  <a:srgbClr val="4F3433"/>
                </a:solidFill>
                <a:latin typeface="Source Sans 3"/>
              </a:rPr>
              <a:t>more total soil carbon on the most regenerative farms.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ckground-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mushroom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6434667"/>
            <a:ext cx="3572933" cy="4402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SOIL FUNGI</a:t>
            </a:r>
          </a:p>
        </p:txBody>
      </p:sp>
      <p:sp>
        <p:nvSpPr>
          <p:cNvPr id="7" name="number"/>
          <p:cNvSpPr txBox="1"/>
          <p:nvPr/>
        </p:nvSpPr>
        <p:spPr>
          <a:xfrm>
            <a:off x="762000" y="1354667"/>
            <a:ext cx="7620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F4F1EA"/>
                </a:solidFill>
                <a:latin typeface="Montserrat"/>
              </a:rPr>
              <a:t>77%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762000" y="4402667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70" i="0" b="0">
                <a:solidFill>
                  <a:srgbClr val="F4F1EA"/>
                </a:solidFill>
                <a:latin typeface="Source Sans 3"/>
              </a:rPr>
              <a:t>more total fungi in regenerative soils.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ckground-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norfolk-common-poppy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7" y="5080000"/>
            <a:ext cx="2345267" cy="5080000"/>
          </a:xfrm>
          <a:prstGeom prst="rect">
            <a:avLst/>
          </a:prstGeom>
        </p:spPr>
      </p:pic>
      <p:pic>
        <p:nvPicPr>
          <p:cNvPr id="5" name="norfolk-cornflow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0" y="5418667"/>
            <a:ext cx="2446867" cy="4741333"/>
          </a:xfrm>
          <a:prstGeom prst="rect">
            <a:avLst/>
          </a:prstGeom>
        </p:spPr>
      </p:pic>
      <p:pic>
        <p:nvPicPr>
          <p:cNvPr id="6" name="santa-fe-globemallow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333" y="5249333"/>
            <a:ext cx="3268133" cy="4910667"/>
          </a:xfrm>
          <a:prstGeom prst="rect">
            <a:avLst/>
          </a:prstGeom>
        </p:spPr>
      </p:pic>
      <p:pic>
        <p:nvPicPr>
          <p:cNvPr id="7" name="ground-beet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1333" y="9228667"/>
            <a:ext cx="1608667" cy="2201333"/>
          </a:xfrm>
          <a:prstGeom prst="rect">
            <a:avLst/>
          </a:prstGeom>
        </p:spPr>
      </p:pic>
      <p:pic>
        <p:nvPicPr>
          <p:cNvPr id="8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9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MORE LIFE EVERYWHERE</a:t>
            </a:r>
          </a:p>
        </p:txBody>
      </p:sp>
      <p:sp>
        <p:nvSpPr>
          <p:cNvPr id="10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70" i="0" b="1">
                <a:solidFill>
                  <a:srgbClr val="4F3433"/>
                </a:solidFill>
                <a:latin typeface="Montserrat"/>
              </a:rPr>
              <a:t>Soil microbes, insects, plants and birds.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762000" y="3386667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930" i="0" b="0">
                <a:solidFill>
                  <a:srgbClr val="333130"/>
                </a:solidFill>
                <a:latin typeface="Source Sans 3"/>
              </a:rPr>
              <a:t>The more biodiversity, the more carbon stored.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ckground-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cracked-corn-pi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333" y="6096000"/>
            <a:ext cx="5757333" cy="4445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YIELD AND PROFIT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i="0" b="1">
                <a:solidFill>
                  <a:srgbClr val="4F3433"/>
                </a:solidFill>
                <a:latin typeface="Montserrat"/>
              </a:rPr>
              <a:t>Regenerative yields matched national averages.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762000" y="3979333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i="0" b="0">
                <a:solidFill>
                  <a:srgbClr val="156826"/>
                </a:solidFill>
                <a:latin typeface="Source Sans 3"/>
              </a:rPr>
              <a:t>Net profit per acre was similar.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ckground-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THE WHOLE SYSTEM MATTERS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2709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i="0" b="1">
                <a:solidFill>
                  <a:srgbClr val="F4F1EA"/>
                </a:solidFill>
                <a:latin typeface="Montserrat"/>
              </a:rPr>
              <a:t>One practice alone changed nothing.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6096000"/>
            <a:ext cx="7281333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i="0" b="0">
                <a:solidFill>
                  <a:srgbClr val="E3DDCC"/>
                </a:solidFill>
                <a:latin typeface="Source Sans 3"/>
              </a:rPr>
              <a:t>Farms using a single regenerative practice looked like conventional farms.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ckground-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fern-fiddlehea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7027333"/>
            <a:ext cx="3039533" cy="3386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READ THE PAPER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i="0" b="1">
                <a:solidFill>
                  <a:srgbClr val="4F3433"/>
                </a:solidFill>
                <a:latin typeface="Montserrat"/>
              </a:rPr>
              <a:t>Lundgren et al., Environmental Research: Food Systems, 2026.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762000" y="4741333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70" i="0" b="0">
                <a:solidFill>
                  <a:srgbClr val="156826"/>
                </a:solidFill>
                <a:latin typeface="Source Sans 3"/>
              </a:rPr>
              <a:t>Link in bio.</a:t>
            </a:r>
          </a:p>
        </p:txBody>
      </p:sp>
      <p:sp>
        <p:nvSpPr>
          <p:cNvPr id="9" name="body"/>
          <p:cNvSpPr txBox="1"/>
          <p:nvPr/>
        </p:nvSpPr>
        <p:spPr>
          <a:xfrm>
            <a:off x="762000" y="5503333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i="0" b="0">
                <a:solidFill>
                  <a:srgbClr val="333130"/>
                </a:solidFill>
                <a:latin typeface="Source Sans 3"/>
              </a:rPr>
              <a:t>doi.org/10.1088/2976-601X/ae8f4e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